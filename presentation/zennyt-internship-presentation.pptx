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b5df177-a153-1c59-839d-5144445190cf}">
          <p14:sldIdLst>
            <p14:sldId id="256"/>
            <p14:sldId id="257"/>
          </p14:sldIdLst>
        </p14:section>
        <p14:section name="Context" id="{55bfb701-6b60-1b4e-9e35-48794918ab0a}">
          <p14:sldIdLst>
            <p14:sldId id="258"/>
            <p14:sldId id="259"/>
          </p14:sldIdLst>
        </p14:section>
        <p14:section name="Architecture" id="{1654415e-c8d9-7427-2f7b-9c3d6ed4b555}">
          <p14:sldIdLst>
            <p14:sldId id="260"/>
            <p14:sldId id="261"/>
          </p14:sldIdLst>
        </p14:section>
        <p14:section name="Games contribution" id="{fa179e58-bee0-1a83-44d9-05b576ef3992}">
          <p14:sldIdLst>
            <p14:sldId id="262"/>
            <p14:sldId id="263"/>
            <p14:sldId id="264"/>
            <p14:sldId id="265"/>
            <p14:sldId id="266"/>
            <p14:sldId id="267"/>
          </p14:sldIdLst>
        </p14:section>
        <p14:section name="Testing" id="{1b48b5e9-9881-136e-2ab7-1cce6c2a03ce}">
          <p14:sldIdLst>
            <p14:sldId id="268"/>
            <p14:sldId id="269"/>
            <p14:sldId id="270"/>
          </p14:sldIdLst>
        </p14:section>
        <p14:section name="Conclusion" id="{78407732-4f88-4525-2cfc-6c1de28d1e4b}">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Mohamed Slimane, and this summer I worked at Zennyt as a Full Stack Mobile Developer from June to the end of August, supervised by Mehdi Mtir and Abdelmonem Aisa. Zennyt is a career platform; my part was its cognitive games: what the candidate plays on the phone, and how those plays become trustworthy results on the server. This deck follows the report; each slide's footer points to the matching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numbers: three months on the product, fourteen mini-games grouped into nine cognitive families, an interface in six languages, and at the end of the internship 2,372 automated tests passing between the backend and the Flutter app. I'll go through the context, the architecture and stack, then spend most of the time on my contribution, the games, before the test results and what I take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Zennyt serves three audiences. Candidates maintain a profile, browse offers, play the cognitive games and take technical tests. Recruiters publish offers, author tests and review applicants, with a Fit Score that mixes hard skills and game results. Staff use two web consoles, Game Studio and Platform Console, to manage assessment content. On the right: the candidate home feed and the recruiter dashboard from the walkthrough I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a cognitive game is only useful to a recruiter if its result can be trusted. That means the phone has to capture inputs and timings precisely, the backend has to validate the session and own the scoring rule, and the experience has to stay coherent across very different games, six languages and many screen sizes. My four objectives followed from that: build the Flutter journeys, connect raw measurements to server scoring, handle sessions, tutorials and lifecycle, and ship reusable, localized result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a Spring Boot modular monolith with seven business contexts, serving a Flutter app and two React staff consoles, backed by PostgreSQL, plus a Python help service reached through an authenticated gateway. Games, in magenta, is the context I worked in. Every context is layered API, application, domain, infrastructure, and ArchUnit tests keep the domain free of Spring and JPA. Contexts communicate through domain events, which is how a game result reaches the recruitment Fit Score projections. Changes start with the OpenAPI contract, and server interfaces are generated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by layer. On mobile, Flutter and Dart with Riverpod for state, go_router for navigation and Flame for the Optimal Path grid game; Dio for REST and a STOMP client for real-time messaging. The backend is Java and Spring Boot over PostgreSQL, secured with Spring Security and OAuth2, with interfaces generated from OpenAPI. The staff apps use React, TypeScript, TanStack Start and Tailwind in a Bun and Turborepo workspace. The help service is Python with FastAPI, LangChain and Chroma. Quality is enforced by JUnit, ArchUnit, Flutter tests and contract-parity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catalogue I worked across: nine families and fourteen mini-games. Each family groups related tasks and defines when its session is complete. They measure very different things: planning in Planifik, response speed in Move Fast, working memory in Memory Quest, risk behaviour in BART and information sampling in IST, sustained attention with a long Rosvold X/AX protocol, visuomotor tracking and so on. That variety is exactly why a shared measurement model and shared components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my contribution. The phone records raw observations: actions, answers, timings. The mini-game identifier acts as a discriminator that selects the expected measurement schema. The backend checks the session belongs to the player and to that mini-game, validates the payload, and a domain service computes the score before the attempt is stored and published. The app then shows the returned score and breakdown. Move Fast is a good example: the payload separates practice trials from measured trials, and accuracy and speed are computed on the server. The one rule that never bends: the client never sends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game follows the same journey, built from shared components: introduction and consent, a tutorial or practice round, the gameplay itself, then results and a return to the Progress hub. Navigation guards catch accidental exits and pause and lifecycle handling protect a run in progress. The interactions differ a lot, from Move Fast's timed directional answers to Memory Quest's recall keypad and Optimal Path's route grid built with Flame, but the frame around them is shared. The last screen is a real server result: Optimal Path, four levels, 10 out of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action-based games, the phone does not send outcomes, it sends the actions, and the server replays them. In BART the app records each pump and collect; the backend reconstructs which balloons exploded and what was earned. In IST it records which boxes were opened and the final choice, so the server knows exactly what information was available. I Place replays placements against a controlled layout. Combined with runtime snapshots and assigned forms, a session is always scored against the content it was actually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game string goes through localization keys, in six languages: instructions, controls, errors and the accessibility labels. ICU plural rules handle counts, and the shared layouts were designed so longer translations, German or Dutch, don't break the game screens. On top of that, users can change text size, contrast, bold text and motion, and the game screens respect those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exercised the platform end to end, on the native iPhone app driven by XCTest. The recruiter created a technical test and published an offer. The candidate opened the offer, accepted consent, answered shuffled questions that never include the answer key, and the server graded it at 100 percent, visible to both sides. The candidate then applied, with the passed-assessment banner on the offer. One caveat I'll come back to: attaching the test from the offer form failed, so it was attached through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automated side, everything is green: 843 backend tests through Maven with 41 skipped, and 1,529 Flutter tests, with no failures. I also ran 221 distinct API checks covering all fourteen mini-game submissions plus authentication, recruitment, tests, matching, messaging, community and support, including negative tests for ownership, invalid measurements and duplicates. 218 passed, 2 failed and 1 was blocked. Those failures are the defects on the next slides. To be transparent about scope: external services like email, push, call media and real payments still need integration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use cases, the honest picture is one fully passed and six partial. Partial here means the main path worked and was persisted, but some step failed or depended on an external service I couldn't exercise. The technical assessment flow passed completely. For games, the planning result saved but Memory Quest failed to save; offers published but the test picker failed; messaging worked but call media wasn't verified,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surfaced five concrete defects, each reproduced and documented. The most serious is the Decision forms one, highlighted: another candidate could read a player's assigned form, so the read endpoint needs an ownership check. Memory Quest fails to save because the client sends 'mode' instead of 'memoryQuestMode', which a contract-parity test would catch. The assessment picker route collides with the ID route. Notifications ignored the session language, and an author could befriend themselves from their own post. Fixing these is the immediate next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lesson of the internship: a game is not a screen, it's a complete feature. Instructions, interaction, measurement, validation, scoring and feedback all have to agree between the Flutter app and the backend, and the bugs I found were almost all places where two of them drifted apart. Technically, I learned to connect mobile interactions to backend rules, to turn game protocols into typed payloads, and to manage state across asynchronous screens. The next steps are clear: fix the five defects, starting with the security one, complete integration testing of the external services, and re-run the walkthrough with the AI help service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take questions, on the games, the architecture or the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4572000" cy="320040"/>
          </a:xfrm>
          <a:prstGeom prst="rect">
            <a:avLst/>
          </a:prstGeom>
          <a:noFill/>
          <a:ln/>
        </p:spPr>
        <p:txBody>
          <a:bodyPr wrap="square" lIns="0" tIns="0" rIns="0" bIns="0" rtlCol="0" anchor="ctr"/>
          <a:lstStyle/>
          <a:p>
            <a:pPr indent="0" marL="0">
              <a:buNone/>
            </a:pPr>
            <a:r>
              <a:rPr lang="en-US" sz="1000" dirty="0">
                <a:solidFill>
                  <a:schemeClr val="accent6"/>
                </a:solidFill>
              </a:rPr>
              <a:t>Mohamed Slimane · Zennyt internship 2026</a:t>
            </a:r>
            <a:endParaRPr lang="en-US" sz="1000" dirty="0"/>
          </a:p>
        </p:txBody>
      </p:sp>
      <p:sp>
        <p:nvSpPr>
          <p:cNvPr id="3" name="Text 1"/>
          <p:cNvSpPr/>
          <p:nvPr>
            <p:ph idx="101"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1"/>
          <p:cNvSpPr/>
          <p:nvPr>
            <p:ph idx="102" type="body" hasCustomPrompt="1"/>
          </p:nvPr>
        </p:nvSpPr>
        <p:spPr>
          <a:xfrm>
            <a:off x="6949440" y="6355080"/>
            <a:ext cx="4114800" cy="320040"/>
          </a:xfrm>
          <a:prstGeom prst="rect">
            <a:avLst/>
          </a:prstGeom>
          <a:noFill/>
          <a:ln/>
        </p:spPr>
        <p:txBody>
          <a:bodyPr wrap="square" rtlCol="0"/>
          <a:lstStyle>
            <a:lvl1pPr algn="r" indent="0" marL="0">
              <a:buNone/>
              <a:defRPr lang="en-US" sz="1000" dirty="0">
                <a:solidFill>
                  <a:schemeClr val="accent6"/>
                </a:solidFill>
              </a:defRPr>
            </a:lvl1pPr>
          </a:lstStyle>
          <a:p>
            <a:pPr algn="r" indent="0" marL="0">
              <a:buNone/>
            </a:pPr>
            <a:endParaRPr lang="en-US" sz="10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428D"/>
        </a:solidFill>
      </p:bgPr>
    </p:bg>
    <p:spTree>
      <p:nvGrpSpPr>
        <p:cNvPr id="1" name=""/>
        <p:cNvGrpSpPr/>
        <p:nvPr/>
      </p:nvGrpSpPr>
      <p:grpSpPr>
        <a:xfrm>
          <a:off x="0" y="0"/>
          <a:ext cx="0" cy="0"/>
          <a:chOff x="0" y="0"/>
          <a:chExt cx="0" cy="0"/>
        </a:xfrm>
      </p:grpSpPr>
      <p:sp>
        <p:nvSpPr>
          <p:cNvPr id="2" name="Text 0"/>
          <p:cNvSpPr/>
          <p:nvPr/>
        </p:nvSpPr>
        <p:spPr>
          <a:xfrm>
            <a:off x="548640" y="6355080"/>
            <a:ext cx="4572000" cy="320040"/>
          </a:xfrm>
          <a:prstGeom prst="rect">
            <a:avLst/>
          </a:prstGeom>
          <a:noFill/>
          <a:ln/>
        </p:spPr>
        <p:txBody>
          <a:bodyPr wrap="square" lIns="0" tIns="0" rIns="0" bIns="0" rtlCol="0" anchor="ctr"/>
          <a:lstStyle/>
          <a:p>
            <a:pPr indent="0" marL="0">
              <a:buNone/>
            </a:pPr>
            <a:r>
              <a:rPr lang="en-US" sz="1000" dirty="0">
                <a:solidFill>
                  <a:schemeClr val="bg2"/>
                </a:solidFill>
              </a:rPr>
              <a:t>Mohamed Slimane · Zennyt internship 2026</a:t>
            </a:r>
            <a:endParaRPr lang="en-US" sz="1000" dirty="0"/>
          </a:p>
        </p:txBody>
      </p:sp>
      <p:sp>
        <p:nvSpPr>
          <p:cNvPr id="3" name="Text 1"/>
          <p:cNvSpPr/>
          <p:nvPr>
            <p:ph idx="101"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4.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Zennyt logo" descr="Zennyt logo">    </p:cNvPr>
          <p:cNvPicPr>
            <a:picLocks noChangeAspect="1"/>
          </p:cNvPicPr>
          <p:nvPr/>
        </p:nvPicPr>
        <p:blipFill>
          <a:blip r:embed="rId1"/>
          <a:stretch>
            <a:fillRect/>
          </a:stretch>
        </p:blipFill>
        <p:spPr>
          <a:xfrm>
            <a:off x="548640" y="548640"/>
            <a:ext cx="685800" cy="685800"/>
          </a:xfrm>
          <a:prstGeom prst="rect">
            <a:avLst/>
          </a:prstGeom>
        </p:spPr>
      </p:pic>
      <p:sp>
        <p:nvSpPr>
          <p:cNvPr id="3" name="Text 0"/>
          <p:cNvSpPr txBox="1"/>
          <p:nvPr/>
        </p:nvSpPr>
        <p:spPr>
          <a:xfrm>
            <a:off x="1371600" y="548640"/>
            <a:ext cx="2743200" cy="685800"/>
          </a:xfrm>
          <a:prstGeom prst="rect">
            <a:avLst/>
          </a:prstGeom>
          <a:noFill/>
          <a:ln/>
        </p:spPr>
        <p:txBody>
          <a:bodyPr wrap="square" lIns="0" tIns="0" rIns="0" bIns="0" rtlCol="0" anchor="ctr"/>
          <a:lstStyle/>
          <a:p>
            <a:pPr indent="0" marL="0">
              <a:buNone/>
            </a:pPr>
            <a:r>
              <a:rPr lang="en-US" sz="2200" b="1" spc="400" kern="0" dirty="0">
                <a:solidFill>
                  <a:schemeClr val="tx2"/>
                </a:solidFill>
                <a:latin typeface="Arial" pitchFamily="34" charset="0"/>
                <a:ea typeface="Arial" pitchFamily="34" charset="-122"/>
                <a:cs typeface="Arial" pitchFamily="34" charset="-120"/>
              </a:rPr>
              <a:t>ZENNYT</a:t>
            </a:r>
            <a:endParaRPr lang="en-US" sz="2200" dirty="0"/>
          </a:p>
        </p:txBody>
      </p:sp>
      <p:sp>
        <p:nvSpPr>
          <p:cNvPr id="4" name="Text 1"/>
          <p:cNvSpPr txBox="1"/>
          <p:nvPr/>
        </p:nvSpPr>
        <p:spPr>
          <a:xfrm>
            <a:off x="548640" y="1828800"/>
            <a:ext cx="6035040" cy="365760"/>
          </a:xfrm>
          <a:prstGeom prst="rect">
            <a:avLst/>
          </a:prstGeom>
          <a:noFill/>
          <a:ln/>
        </p:spPr>
        <p:txBody>
          <a:bodyPr wrap="square" lIns="0" tIns="0" rIns="0" bIns="0" rtlCol="0" anchor="t"/>
          <a:lstStyle/>
          <a:p>
            <a:pPr indent="0" marL="0">
              <a:buNone/>
            </a:pPr>
            <a:r>
              <a:rPr lang="en-US" sz="1600" b="1" dirty="0">
                <a:solidFill>
                  <a:schemeClr val="accent2"/>
                </a:solidFill>
              </a:rPr>
              <a:t>Summer internship defense · 2026</a:t>
            </a:r>
            <a:endParaRPr lang="en-US" sz="1600" dirty="0"/>
          </a:p>
        </p:txBody>
      </p:sp>
      <p:sp>
        <p:nvSpPr>
          <p:cNvPr id="5" name="Text 2"/>
          <p:cNvSpPr txBox="1"/>
          <p:nvPr/>
        </p:nvSpPr>
        <p:spPr>
          <a:xfrm>
            <a:off x="548640" y="2240280"/>
            <a:ext cx="6126480" cy="1828800"/>
          </a:xfrm>
          <a:prstGeom prst="rect">
            <a:avLst/>
          </a:prstGeom>
          <a:noFill/>
          <a:ln/>
        </p:spPr>
        <p:txBody>
          <a:bodyPr wrap="square" lIns="0" tIns="0" rIns="0" bIns="0" rtlCol="0" anchor="t"/>
          <a:lstStyle/>
          <a:p>
            <a:pPr indent="0" marL="0">
              <a:buNone/>
            </a:pPr>
            <a:r>
              <a:rPr lang="en-US" sz="4000" b="1" dirty="0">
                <a:solidFill>
                  <a:schemeClr val="tx2"/>
                </a:solidFill>
                <a:latin typeface="Arial" pitchFamily="34" charset="0"/>
                <a:ea typeface="Arial" pitchFamily="34" charset="-122"/>
                <a:cs typeface="Arial" pitchFamily="34" charset="-120"/>
              </a:rPr>
              <a:t>Building the cognitive games of the Zennyt career platform</a:t>
            </a:r>
            <a:endParaRPr lang="en-US" sz="4000" dirty="0"/>
          </a:p>
        </p:txBody>
      </p:sp>
      <p:sp>
        <p:nvSpPr>
          <p:cNvPr id="6" name="Text 3"/>
          <p:cNvSpPr txBox="1"/>
          <p:nvPr/>
        </p:nvSpPr>
        <p:spPr>
          <a:xfrm>
            <a:off x="548640" y="4206240"/>
            <a:ext cx="6126480" cy="365760"/>
          </a:xfrm>
          <a:prstGeom prst="rect">
            <a:avLst/>
          </a:prstGeom>
          <a:noFill/>
          <a:ln/>
        </p:spPr>
        <p:txBody>
          <a:bodyPr wrap="square" lIns="0" tIns="0" rIns="0" bIns="0" rtlCol="0" anchor="t"/>
          <a:lstStyle/>
          <a:p>
            <a:pPr indent="0" marL="0">
              <a:buNone/>
            </a:pPr>
            <a:r>
              <a:rPr lang="en-US" sz="1800" b="1" dirty="0">
                <a:solidFill>
                  <a:schemeClr val="tx1"/>
                </a:solidFill>
              </a:rPr>
              <a:t>Mohamed Slimane · Full Stack Mobile Developer</a:t>
            </a:r>
            <a:endParaRPr lang="en-US" sz="1800" dirty="0"/>
          </a:p>
        </p:txBody>
      </p:sp>
      <p:sp>
        <p:nvSpPr>
          <p:cNvPr id="7" name="Text 4"/>
          <p:cNvSpPr txBox="1"/>
          <p:nvPr/>
        </p:nvSpPr>
        <p:spPr>
          <a:xfrm>
            <a:off x="548640" y="4617720"/>
            <a:ext cx="6126480" cy="640080"/>
          </a:xfrm>
          <a:prstGeom prst="rect">
            <a:avLst/>
          </a:prstGeom>
          <a:noFill/>
          <a:ln/>
        </p:spPr>
        <p:txBody>
          <a:bodyPr wrap="square" lIns="0" tIns="0" rIns="0" bIns="0" rtlCol="0" anchor="t"/>
          <a:lstStyle/>
          <a:p>
            <a:pPr indent="0" marL="0">
              <a:buNone/>
            </a:pPr>
            <a:r>
              <a:rPr lang="en-US" sz="1400" dirty="0">
                <a:solidFill>
                  <a:schemeClr val="accent6"/>
                </a:solidFill>
              </a:rPr>
              <a:t>1 June – 30 August 2026</a:t>
            </a:r>
            <a:endParaRPr lang="en-US" sz="1400" dirty="0"/>
          </a:p>
          <a:p>
            <a:pPr indent="0" marL="0">
              <a:buNone/>
            </a:pPr>
            <a:r>
              <a:rPr lang="en-US" sz="1400" dirty="0">
                <a:solidFill>
                  <a:schemeClr val="accent6"/>
                </a:solidFill>
              </a:rPr>
              <a:t>Supervisors: Mehdi Mtir, Abdelmonem Aisa</a:t>
            </a:r>
            <a:endParaRPr lang="en-US" sz="1400" dirty="0"/>
          </a:p>
        </p:txBody>
      </p:sp>
      <p:pic>
        <p:nvPicPr>
          <p:cNvPr id="8" name="ESPRIT logo" descr="ESPRIT logo">    </p:cNvPr>
          <p:cNvPicPr>
            <a:picLocks noChangeAspect="1"/>
          </p:cNvPicPr>
          <p:nvPr/>
        </p:nvPicPr>
        <p:blipFill>
          <a:blip r:embed="rId2"/>
          <a:stretch>
            <a:fillRect/>
          </a:stretch>
        </p:blipFill>
        <p:spPr>
          <a:xfrm>
            <a:off x="548640" y="5715000"/>
            <a:ext cx="1463040" cy="554736"/>
          </a:xfrm>
          <a:prstGeom prst="rect">
            <a:avLst/>
          </a:prstGeom>
        </p:spPr>
      </p:pic>
      <p:sp>
        <p:nvSpPr>
          <p:cNvPr id="9" name="screens panel"/>
          <p:cNvSpPr/>
          <p:nvPr/>
        </p:nvSpPr>
        <p:spPr>
          <a:xfrm>
            <a:off x="7223760" y="0"/>
            <a:ext cx="4967935" cy="6858000"/>
          </a:xfrm>
          <a:prstGeom prst="rect">
            <a:avLst/>
          </a:prstGeom>
          <a:solidFill>
            <a:schemeClr val="tx2"/>
          </a:solidFill>
          <a:ln/>
        </p:spPr>
      </p:sp>
      <p:pic>
        <p:nvPicPr>
          <p:cNvPr id="10" name="screen retake-01-current" descr="Candidate home feed">    </p:cNvPr>
          <p:cNvPicPr>
            <a:picLocks noChangeAspect="1"/>
          </p:cNvPicPr>
          <p:nvPr/>
        </p:nvPicPr>
        <p:blipFill>
          <a:blip r:embed="rId3"/>
          <a:stretch>
            <a:fillRect/>
          </a:stretch>
        </p:blipFill>
        <p:spPr>
          <a:xfrm>
            <a:off x="7452360" y="1325880"/>
            <a:ext cx="2000733" cy="4206240"/>
          </a:xfrm>
          <a:prstGeom prst="rect">
            <a:avLst/>
          </a:prstGeom>
        </p:spPr>
      </p:pic>
      <p:pic>
        <p:nvPicPr>
          <p:cNvPr id="11" name="screen 141-optimal-path-result" descr="Optimal Path result">    </p:cNvPr>
          <p:cNvPicPr>
            <a:picLocks noChangeAspect="1"/>
          </p:cNvPicPr>
          <p:nvPr/>
        </p:nvPicPr>
        <p:blipFill>
          <a:blip r:embed="rId4"/>
          <a:stretch>
            <a:fillRect/>
          </a:stretch>
        </p:blipFill>
        <p:spPr>
          <a:xfrm>
            <a:off x="9966960" y="1325880"/>
            <a:ext cx="2000733" cy="4206240"/>
          </a:xfrm>
          <a:prstGeom prst="rect">
            <a:avLst/>
          </a:prstGeom>
        </p:spPr>
      </p:pic>
      <p:pic>
        <p:nvPicPr>
          <p:cNvPr id="12" name="screen 17-games-catalogue" descr="Games catalogue">    </p:cNvPr>
          <p:cNvPicPr>
            <a:picLocks noChangeAspect="1"/>
          </p:cNvPicPr>
          <p:nvPr/>
        </p:nvPicPr>
        <p:blipFill>
          <a:blip r:embed="rId5"/>
          <a:stretch>
            <a:fillRect/>
          </a:stretch>
        </p:blipFill>
        <p:spPr>
          <a:xfrm>
            <a:off x="8494776" y="868680"/>
            <a:ext cx="2435676"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The internship at a glance</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Abstract, Ch. 1</a:t>
            </a:r>
            <a:endParaRPr lang="en-US" sz="1000" dirty="0"/>
          </a:p>
        </p:txBody>
      </p:sp>
      <p:sp>
        <p:nvSpPr>
          <p:cNvPr id="4" name="stat 0"/>
          <p:cNvSpPr/>
          <p:nvPr/>
        </p:nvSpPr>
        <p:spPr>
          <a:xfrm>
            <a:off x="548640" y="1463040"/>
            <a:ext cx="2567864" cy="2240280"/>
          </a:xfrm>
          <a:prstGeom prst="roundRect">
            <a:avLst>
              <a:gd name="adj" fmla="val 4898"/>
            </a:avLst>
          </a:prstGeom>
          <a:solidFill>
            <a:schemeClr val="bg2"/>
          </a:solidFill>
          <a:ln/>
        </p:spPr>
      </p:sp>
      <p:sp>
        <p:nvSpPr>
          <p:cNvPr id="5" name="stat 0 circle"/>
          <p:cNvSpPr/>
          <p:nvPr/>
        </p:nvSpPr>
        <p:spPr>
          <a:xfrm>
            <a:off x="822960" y="1737360"/>
            <a:ext cx="502920" cy="502920"/>
          </a:xfrm>
          <a:prstGeom prst="ellipse">
            <a:avLst/>
          </a:prstGeom>
          <a:solidFill>
            <a:schemeClr val="tx2"/>
          </a:solidFill>
          <a:ln/>
        </p:spPr>
      </p:sp>
      <p:pic>
        <p:nvPicPr>
          <p:cNvPr id="6" name="stat 0 icon" descr="stat 0">    </p:cNvPr>
          <p:cNvPicPr>
            <a:picLocks noChangeAspect="1"/>
          </p:cNvPicPr>
          <p:nvPr/>
        </p:nvPicPr>
        <p:blipFill>
          <a:blip r:embed="rId1"/>
          <a:stretch>
            <a:fillRect/>
          </a:stretch>
        </p:blipFill>
        <p:spPr>
          <a:xfrm>
            <a:off x="948690" y="1863090"/>
            <a:ext cx="251460" cy="251460"/>
          </a:xfrm>
          <a:prstGeom prst="rect">
            <a:avLst/>
          </a:prstGeom>
        </p:spPr>
      </p:pic>
      <p:sp>
        <p:nvSpPr>
          <p:cNvPr id="7" name="Text 4"/>
          <p:cNvSpPr txBox="1"/>
          <p:nvPr/>
        </p:nvSpPr>
        <p:spPr>
          <a:xfrm>
            <a:off x="822960" y="2331720"/>
            <a:ext cx="2019224" cy="731520"/>
          </a:xfrm>
          <a:prstGeom prst="rect">
            <a:avLst/>
          </a:prstGeom>
          <a:noFill/>
          <a:ln/>
        </p:spPr>
        <p:txBody>
          <a:bodyPr wrap="square" lIns="0" tIns="0" rIns="0" bIns="0" rtlCol="0" anchor="ctr"/>
          <a:lstStyle/>
          <a:p>
            <a:pPr indent="0" marL="0">
              <a:buNone/>
            </a:pPr>
            <a:r>
              <a:rPr lang="en-US" sz="4800" b="1" dirty="0">
                <a:solidFill>
                  <a:schemeClr val="tx2"/>
                </a:solidFill>
                <a:latin typeface="Arial" pitchFamily="34" charset="0"/>
                <a:ea typeface="Arial" pitchFamily="34" charset="-122"/>
                <a:cs typeface="Arial" pitchFamily="34" charset="-120"/>
              </a:rPr>
              <a:t>3</a:t>
            </a:r>
            <a:endParaRPr lang="en-US" sz="4800" dirty="0"/>
          </a:p>
        </p:txBody>
      </p:sp>
      <p:sp>
        <p:nvSpPr>
          <p:cNvPr id="8" name="Text 5"/>
          <p:cNvSpPr txBox="1"/>
          <p:nvPr/>
        </p:nvSpPr>
        <p:spPr>
          <a:xfrm>
            <a:off x="822960" y="3063240"/>
            <a:ext cx="2019224" cy="292608"/>
          </a:xfrm>
          <a:prstGeom prst="rect">
            <a:avLst/>
          </a:prstGeom>
          <a:noFill/>
          <a:ln/>
        </p:spPr>
        <p:txBody>
          <a:bodyPr wrap="square" lIns="0" tIns="0" rIns="0" bIns="0" rtlCol="0" anchor="t"/>
          <a:lstStyle/>
          <a:p>
            <a:pPr indent="0" marL="0">
              <a:buNone/>
            </a:pPr>
            <a:r>
              <a:rPr lang="en-US" sz="1500" b="1" dirty="0">
                <a:solidFill>
                  <a:schemeClr val="tx1"/>
                </a:solidFill>
              </a:rPr>
              <a:t>months on the product</a:t>
            </a:r>
            <a:endParaRPr lang="en-US" sz="1500" dirty="0"/>
          </a:p>
        </p:txBody>
      </p:sp>
      <p:sp>
        <p:nvSpPr>
          <p:cNvPr id="9" name="Text 6"/>
          <p:cNvSpPr txBox="1"/>
          <p:nvPr/>
        </p:nvSpPr>
        <p:spPr>
          <a:xfrm>
            <a:off x="822960" y="3337560"/>
            <a:ext cx="2019224" cy="274320"/>
          </a:xfrm>
          <a:prstGeom prst="rect">
            <a:avLst/>
          </a:prstGeom>
          <a:noFill/>
          <a:ln/>
        </p:spPr>
        <p:txBody>
          <a:bodyPr wrap="square" lIns="0" tIns="0" rIns="0" bIns="0" rtlCol="0" anchor="t"/>
          <a:lstStyle/>
          <a:p>
            <a:pPr indent="0" marL="0">
              <a:buNone/>
            </a:pPr>
            <a:r>
              <a:rPr lang="en-US" sz="1200" dirty="0">
                <a:solidFill>
                  <a:schemeClr val="accent6"/>
                </a:solidFill>
              </a:rPr>
              <a:t>1 June – 30 August 2026</a:t>
            </a:r>
            <a:endParaRPr lang="en-US" sz="1200" dirty="0"/>
          </a:p>
        </p:txBody>
      </p:sp>
      <p:sp>
        <p:nvSpPr>
          <p:cNvPr id="10" name="stat 1"/>
          <p:cNvSpPr/>
          <p:nvPr/>
        </p:nvSpPr>
        <p:spPr>
          <a:xfrm>
            <a:off x="3390824" y="1463040"/>
            <a:ext cx="2567864" cy="2240280"/>
          </a:xfrm>
          <a:prstGeom prst="roundRect">
            <a:avLst>
              <a:gd name="adj" fmla="val 4898"/>
            </a:avLst>
          </a:prstGeom>
          <a:solidFill>
            <a:schemeClr val="bg2"/>
          </a:solidFill>
          <a:ln/>
        </p:spPr>
      </p:sp>
      <p:sp>
        <p:nvSpPr>
          <p:cNvPr id="11" name="stat 1 circle"/>
          <p:cNvSpPr/>
          <p:nvPr/>
        </p:nvSpPr>
        <p:spPr>
          <a:xfrm>
            <a:off x="3665144" y="1737360"/>
            <a:ext cx="502920" cy="502920"/>
          </a:xfrm>
          <a:prstGeom prst="ellipse">
            <a:avLst/>
          </a:prstGeom>
          <a:solidFill>
            <a:schemeClr val="accent2"/>
          </a:solidFill>
          <a:ln/>
        </p:spPr>
      </p:sp>
      <p:pic>
        <p:nvPicPr>
          <p:cNvPr id="12" name="stat 1 icon" descr="stat 1">    </p:cNvPr>
          <p:cNvPicPr>
            <a:picLocks noChangeAspect="1"/>
          </p:cNvPicPr>
          <p:nvPr/>
        </p:nvPicPr>
        <p:blipFill>
          <a:blip r:embed="rId2"/>
          <a:stretch>
            <a:fillRect/>
          </a:stretch>
        </p:blipFill>
        <p:spPr>
          <a:xfrm>
            <a:off x="3790874" y="1863090"/>
            <a:ext cx="251460" cy="251460"/>
          </a:xfrm>
          <a:prstGeom prst="rect">
            <a:avLst/>
          </a:prstGeom>
        </p:spPr>
      </p:pic>
      <p:sp>
        <p:nvSpPr>
          <p:cNvPr id="13" name="Text 9"/>
          <p:cNvSpPr txBox="1"/>
          <p:nvPr/>
        </p:nvSpPr>
        <p:spPr>
          <a:xfrm>
            <a:off x="3665144" y="2331720"/>
            <a:ext cx="2019224" cy="731520"/>
          </a:xfrm>
          <a:prstGeom prst="rect">
            <a:avLst/>
          </a:prstGeom>
          <a:noFill/>
          <a:ln/>
        </p:spPr>
        <p:txBody>
          <a:bodyPr wrap="square" lIns="0" tIns="0" rIns="0" bIns="0" rtlCol="0" anchor="ctr"/>
          <a:lstStyle/>
          <a:p>
            <a:pPr indent="0" marL="0">
              <a:buNone/>
            </a:pPr>
            <a:r>
              <a:rPr lang="en-US" sz="4800" b="1" dirty="0">
                <a:solidFill>
                  <a:schemeClr val="accent2"/>
                </a:solidFill>
                <a:latin typeface="Arial" pitchFamily="34" charset="0"/>
                <a:ea typeface="Arial" pitchFamily="34" charset="-122"/>
                <a:cs typeface="Arial" pitchFamily="34" charset="-120"/>
              </a:rPr>
              <a:t>14</a:t>
            </a:r>
            <a:endParaRPr lang="en-US" sz="4800" dirty="0"/>
          </a:p>
        </p:txBody>
      </p:sp>
      <p:sp>
        <p:nvSpPr>
          <p:cNvPr id="14" name="Text 10"/>
          <p:cNvSpPr txBox="1"/>
          <p:nvPr/>
        </p:nvSpPr>
        <p:spPr>
          <a:xfrm>
            <a:off x="3665144" y="3063240"/>
            <a:ext cx="2019224" cy="292608"/>
          </a:xfrm>
          <a:prstGeom prst="rect">
            <a:avLst/>
          </a:prstGeom>
          <a:noFill/>
          <a:ln/>
        </p:spPr>
        <p:txBody>
          <a:bodyPr wrap="square" lIns="0" tIns="0" rIns="0" bIns="0" rtlCol="0" anchor="t"/>
          <a:lstStyle/>
          <a:p>
            <a:pPr indent="0" marL="0">
              <a:buNone/>
            </a:pPr>
            <a:r>
              <a:rPr lang="en-US" sz="1500" b="1" dirty="0">
                <a:solidFill>
                  <a:schemeClr val="tx1"/>
                </a:solidFill>
              </a:rPr>
              <a:t>mini-games</a:t>
            </a:r>
            <a:endParaRPr lang="en-US" sz="1500" dirty="0"/>
          </a:p>
        </p:txBody>
      </p:sp>
      <p:sp>
        <p:nvSpPr>
          <p:cNvPr id="15" name="Text 11"/>
          <p:cNvSpPr txBox="1"/>
          <p:nvPr/>
        </p:nvSpPr>
        <p:spPr>
          <a:xfrm>
            <a:off x="3665144" y="3337560"/>
            <a:ext cx="2019224" cy="274320"/>
          </a:xfrm>
          <a:prstGeom prst="rect">
            <a:avLst/>
          </a:prstGeom>
          <a:noFill/>
          <a:ln/>
        </p:spPr>
        <p:txBody>
          <a:bodyPr wrap="square" lIns="0" tIns="0" rIns="0" bIns="0" rtlCol="0" anchor="t"/>
          <a:lstStyle/>
          <a:p>
            <a:pPr indent="0" marL="0">
              <a:buNone/>
            </a:pPr>
            <a:r>
              <a:rPr lang="en-US" sz="1200" dirty="0">
                <a:solidFill>
                  <a:schemeClr val="accent6"/>
                </a:solidFill>
              </a:rPr>
              <a:t>across 9 cognitive families</a:t>
            </a:r>
            <a:endParaRPr lang="en-US" sz="1200" dirty="0"/>
          </a:p>
        </p:txBody>
      </p:sp>
      <p:sp>
        <p:nvSpPr>
          <p:cNvPr id="16" name="stat 2"/>
          <p:cNvSpPr/>
          <p:nvPr/>
        </p:nvSpPr>
        <p:spPr>
          <a:xfrm>
            <a:off x="6233008" y="1463040"/>
            <a:ext cx="2567864" cy="2240280"/>
          </a:xfrm>
          <a:prstGeom prst="roundRect">
            <a:avLst>
              <a:gd name="adj" fmla="val 4898"/>
            </a:avLst>
          </a:prstGeom>
          <a:solidFill>
            <a:schemeClr val="bg2"/>
          </a:solidFill>
          <a:ln/>
        </p:spPr>
      </p:sp>
      <p:sp>
        <p:nvSpPr>
          <p:cNvPr id="17" name="stat 2 circle"/>
          <p:cNvSpPr/>
          <p:nvPr/>
        </p:nvSpPr>
        <p:spPr>
          <a:xfrm>
            <a:off x="6507328" y="1737360"/>
            <a:ext cx="502920" cy="502920"/>
          </a:xfrm>
          <a:prstGeom prst="ellipse">
            <a:avLst/>
          </a:prstGeom>
          <a:solidFill>
            <a:schemeClr val="tx2"/>
          </a:solidFill>
          <a:ln/>
        </p:spPr>
      </p:sp>
      <p:pic>
        <p:nvPicPr>
          <p:cNvPr id="18" name="stat 2 icon" descr="stat 2">    </p:cNvPr>
          <p:cNvPicPr>
            <a:picLocks noChangeAspect="1"/>
          </p:cNvPicPr>
          <p:nvPr/>
        </p:nvPicPr>
        <p:blipFill>
          <a:blip r:embed="rId3"/>
          <a:stretch>
            <a:fillRect/>
          </a:stretch>
        </p:blipFill>
        <p:spPr>
          <a:xfrm>
            <a:off x="6633058" y="1863090"/>
            <a:ext cx="251460" cy="251460"/>
          </a:xfrm>
          <a:prstGeom prst="rect">
            <a:avLst/>
          </a:prstGeom>
        </p:spPr>
      </p:pic>
      <p:sp>
        <p:nvSpPr>
          <p:cNvPr id="19" name="Text 14"/>
          <p:cNvSpPr txBox="1"/>
          <p:nvPr/>
        </p:nvSpPr>
        <p:spPr>
          <a:xfrm>
            <a:off x="6507328" y="2331720"/>
            <a:ext cx="2019224" cy="731520"/>
          </a:xfrm>
          <a:prstGeom prst="rect">
            <a:avLst/>
          </a:prstGeom>
          <a:noFill/>
          <a:ln/>
        </p:spPr>
        <p:txBody>
          <a:bodyPr wrap="square" lIns="0" tIns="0" rIns="0" bIns="0" rtlCol="0" anchor="ctr"/>
          <a:lstStyle/>
          <a:p>
            <a:pPr indent="0" marL="0">
              <a:buNone/>
            </a:pPr>
            <a:r>
              <a:rPr lang="en-US" sz="4800" b="1" dirty="0">
                <a:solidFill>
                  <a:schemeClr val="tx2"/>
                </a:solidFill>
                <a:latin typeface="Arial" pitchFamily="34" charset="0"/>
                <a:ea typeface="Arial" pitchFamily="34" charset="-122"/>
                <a:cs typeface="Arial" pitchFamily="34" charset="-120"/>
              </a:rPr>
              <a:t>6</a:t>
            </a:r>
            <a:endParaRPr lang="en-US" sz="4800" dirty="0"/>
          </a:p>
        </p:txBody>
      </p:sp>
      <p:sp>
        <p:nvSpPr>
          <p:cNvPr id="20" name="Text 15"/>
          <p:cNvSpPr txBox="1"/>
          <p:nvPr/>
        </p:nvSpPr>
        <p:spPr>
          <a:xfrm>
            <a:off x="6507328" y="3063240"/>
            <a:ext cx="2019224" cy="292608"/>
          </a:xfrm>
          <a:prstGeom prst="rect">
            <a:avLst/>
          </a:prstGeom>
          <a:noFill/>
          <a:ln/>
        </p:spPr>
        <p:txBody>
          <a:bodyPr wrap="square" lIns="0" tIns="0" rIns="0" bIns="0" rtlCol="0" anchor="t"/>
          <a:lstStyle/>
          <a:p>
            <a:pPr indent="0" marL="0">
              <a:buNone/>
            </a:pPr>
            <a:r>
              <a:rPr lang="en-US" sz="1500" b="1" dirty="0">
                <a:solidFill>
                  <a:schemeClr val="tx1"/>
                </a:solidFill>
              </a:rPr>
              <a:t>languages</a:t>
            </a:r>
            <a:endParaRPr lang="en-US" sz="1500" dirty="0"/>
          </a:p>
        </p:txBody>
      </p:sp>
      <p:sp>
        <p:nvSpPr>
          <p:cNvPr id="21" name="Text 16"/>
          <p:cNvSpPr txBox="1"/>
          <p:nvPr/>
        </p:nvSpPr>
        <p:spPr>
          <a:xfrm>
            <a:off x="6507328" y="3337560"/>
            <a:ext cx="2019224" cy="274320"/>
          </a:xfrm>
          <a:prstGeom prst="rect">
            <a:avLst/>
          </a:prstGeom>
          <a:noFill/>
          <a:ln/>
        </p:spPr>
        <p:txBody>
          <a:bodyPr wrap="square" lIns="0" tIns="0" rIns="0" bIns="0" rtlCol="0" anchor="t"/>
          <a:lstStyle/>
          <a:p>
            <a:pPr indent="0" marL="0">
              <a:buNone/>
            </a:pPr>
            <a:r>
              <a:rPr lang="en-US" sz="1200" dirty="0">
                <a:solidFill>
                  <a:schemeClr val="accent6"/>
                </a:solidFill>
              </a:rPr>
              <a:t>EN · FR · ES · DE · IT · NL</a:t>
            </a:r>
            <a:endParaRPr lang="en-US" sz="1200" dirty="0"/>
          </a:p>
        </p:txBody>
      </p:sp>
      <p:sp>
        <p:nvSpPr>
          <p:cNvPr id="22" name="stat 3"/>
          <p:cNvSpPr/>
          <p:nvPr/>
        </p:nvSpPr>
        <p:spPr>
          <a:xfrm>
            <a:off x="9075191" y="1463040"/>
            <a:ext cx="2567864" cy="2240280"/>
          </a:xfrm>
          <a:prstGeom prst="roundRect">
            <a:avLst>
              <a:gd name="adj" fmla="val 4898"/>
            </a:avLst>
          </a:prstGeom>
          <a:solidFill>
            <a:schemeClr val="bg2"/>
          </a:solidFill>
          <a:ln/>
        </p:spPr>
      </p:sp>
      <p:sp>
        <p:nvSpPr>
          <p:cNvPr id="23" name="stat 3 circle"/>
          <p:cNvSpPr/>
          <p:nvPr/>
        </p:nvSpPr>
        <p:spPr>
          <a:xfrm>
            <a:off x="9349511" y="1737360"/>
            <a:ext cx="502920" cy="502920"/>
          </a:xfrm>
          <a:prstGeom prst="ellipse">
            <a:avLst/>
          </a:prstGeom>
          <a:solidFill>
            <a:schemeClr val="tx2"/>
          </a:solidFill>
          <a:ln/>
        </p:spPr>
      </p:sp>
      <p:pic>
        <p:nvPicPr>
          <p:cNvPr id="24" name="stat 3 icon" descr="stat 3">    </p:cNvPr>
          <p:cNvPicPr>
            <a:picLocks noChangeAspect="1"/>
          </p:cNvPicPr>
          <p:nvPr/>
        </p:nvPicPr>
        <p:blipFill>
          <a:blip r:embed="rId4"/>
          <a:stretch>
            <a:fillRect/>
          </a:stretch>
        </p:blipFill>
        <p:spPr>
          <a:xfrm>
            <a:off x="9475241" y="1863090"/>
            <a:ext cx="251460" cy="251460"/>
          </a:xfrm>
          <a:prstGeom prst="rect">
            <a:avLst/>
          </a:prstGeom>
        </p:spPr>
      </p:pic>
      <p:sp>
        <p:nvSpPr>
          <p:cNvPr id="25" name="Text 19"/>
          <p:cNvSpPr txBox="1"/>
          <p:nvPr/>
        </p:nvSpPr>
        <p:spPr>
          <a:xfrm>
            <a:off x="9349511" y="2331720"/>
            <a:ext cx="2019224" cy="731520"/>
          </a:xfrm>
          <a:prstGeom prst="rect">
            <a:avLst/>
          </a:prstGeom>
          <a:noFill/>
          <a:ln/>
        </p:spPr>
        <p:txBody>
          <a:bodyPr wrap="square" lIns="0" tIns="0" rIns="0" bIns="0" rtlCol="0" anchor="ctr"/>
          <a:lstStyle/>
          <a:p>
            <a:pPr indent="0" marL="0">
              <a:buNone/>
            </a:pPr>
            <a:r>
              <a:rPr lang="en-US" sz="4800" b="1" dirty="0">
                <a:solidFill>
                  <a:schemeClr val="tx2"/>
                </a:solidFill>
                <a:latin typeface="Arial" pitchFamily="34" charset="0"/>
                <a:ea typeface="Arial" pitchFamily="34" charset="-122"/>
                <a:cs typeface="Arial" pitchFamily="34" charset="-120"/>
              </a:rPr>
              <a:t>2,372</a:t>
            </a:r>
            <a:endParaRPr lang="en-US" sz="4800" dirty="0"/>
          </a:p>
        </p:txBody>
      </p:sp>
      <p:sp>
        <p:nvSpPr>
          <p:cNvPr id="26" name="Text 20"/>
          <p:cNvSpPr txBox="1"/>
          <p:nvPr/>
        </p:nvSpPr>
        <p:spPr>
          <a:xfrm>
            <a:off x="9349511" y="3063240"/>
            <a:ext cx="2019224" cy="292608"/>
          </a:xfrm>
          <a:prstGeom prst="rect">
            <a:avLst/>
          </a:prstGeom>
          <a:noFill/>
          <a:ln/>
        </p:spPr>
        <p:txBody>
          <a:bodyPr wrap="square" lIns="0" tIns="0" rIns="0" bIns="0" rtlCol="0" anchor="t"/>
          <a:lstStyle/>
          <a:p>
            <a:pPr indent="0" marL="0">
              <a:buNone/>
            </a:pPr>
            <a:r>
              <a:rPr lang="en-US" sz="1500" b="1" dirty="0">
                <a:solidFill>
                  <a:schemeClr val="tx1"/>
                </a:solidFill>
              </a:rPr>
              <a:t>automated tests passing</a:t>
            </a:r>
            <a:endParaRPr lang="en-US" sz="1500" dirty="0"/>
          </a:p>
        </p:txBody>
      </p:sp>
      <p:sp>
        <p:nvSpPr>
          <p:cNvPr id="27" name="Text 21"/>
          <p:cNvSpPr txBox="1"/>
          <p:nvPr/>
        </p:nvSpPr>
        <p:spPr>
          <a:xfrm>
            <a:off x="9349511" y="3337560"/>
            <a:ext cx="2019224" cy="274320"/>
          </a:xfrm>
          <a:prstGeom prst="rect">
            <a:avLst/>
          </a:prstGeom>
          <a:noFill/>
          <a:ln/>
        </p:spPr>
        <p:txBody>
          <a:bodyPr wrap="square" lIns="0" tIns="0" rIns="0" bIns="0" rtlCol="0" anchor="t"/>
          <a:lstStyle/>
          <a:p>
            <a:pPr indent="0" marL="0">
              <a:buNone/>
            </a:pPr>
            <a:r>
              <a:rPr lang="en-US" sz="1200" dirty="0">
                <a:solidFill>
                  <a:schemeClr val="accent6"/>
                </a:solidFill>
              </a:rPr>
              <a:t>843 backend + 1,529 Flutter</a:t>
            </a:r>
            <a:endParaRPr lang="en-US" sz="1200" dirty="0"/>
          </a:p>
        </p:txBody>
      </p:sp>
      <p:sp>
        <p:nvSpPr>
          <p:cNvPr id="28" name="Text 22"/>
          <p:cNvSpPr txBox="1"/>
          <p:nvPr/>
        </p:nvSpPr>
        <p:spPr>
          <a:xfrm>
            <a:off x="548640" y="4069080"/>
            <a:ext cx="2743200" cy="365760"/>
          </a:xfrm>
          <a:prstGeom prst="rect">
            <a:avLst/>
          </a:prstGeom>
          <a:noFill/>
          <a:ln/>
        </p:spPr>
        <p:txBody>
          <a:bodyPr wrap="square" lIns="0" tIns="0" rIns="0" bIns="0" rtlCol="0" anchor="t"/>
          <a:lstStyle/>
          <a:p>
            <a:pPr indent="0" marL="0">
              <a:buNone/>
            </a:pPr>
            <a:r>
              <a:rPr lang="en-US" sz="1800" b="1" dirty="0">
                <a:solidFill>
                  <a:schemeClr val="tx2"/>
                </a:solidFill>
              </a:rPr>
              <a:t>Today</a:t>
            </a:r>
            <a:endParaRPr lang="en-US" sz="1800" dirty="0"/>
          </a:p>
        </p:txBody>
      </p:sp>
      <p:sp>
        <p:nvSpPr>
          <p:cNvPr id="29" name="agenda connector"/>
          <p:cNvSpPr/>
          <p:nvPr/>
        </p:nvSpPr>
        <p:spPr>
          <a:xfrm>
            <a:off x="1658082" y="4864608"/>
            <a:ext cx="8875532" cy="0"/>
          </a:xfrm>
          <a:prstGeom prst="line">
            <a:avLst/>
          </a:prstGeom>
          <a:noFill/>
          <a:ln w="38100">
            <a:solidFill>
              <a:srgbClr val="EEF2F9"/>
            </a:solidFill>
            <a:prstDash val="solid"/>
          </a:ln>
        </p:spPr>
      </p:sp>
      <p:sp>
        <p:nvSpPr>
          <p:cNvPr id="30" name="agenda dot 0"/>
          <p:cNvSpPr/>
          <p:nvPr/>
        </p:nvSpPr>
        <p:spPr>
          <a:xfrm>
            <a:off x="1411194" y="4617720"/>
            <a:ext cx="493776" cy="493776"/>
          </a:xfrm>
          <a:prstGeom prst="ellipse">
            <a:avLst/>
          </a:prstGeom>
          <a:solidFill>
            <a:schemeClr val="tx2"/>
          </a:solidFill>
          <a:ln/>
        </p:spPr>
      </p:sp>
      <p:sp>
        <p:nvSpPr>
          <p:cNvPr id="31" name="Text 25"/>
          <p:cNvSpPr txBox="1"/>
          <p:nvPr/>
        </p:nvSpPr>
        <p:spPr>
          <a:xfrm>
            <a:off x="1411194" y="461772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2" name="Text 26"/>
          <p:cNvSpPr txBox="1"/>
          <p:nvPr/>
        </p:nvSpPr>
        <p:spPr>
          <a:xfrm>
            <a:off x="640080" y="5257800"/>
            <a:ext cx="2036003" cy="548640"/>
          </a:xfrm>
          <a:prstGeom prst="rect">
            <a:avLst/>
          </a:prstGeom>
          <a:noFill/>
          <a:ln/>
        </p:spPr>
        <p:txBody>
          <a:bodyPr wrap="square" lIns="0" tIns="0" rIns="0" bIns="0" rtlCol="0" anchor="t"/>
          <a:lstStyle/>
          <a:p>
            <a:pPr algn="ctr" indent="0" marL="0">
              <a:buNone/>
            </a:pPr>
            <a:r>
              <a:rPr lang="en-US" sz="1400" dirty="0">
                <a:solidFill>
                  <a:schemeClr val="tx1"/>
                </a:solidFill>
              </a:rPr>
              <a:t>Context &amp; objectives</a:t>
            </a:r>
            <a:endParaRPr lang="en-US" sz="1400" dirty="0"/>
          </a:p>
        </p:txBody>
      </p:sp>
      <p:sp>
        <p:nvSpPr>
          <p:cNvPr id="33" name="agenda dot 1"/>
          <p:cNvSpPr/>
          <p:nvPr/>
        </p:nvSpPr>
        <p:spPr>
          <a:xfrm>
            <a:off x="3630077" y="4617720"/>
            <a:ext cx="493776" cy="493776"/>
          </a:xfrm>
          <a:prstGeom prst="ellipse">
            <a:avLst/>
          </a:prstGeom>
          <a:solidFill>
            <a:schemeClr val="tx2"/>
          </a:solidFill>
          <a:ln/>
        </p:spPr>
      </p:sp>
      <p:sp>
        <p:nvSpPr>
          <p:cNvPr id="34" name="Text 28"/>
          <p:cNvSpPr txBox="1"/>
          <p:nvPr/>
        </p:nvSpPr>
        <p:spPr>
          <a:xfrm>
            <a:off x="3630077" y="461772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5" name="Text 29"/>
          <p:cNvSpPr txBox="1"/>
          <p:nvPr/>
        </p:nvSpPr>
        <p:spPr>
          <a:xfrm>
            <a:off x="2858963" y="5257800"/>
            <a:ext cx="2036003" cy="548640"/>
          </a:xfrm>
          <a:prstGeom prst="rect">
            <a:avLst/>
          </a:prstGeom>
          <a:noFill/>
          <a:ln/>
        </p:spPr>
        <p:txBody>
          <a:bodyPr wrap="square" lIns="0" tIns="0" rIns="0" bIns="0" rtlCol="0" anchor="t"/>
          <a:lstStyle/>
          <a:p>
            <a:pPr algn="ctr" indent="0" marL="0">
              <a:buNone/>
            </a:pPr>
            <a:r>
              <a:rPr lang="en-US" sz="1400" dirty="0">
                <a:solidFill>
                  <a:schemeClr val="tx1"/>
                </a:solidFill>
              </a:rPr>
              <a:t>Architecture &amp; stack</a:t>
            </a:r>
            <a:endParaRPr lang="en-US" sz="1400" dirty="0"/>
          </a:p>
        </p:txBody>
      </p:sp>
      <p:sp>
        <p:nvSpPr>
          <p:cNvPr id="36" name="agenda dot 2"/>
          <p:cNvSpPr/>
          <p:nvPr/>
        </p:nvSpPr>
        <p:spPr>
          <a:xfrm>
            <a:off x="5848960" y="4617720"/>
            <a:ext cx="493776" cy="493776"/>
          </a:xfrm>
          <a:prstGeom prst="ellipse">
            <a:avLst/>
          </a:prstGeom>
          <a:solidFill>
            <a:schemeClr val="accent2"/>
          </a:solidFill>
          <a:ln/>
        </p:spPr>
      </p:sp>
      <p:sp>
        <p:nvSpPr>
          <p:cNvPr id="37" name="Text 31"/>
          <p:cNvSpPr txBox="1"/>
          <p:nvPr/>
        </p:nvSpPr>
        <p:spPr>
          <a:xfrm>
            <a:off x="5848960" y="461772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8" name="Text 32"/>
          <p:cNvSpPr txBox="1"/>
          <p:nvPr/>
        </p:nvSpPr>
        <p:spPr>
          <a:xfrm>
            <a:off x="5077846" y="5257800"/>
            <a:ext cx="2036003" cy="548640"/>
          </a:xfrm>
          <a:prstGeom prst="rect">
            <a:avLst/>
          </a:prstGeom>
          <a:noFill/>
          <a:ln/>
        </p:spPr>
        <p:txBody>
          <a:bodyPr wrap="square" lIns="0" tIns="0" rIns="0" bIns="0" rtlCol="0" anchor="t"/>
          <a:lstStyle/>
          <a:p>
            <a:pPr algn="ctr" indent="0" marL="0">
              <a:buNone/>
            </a:pPr>
            <a:r>
              <a:rPr lang="en-US" sz="1400" b="1" dirty="0">
                <a:solidFill>
                  <a:schemeClr val="tx1"/>
                </a:solidFill>
              </a:rPr>
              <a:t>My contribution: the games</a:t>
            </a:r>
            <a:endParaRPr lang="en-US" sz="1400" dirty="0"/>
          </a:p>
        </p:txBody>
      </p:sp>
      <p:sp>
        <p:nvSpPr>
          <p:cNvPr id="39" name="agenda dot 3"/>
          <p:cNvSpPr/>
          <p:nvPr/>
        </p:nvSpPr>
        <p:spPr>
          <a:xfrm>
            <a:off x="8067843" y="4617720"/>
            <a:ext cx="493776" cy="493776"/>
          </a:xfrm>
          <a:prstGeom prst="ellipse">
            <a:avLst/>
          </a:prstGeom>
          <a:solidFill>
            <a:schemeClr val="tx2"/>
          </a:solidFill>
          <a:ln/>
        </p:spPr>
      </p:sp>
      <p:sp>
        <p:nvSpPr>
          <p:cNvPr id="40" name="Text 34"/>
          <p:cNvSpPr txBox="1"/>
          <p:nvPr/>
        </p:nvSpPr>
        <p:spPr>
          <a:xfrm>
            <a:off x="8067843" y="461772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1" name="Text 35"/>
          <p:cNvSpPr txBox="1"/>
          <p:nvPr/>
        </p:nvSpPr>
        <p:spPr>
          <a:xfrm>
            <a:off x="7296729" y="5257800"/>
            <a:ext cx="2036003" cy="548640"/>
          </a:xfrm>
          <a:prstGeom prst="rect">
            <a:avLst/>
          </a:prstGeom>
          <a:noFill/>
          <a:ln/>
        </p:spPr>
        <p:txBody>
          <a:bodyPr wrap="square" lIns="0" tIns="0" rIns="0" bIns="0" rtlCol="0" anchor="t"/>
          <a:lstStyle/>
          <a:p>
            <a:pPr algn="ctr" indent="0" marL="0">
              <a:buNone/>
            </a:pPr>
            <a:r>
              <a:rPr lang="en-US" sz="1400" dirty="0">
                <a:solidFill>
                  <a:schemeClr val="tx1"/>
                </a:solidFill>
              </a:rPr>
              <a:t>Testing &amp; results</a:t>
            </a:r>
            <a:endParaRPr lang="en-US" sz="1400" dirty="0"/>
          </a:p>
        </p:txBody>
      </p:sp>
      <p:sp>
        <p:nvSpPr>
          <p:cNvPr id="42" name="agenda dot 4"/>
          <p:cNvSpPr/>
          <p:nvPr/>
        </p:nvSpPr>
        <p:spPr>
          <a:xfrm>
            <a:off x="10286726" y="4617720"/>
            <a:ext cx="493776" cy="493776"/>
          </a:xfrm>
          <a:prstGeom prst="ellipse">
            <a:avLst/>
          </a:prstGeom>
          <a:solidFill>
            <a:schemeClr val="tx2"/>
          </a:solidFill>
          <a:ln/>
        </p:spPr>
      </p:sp>
      <p:sp>
        <p:nvSpPr>
          <p:cNvPr id="43" name="Text 37"/>
          <p:cNvSpPr txBox="1"/>
          <p:nvPr/>
        </p:nvSpPr>
        <p:spPr>
          <a:xfrm>
            <a:off x="10286726" y="4617720"/>
            <a:ext cx="493776" cy="493776"/>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44" name="Text 38"/>
          <p:cNvSpPr txBox="1"/>
          <p:nvPr/>
        </p:nvSpPr>
        <p:spPr>
          <a:xfrm>
            <a:off x="9515612" y="5257800"/>
            <a:ext cx="2036003" cy="548640"/>
          </a:xfrm>
          <a:prstGeom prst="rect">
            <a:avLst/>
          </a:prstGeom>
          <a:noFill/>
          <a:ln/>
        </p:spPr>
        <p:txBody>
          <a:bodyPr wrap="square" lIns="0" tIns="0" rIns="0" bIns="0" rtlCol="0" anchor="t"/>
          <a:lstStyle/>
          <a:p>
            <a:pPr algn="ctr" indent="0" marL="0">
              <a:buNone/>
            </a:pPr>
            <a:r>
              <a:rPr lang="en-US" sz="1400" dirty="0">
                <a:solidFill>
                  <a:schemeClr val="tx1"/>
                </a:solidFill>
              </a:rPr>
              <a:t>Lessons &amp; next steps</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One platform, three audiences</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2 Project context</a:t>
            </a:r>
            <a:endParaRPr lang="en-US" sz="1000" dirty="0"/>
          </a:p>
        </p:txBody>
      </p:sp>
      <p:sp>
        <p:nvSpPr>
          <p:cNvPr id="4" name="Text 2"/>
          <p:cNvSpPr txBox="1"/>
          <p:nvPr/>
        </p:nvSpPr>
        <p:spPr>
          <a:xfrm>
            <a:off x="548640" y="1417320"/>
            <a:ext cx="6035040" cy="731520"/>
          </a:xfrm>
          <a:prstGeom prst="rect">
            <a:avLst/>
          </a:prstGeom>
          <a:noFill/>
          <a:ln/>
        </p:spPr>
        <p:txBody>
          <a:bodyPr wrap="square" lIns="0" tIns="0" rIns="0" bIns="0" rtlCol="0" anchor="t"/>
          <a:lstStyle/>
          <a:p>
            <a:pPr indent="0" marL="0">
              <a:buNone/>
            </a:pPr>
            <a:r>
              <a:rPr lang="en-US" sz="1600" dirty="0">
                <a:solidFill>
                  <a:schemeClr val="accent6"/>
                </a:solidFill>
              </a:rPr>
              <a:t>Zennyt is a mobile career platform where profiles, job offers, assessments and conversations meet.</a:t>
            </a:r>
            <a:endParaRPr lang="en-US" sz="1600" dirty="0"/>
          </a:p>
        </p:txBody>
      </p:sp>
      <p:sp>
        <p:nvSpPr>
          <p:cNvPr id="5" name="Candidates circle"/>
          <p:cNvSpPr/>
          <p:nvPr/>
        </p:nvSpPr>
        <p:spPr>
          <a:xfrm>
            <a:off x="548640" y="2377440"/>
            <a:ext cx="594360" cy="594360"/>
          </a:xfrm>
          <a:prstGeom prst="ellipse">
            <a:avLst/>
          </a:prstGeom>
          <a:solidFill>
            <a:schemeClr val="accent2"/>
          </a:solidFill>
          <a:ln/>
        </p:spPr>
      </p:sp>
      <p:pic>
        <p:nvPicPr>
          <p:cNvPr id="6" name="Candidates icon" descr="Candidates">    </p:cNvPr>
          <p:cNvPicPr>
            <a:picLocks noChangeAspect="1"/>
          </p:cNvPicPr>
          <p:nvPr/>
        </p:nvPicPr>
        <p:blipFill>
          <a:blip r:embed="rId1"/>
          <a:stretch>
            <a:fillRect/>
          </a:stretch>
        </p:blipFill>
        <p:spPr>
          <a:xfrm>
            <a:off x="697230" y="2526030"/>
            <a:ext cx="297180" cy="297180"/>
          </a:xfrm>
          <a:prstGeom prst="rect">
            <a:avLst/>
          </a:prstGeom>
        </p:spPr>
      </p:pic>
      <p:sp>
        <p:nvSpPr>
          <p:cNvPr id="7" name="Text 4"/>
          <p:cNvSpPr txBox="1"/>
          <p:nvPr/>
        </p:nvSpPr>
        <p:spPr>
          <a:xfrm>
            <a:off x="1371600" y="2377440"/>
            <a:ext cx="5303520" cy="347472"/>
          </a:xfrm>
          <a:prstGeom prst="rect">
            <a:avLst/>
          </a:prstGeom>
          <a:noFill/>
          <a:ln/>
        </p:spPr>
        <p:txBody>
          <a:bodyPr wrap="square" lIns="0" tIns="0" rIns="0" bIns="0" rtlCol="0" anchor="t"/>
          <a:lstStyle/>
          <a:p>
            <a:pPr indent="0" marL="0">
              <a:buNone/>
            </a:pPr>
            <a:r>
              <a:rPr lang="en-US" sz="1800" b="1" dirty="0">
                <a:solidFill>
                  <a:schemeClr val="tx2"/>
                </a:solidFill>
              </a:rPr>
              <a:t>Candidates</a:t>
            </a:r>
            <a:endParaRPr lang="en-US" sz="1800" dirty="0"/>
          </a:p>
        </p:txBody>
      </p:sp>
      <p:sp>
        <p:nvSpPr>
          <p:cNvPr id="8" name="Text 5"/>
          <p:cNvSpPr txBox="1"/>
          <p:nvPr/>
        </p:nvSpPr>
        <p:spPr>
          <a:xfrm>
            <a:off x="1371600" y="2743200"/>
            <a:ext cx="5303520" cy="640080"/>
          </a:xfrm>
          <a:prstGeom prst="rect">
            <a:avLst/>
          </a:prstGeom>
          <a:noFill/>
          <a:ln/>
        </p:spPr>
        <p:txBody>
          <a:bodyPr wrap="square" lIns="0" tIns="0" rIns="0" bIns="0" rtlCol="0" anchor="t"/>
          <a:lstStyle/>
          <a:p>
            <a:pPr indent="0" marL="0">
              <a:buNone/>
            </a:pPr>
            <a:r>
              <a:rPr lang="en-US" sz="1400" dirty="0">
                <a:solidFill>
                  <a:schemeClr val="tx1"/>
                </a:solidFill>
              </a:rPr>
              <a:t>Build a profile, explore offers, play cognitive games, take technical tests and chat with recruiters.</a:t>
            </a:r>
            <a:endParaRPr lang="en-US" sz="1400" dirty="0"/>
          </a:p>
        </p:txBody>
      </p:sp>
      <p:sp>
        <p:nvSpPr>
          <p:cNvPr id="9" name="Recruiters circle"/>
          <p:cNvSpPr/>
          <p:nvPr/>
        </p:nvSpPr>
        <p:spPr>
          <a:xfrm>
            <a:off x="548640" y="3566160"/>
            <a:ext cx="594360" cy="594360"/>
          </a:xfrm>
          <a:prstGeom prst="ellipse">
            <a:avLst/>
          </a:prstGeom>
          <a:solidFill>
            <a:schemeClr val="tx2"/>
          </a:solidFill>
          <a:ln/>
        </p:spPr>
      </p:sp>
      <p:pic>
        <p:nvPicPr>
          <p:cNvPr id="10" name="Recruiters icon" descr="Recruiters">    </p:cNvPr>
          <p:cNvPicPr>
            <a:picLocks noChangeAspect="1"/>
          </p:cNvPicPr>
          <p:nvPr/>
        </p:nvPicPr>
        <p:blipFill>
          <a:blip r:embed="rId2"/>
          <a:stretch>
            <a:fillRect/>
          </a:stretch>
        </p:blipFill>
        <p:spPr>
          <a:xfrm>
            <a:off x="697230" y="3714750"/>
            <a:ext cx="297180" cy="297180"/>
          </a:xfrm>
          <a:prstGeom prst="rect">
            <a:avLst/>
          </a:prstGeom>
        </p:spPr>
      </p:pic>
      <p:sp>
        <p:nvSpPr>
          <p:cNvPr id="11" name="Text 7"/>
          <p:cNvSpPr txBox="1"/>
          <p:nvPr/>
        </p:nvSpPr>
        <p:spPr>
          <a:xfrm>
            <a:off x="1371600" y="3566160"/>
            <a:ext cx="5303520" cy="347472"/>
          </a:xfrm>
          <a:prstGeom prst="rect">
            <a:avLst/>
          </a:prstGeom>
          <a:noFill/>
          <a:ln/>
        </p:spPr>
        <p:txBody>
          <a:bodyPr wrap="square" lIns="0" tIns="0" rIns="0" bIns="0" rtlCol="0" anchor="t"/>
          <a:lstStyle/>
          <a:p>
            <a:pPr indent="0" marL="0">
              <a:buNone/>
            </a:pPr>
            <a:r>
              <a:rPr lang="en-US" sz="1800" b="1" dirty="0">
                <a:solidFill>
                  <a:schemeClr val="tx2"/>
                </a:solidFill>
              </a:rPr>
              <a:t>Recruiters</a:t>
            </a:r>
            <a:endParaRPr lang="en-US" sz="1800" dirty="0"/>
          </a:p>
        </p:txBody>
      </p:sp>
      <p:sp>
        <p:nvSpPr>
          <p:cNvPr id="12" name="Text 8"/>
          <p:cNvSpPr txBox="1"/>
          <p:nvPr/>
        </p:nvSpPr>
        <p:spPr>
          <a:xfrm>
            <a:off x="1371600" y="3931920"/>
            <a:ext cx="5303520" cy="640080"/>
          </a:xfrm>
          <a:prstGeom prst="rect">
            <a:avLst/>
          </a:prstGeom>
          <a:noFill/>
          <a:ln/>
        </p:spPr>
        <p:txBody>
          <a:bodyPr wrap="square" lIns="0" tIns="0" rIns="0" bIns="0" rtlCol="0" anchor="t"/>
          <a:lstStyle/>
          <a:p>
            <a:pPr indent="0" marL="0">
              <a:buNone/>
            </a:pPr>
            <a:r>
              <a:rPr lang="en-US" sz="1400" dirty="0">
                <a:solidFill>
                  <a:schemeClr val="tx1"/>
                </a:solidFill>
              </a:rPr>
              <a:t>Publish offers, author technical tests and review applicants with a Fit Score.</a:t>
            </a:r>
            <a:endParaRPr lang="en-US" sz="1400" dirty="0"/>
          </a:p>
        </p:txBody>
      </p:sp>
      <p:sp>
        <p:nvSpPr>
          <p:cNvPr id="13" name="Staff circle"/>
          <p:cNvSpPr/>
          <p:nvPr/>
        </p:nvSpPr>
        <p:spPr>
          <a:xfrm>
            <a:off x="548640" y="4754880"/>
            <a:ext cx="594360" cy="594360"/>
          </a:xfrm>
          <a:prstGeom prst="ellipse">
            <a:avLst/>
          </a:prstGeom>
          <a:solidFill>
            <a:schemeClr val="tx2"/>
          </a:solidFill>
          <a:ln/>
        </p:spPr>
      </p:sp>
      <p:pic>
        <p:nvPicPr>
          <p:cNvPr id="14" name="Staff icon" descr="Staff">    </p:cNvPr>
          <p:cNvPicPr>
            <a:picLocks noChangeAspect="1"/>
          </p:cNvPicPr>
          <p:nvPr/>
        </p:nvPicPr>
        <p:blipFill>
          <a:blip r:embed="rId3"/>
          <a:stretch>
            <a:fillRect/>
          </a:stretch>
        </p:blipFill>
        <p:spPr>
          <a:xfrm>
            <a:off x="697230" y="4903470"/>
            <a:ext cx="297180" cy="297180"/>
          </a:xfrm>
          <a:prstGeom prst="rect">
            <a:avLst/>
          </a:prstGeom>
        </p:spPr>
      </p:pic>
      <p:sp>
        <p:nvSpPr>
          <p:cNvPr id="15" name="Text 10"/>
          <p:cNvSpPr txBox="1"/>
          <p:nvPr/>
        </p:nvSpPr>
        <p:spPr>
          <a:xfrm>
            <a:off x="1371600" y="4754880"/>
            <a:ext cx="5303520" cy="347472"/>
          </a:xfrm>
          <a:prstGeom prst="rect">
            <a:avLst/>
          </a:prstGeom>
          <a:noFill/>
          <a:ln/>
        </p:spPr>
        <p:txBody>
          <a:bodyPr wrap="square" lIns="0" tIns="0" rIns="0" bIns="0" rtlCol="0" anchor="t"/>
          <a:lstStyle/>
          <a:p>
            <a:pPr indent="0" marL="0">
              <a:buNone/>
            </a:pPr>
            <a:r>
              <a:rPr lang="en-US" sz="1800" b="1" dirty="0">
                <a:solidFill>
                  <a:schemeClr val="tx2"/>
                </a:solidFill>
              </a:rPr>
              <a:t>Staff</a:t>
            </a:r>
            <a:endParaRPr lang="en-US" sz="1800" dirty="0"/>
          </a:p>
        </p:txBody>
      </p:sp>
      <p:sp>
        <p:nvSpPr>
          <p:cNvPr id="16" name="Text 11"/>
          <p:cNvSpPr txBox="1"/>
          <p:nvPr/>
        </p:nvSpPr>
        <p:spPr>
          <a:xfrm>
            <a:off x="1371600" y="5120640"/>
            <a:ext cx="5303520" cy="640080"/>
          </a:xfrm>
          <a:prstGeom prst="rect">
            <a:avLst/>
          </a:prstGeom>
          <a:noFill/>
          <a:ln/>
        </p:spPr>
        <p:txBody>
          <a:bodyPr wrap="square" lIns="0" tIns="0" rIns="0" bIns="0" rtlCol="0" anchor="t"/>
          <a:lstStyle/>
          <a:p>
            <a:pPr indent="0" marL="0">
              <a:buNone/>
            </a:pPr>
            <a:r>
              <a:rPr lang="en-US" sz="1400" dirty="0">
                <a:solidFill>
                  <a:schemeClr val="tx1"/>
                </a:solidFill>
              </a:rPr>
              <a:t>Game Studio and Platform Console manage assessment content and platform operations.</a:t>
            </a:r>
            <a:endParaRPr lang="en-US" sz="1400" dirty="0"/>
          </a:p>
        </p:txBody>
      </p:sp>
      <p:pic>
        <p:nvPicPr>
          <p:cNvPr id="17" name="screen retake-01-current" descr="Candidate home feed">    </p:cNvPr>
          <p:cNvPicPr>
            <a:picLocks noChangeAspect="1"/>
          </p:cNvPicPr>
          <p:nvPr/>
        </p:nvPicPr>
        <p:blipFill>
          <a:blip r:embed="rId4"/>
          <a:stretch>
            <a:fillRect/>
          </a:stretch>
        </p:blipFill>
        <p:spPr>
          <a:xfrm>
            <a:off x="7086600" y="1325880"/>
            <a:ext cx="2087722" cy="4389120"/>
          </a:xfrm>
          <a:prstGeom prst="rect">
            <a:avLst/>
          </a:prstGeom>
        </p:spPr>
      </p:pic>
      <p:pic>
        <p:nvPicPr>
          <p:cNvPr id="18" name="screen 153-recruiter-careers-ready" descr="Recruiter careers dashboard">    </p:cNvPr>
          <p:cNvPicPr>
            <a:picLocks noChangeAspect="1"/>
          </p:cNvPicPr>
          <p:nvPr/>
        </p:nvPicPr>
        <p:blipFill>
          <a:blip r:embed="rId5"/>
          <a:stretch>
            <a:fillRect/>
          </a:stretch>
        </p:blipFill>
        <p:spPr>
          <a:xfrm>
            <a:off x="9509760" y="1325880"/>
            <a:ext cx="2087722" cy="4389120"/>
          </a:xfrm>
          <a:prstGeom prst="rect">
            <a:avLst/>
          </a:prstGeom>
        </p:spPr>
      </p:pic>
      <p:sp>
        <p:nvSpPr>
          <p:cNvPr id="19" name="Text 12"/>
          <p:cNvSpPr txBox="1"/>
          <p:nvPr/>
        </p:nvSpPr>
        <p:spPr>
          <a:xfrm>
            <a:off x="7086600" y="5806440"/>
            <a:ext cx="2084832" cy="274320"/>
          </a:xfrm>
          <a:prstGeom prst="rect">
            <a:avLst/>
          </a:prstGeom>
          <a:noFill/>
          <a:ln/>
        </p:spPr>
        <p:txBody>
          <a:bodyPr wrap="square" lIns="0" tIns="0" rIns="0" bIns="0" rtlCol="0" anchor="t"/>
          <a:lstStyle/>
          <a:p>
            <a:pPr algn="ctr" indent="0" marL="0">
              <a:buNone/>
            </a:pPr>
            <a:r>
              <a:rPr lang="en-US" sz="1100" dirty="0">
                <a:solidFill>
                  <a:schemeClr val="accent6"/>
                </a:solidFill>
              </a:rPr>
              <a:t>Candidate · Home feed</a:t>
            </a:r>
            <a:endParaRPr lang="en-US" sz="1100" dirty="0"/>
          </a:p>
        </p:txBody>
      </p:sp>
      <p:sp>
        <p:nvSpPr>
          <p:cNvPr id="20" name="Text 13"/>
          <p:cNvSpPr txBox="1"/>
          <p:nvPr/>
        </p:nvSpPr>
        <p:spPr>
          <a:xfrm>
            <a:off x="9326880" y="5806440"/>
            <a:ext cx="2468880" cy="274320"/>
          </a:xfrm>
          <a:prstGeom prst="rect">
            <a:avLst/>
          </a:prstGeom>
          <a:noFill/>
          <a:ln/>
        </p:spPr>
        <p:txBody>
          <a:bodyPr wrap="square" lIns="0" tIns="0" rIns="0" bIns="0" rtlCol="0" anchor="t"/>
          <a:lstStyle/>
          <a:p>
            <a:pPr algn="ctr" indent="0" marL="0">
              <a:buNone/>
            </a:pPr>
            <a:r>
              <a:rPr lang="en-US" sz="1100" dirty="0">
                <a:solidFill>
                  <a:schemeClr val="accent6"/>
                </a:solidFill>
              </a:rPr>
              <a:t>Recruiter · Careers dashboard</a:t>
            </a:r>
            <a:endParaRPr lang="en-US" sz="11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The challenge: trustworthy game results</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1 Problem and objectives</a:t>
            </a:r>
            <a:endParaRPr lang="en-US" sz="1000" dirty="0"/>
          </a:p>
        </p:txBody>
      </p:sp>
      <p:sp>
        <p:nvSpPr>
          <p:cNvPr id="4" name="why panel"/>
          <p:cNvSpPr/>
          <p:nvPr/>
        </p:nvSpPr>
        <p:spPr>
          <a:xfrm>
            <a:off x="548640" y="1463040"/>
            <a:ext cx="4937760" cy="4526280"/>
          </a:xfrm>
          <a:prstGeom prst="roundRect">
            <a:avLst>
              <a:gd name="adj" fmla="val 2424"/>
            </a:avLst>
          </a:prstGeom>
          <a:solidFill>
            <a:schemeClr val="bg2"/>
          </a:solidFill>
          <a:ln/>
        </p:spPr>
      </p:sp>
      <p:sp>
        <p:nvSpPr>
          <p:cNvPr id="5" name="Text 3"/>
          <p:cNvSpPr txBox="1"/>
          <p:nvPr/>
        </p:nvSpPr>
        <p:spPr>
          <a:xfrm>
            <a:off x="868680" y="1691640"/>
            <a:ext cx="4297680" cy="365760"/>
          </a:xfrm>
          <a:prstGeom prst="rect">
            <a:avLst/>
          </a:prstGeom>
          <a:noFill/>
          <a:ln/>
        </p:spPr>
        <p:txBody>
          <a:bodyPr wrap="square" lIns="0" tIns="0" rIns="0" bIns="0" rtlCol="0" anchor="t"/>
          <a:lstStyle/>
          <a:p>
            <a:pPr indent="0" marL="0">
              <a:buNone/>
            </a:pPr>
            <a:r>
              <a:rPr lang="en-US" sz="1800" b="1" dirty="0">
                <a:solidFill>
                  <a:schemeClr val="tx2"/>
                </a:solidFill>
              </a:rPr>
              <a:t>Why it is hard</a:t>
            </a:r>
            <a:endParaRPr lang="en-US" sz="1800" dirty="0"/>
          </a:p>
        </p:txBody>
      </p:sp>
      <p:sp>
        <p:nvSpPr>
          <p:cNvPr id="6" name="flow 0 circle"/>
          <p:cNvSpPr/>
          <p:nvPr/>
        </p:nvSpPr>
        <p:spPr>
          <a:xfrm>
            <a:off x="868680" y="2331720"/>
            <a:ext cx="548640" cy="548640"/>
          </a:xfrm>
          <a:prstGeom prst="ellipse">
            <a:avLst/>
          </a:prstGeom>
          <a:solidFill>
            <a:schemeClr val="tx2"/>
          </a:solidFill>
          <a:ln/>
        </p:spPr>
      </p:sp>
      <p:pic>
        <p:nvPicPr>
          <p:cNvPr id="7" name="flow 0 icon" descr="flow 0">    </p:cNvPr>
          <p:cNvPicPr>
            <a:picLocks noChangeAspect="1"/>
          </p:cNvPicPr>
          <p:nvPr/>
        </p:nvPicPr>
        <p:blipFill>
          <a:blip r:embed="rId1"/>
          <a:stretch>
            <a:fillRect/>
          </a:stretch>
        </p:blipFill>
        <p:spPr>
          <a:xfrm>
            <a:off x="1005840" y="2468880"/>
            <a:ext cx="274320" cy="274320"/>
          </a:xfrm>
          <a:prstGeom prst="rect">
            <a:avLst/>
          </a:prstGeom>
        </p:spPr>
      </p:pic>
      <p:sp>
        <p:nvSpPr>
          <p:cNvPr id="8" name="Text 5"/>
          <p:cNvSpPr txBox="1"/>
          <p:nvPr/>
        </p:nvSpPr>
        <p:spPr>
          <a:xfrm>
            <a:off x="1645920" y="2313432"/>
            <a:ext cx="3611880" cy="594360"/>
          </a:xfrm>
          <a:prstGeom prst="rect">
            <a:avLst/>
          </a:prstGeom>
          <a:noFill/>
          <a:ln/>
        </p:spPr>
        <p:txBody>
          <a:bodyPr wrap="square" lIns="0" tIns="0" rIns="0" bIns="0" rtlCol="0" anchor="ctr"/>
          <a:lstStyle/>
          <a:p>
            <a:pPr indent="0" marL="0">
              <a:buNone/>
            </a:pPr>
            <a:r>
              <a:rPr lang="en-US" sz="1500" dirty="0">
                <a:solidFill>
                  <a:schemeClr val="tx1"/>
                </a:solidFill>
              </a:rPr>
              <a:t>The phone captures every action and timing precisely</a:t>
            </a:r>
            <a:endParaRPr lang="en-US" sz="1500" dirty="0"/>
          </a:p>
        </p:txBody>
      </p:sp>
      <p:sp>
        <p:nvSpPr>
          <p:cNvPr id="9" name="flow arrow 0"/>
          <p:cNvSpPr/>
          <p:nvPr/>
        </p:nvSpPr>
        <p:spPr>
          <a:xfrm>
            <a:off x="1143000" y="2953512"/>
            <a:ext cx="0" cy="502920"/>
          </a:xfrm>
          <a:prstGeom prst="line">
            <a:avLst/>
          </a:prstGeom>
          <a:noFill/>
          <a:ln w="19050">
            <a:solidFill>
              <a:srgbClr val="11428D"/>
            </a:solidFill>
            <a:prstDash val="solid"/>
            <a:tailEnd type="triangle"/>
          </a:ln>
        </p:spPr>
      </p:sp>
      <p:sp>
        <p:nvSpPr>
          <p:cNvPr id="10" name="flow 1 circle"/>
          <p:cNvSpPr/>
          <p:nvPr/>
        </p:nvSpPr>
        <p:spPr>
          <a:xfrm>
            <a:off x="868680" y="3520440"/>
            <a:ext cx="548640" cy="548640"/>
          </a:xfrm>
          <a:prstGeom prst="ellipse">
            <a:avLst/>
          </a:prstGeom>
          <a:solidFill>
            <a:schemeClr val="tx2"/>
          </a:solidFill>
          <a:ln/>
        </p:spPr>
      </p:sp>
      <p:pic>
        <p:nvPicPr>
          <p:cNvPr id="11" name="flow 1 icon" descr="flow 1">    </p:cNvPr>
          <p:cNvPicPr>
            <a:picLocks noChangeAspect="1"/>
          </p:cNvPicPr>
          <p:nvPr/>
        </p:nvPicPr>
        <p:blipFill>
          <a:blip r:embed="rId2"/>
          <a:stretch>
            <a:fillRect/>
          </a:stretch>
        </p:blipFill>
        <p:spPr>
          <a:xfrm>
            <a:off x="1005840" y="3657600"/>
            <a:ext cx="274320" cy="274320"/>
          </a:xfrm>
          <a:prstGeom prst="rect">
            <a:avLst/>
          </a:prstGeom>
        </p:spPr>
      </p:pic>
      <p:sp>
        <p:nvSpPr>
          <p:cNvPr id="12" name="Text 8"/>
          <p:cNvSpPr txBox="1"/>
          <p:nvPr/>
        </p:nvSpPr>
        <p:spPr>
          <a:xfrm>
            <a:off x="1645920" y="3502152"/>
            <a:ext cx="3611880" cy="594360"/>
          </a:xfrm>
          <a:prstGeom prst="rect">
            <a:avLst/>
          </a:prstGeom>
          <a:noFill/>
          <a:ln/>
        </p:spPr>
        <p:txBody>
          <a:bodyPr wrap="square" lIns="0" tIns="0" rIns="0" bIns="0" rtlCol="0" anchor="ctr"/>
          <a:lstStyle/>
          <a:p>
            <a:pPr indent="0" marL="0">
              <a:buNone/>
            </a:pPr>
            <a:r>
              <a:rPr lang="en-US" sz="1500" dirty="0">
                <a:solidFill>
                  <a:schemeClr val="tx1"/>
                </a:solidFill>
              </a:rPr>
              <a:t>The backend validates the session and applies the scoring rule</a:t>
            </a:r>
            <a:endParaRPr lang="en-US" sz="1500" dirty="0"/>
          </a:p>
        </p:txBody>
      </p:sp>
      <p:sp>
        <p:nvSpPr>
          <p:cNvPr id="13" name="flow arrow 1"/>
          <p:cNvSpPr/>
          <p:nvPr/>
        </p:nvSpPr>
        <p:spPr>
          <a:xfrm>
            <a:off x="1143000" y="4142232"/>
            <a:ext cx="0" cy="502920"/>
          </a:xfrm>
          <a:prstGeom prst="line">
            <a:avLst/>
          </a:prstGeom>
          <a:noFill/>
          <a:ln w="19050">
            <a:solidFill>
              <a:srgbClr val="11428D"/>
            </a:solidFill>
            <a:prstDash val="solid"/>
            <a:tailEnd type="triangle"/>
          </a:ln>
        </p:spPr>
      </p:sp>
      <p:sp>
        <p:nvSpPr>
          <p:cNvPr id="14" name="flow 2 circle"/>
          <p:cNvSpPr/>
          <p:nvPr/>
        </p:nvSpPr>
        <p:spPr>
          <a:xfrm>
            <a:off x="868680" y="4709160"/>
            <a:ext cx="548640" cy="548640"/>
          </a:xfrm>
          <a:prstGeom prst="ellipse">
            <a:avLst/>
          </a:prstGeom>
          <a:solidFill>
            <a:schemeClr val="tx2"/>
          </a:solidFill>
          <a:ln/>
        </p:spPr>
      </p:sp>
      <p:pic>
        <p:nvPicPr>
          <p:cNvPr id="15" name="flow 2 icon" descr="flow 2">    </p:cNvPr>
          <p:cNvPicPr>
            <a:picLocks noChangeAspect="1"/>
          </p:cNvPicPr>
          <p:nvPr/>
        </p:nvPicPr>
        <p:blipFill>
          <a:blip r:embed="rId3"/>
          <a:stretch>
            <a:fillRect/>
          </a:stretch>
        </p:blipFill>
        <p:spPr>
          <a:xfrm>
            <a:off x="1005840" y="4846320"/>
            <a:ext cx="274320" cy="274320"/>
          </a:xfrm>
          <a:prstGeom prst="rect">
            <a:avLst/>
          </a:prstGeom>
        </p:spPr>
      </p:pic>
      <p:sp>
        <p:nvSpPr>
          <p:cNvPr id="16" name="Text 11"/>
          <p:cNvSpPr txBox="1"/>
          <p:nvPr/>
        </p:nvSpPr>
        <p:spPr>
          <a:xfrm>
            <a:off x="1645920" y="4690872"/>
            <a:ext cx="3611880" cy="594360"/>
          </a:xfrm>
          <a:prstGeom prst="rect">
            <a:avLst/>
          </a:prstGeom>
          <a:noFill/>
          <a:ln/>
        </p:spPr>
        <p:txBody>
          <a:bodyPr wrap="square" lIns="0" tIns="0" rIns="0" bIns="0" rtlCol="0" anchor="ctr"/>
          <a:lstStyle/>
          <a:p>
            <a:pPr indent="0" marL="0">
              <a:buNone/>
            </a:pPr>
            <a:r>
              <a:rPr lang="en-US" sz="1500" dirty="0">
                <a:solidFill>
                  <a:schemeClr val="tx1"/>
                </a:solidFill>
              </a:rPr>
              <a:t>The result stays consistent across games, languages and screens</a:t>
            </a:r>
            <a:endParaRPr lang="en-US" sz="1500" dirty="0"/>
          </a:p>
        </p:txBody>
      </p:sp>
      <p:sp>
        <p:nvSpPr>
          <p:cNvPr id="17" name="Text 12"/>
          <p:cNvSpPr txBox="1"/>
          <p:nvPr/>
        </p:nvSpPr>
        <p:spPr>
          <a:xfrm>
            <a:off x="5852160" y="1463040"/>
            <a:ext cx="5486400" cy="365760"/>
          </a:xfrm>
          <a:prstGeom prst="rect">
            <a:avLst/>
          </a:prstGeom>
          <a:noFill/>
          <a:ln/>
        </p:spPr>
        <p:txBody>
          <a:bodyPr wrap="square" lIns="0" tIns="0" rIns="0" bIns="0" rtlCol="0" anchor="t"/>
          <a:lstStyle/>
          <a:p>
            <a:pPr indent="0" marL="0">
              <a:buNone/>
            </a:pPr>
            <a:r>
              <a:rPr lang="en-US" sz="1800" b="1" dirty="0">
                <a:solidFill>
                  <a:schemeClr val="tx2"/>
                </a:solidFill>
              </a:rPr>
              <a:t>Objectives</a:t>
            </a:r>
            <a:endParaRPr lang="en-US" sz="1800" dirty="0"/>
          </a:p>
        </p:txBody>
      </p:sp>
      <p:sp>
        <p:nvSpPr>
          <p:cNvPr id="18" name="objective 0"/>
          <p:cNvSpPr/>
          <p:nvPr/>
        </p:nvSpPr>
        <p:spPr>
          <a:xfrm>
            <a:off x="5852160" y="1965960"/>
            <a:ext cx="2758288" cy="1828800"/>
          </a:xfrm>
          <a:prstGeom prst="roundRect">
            <a:avLst>
              <a:gd name="adj" fmla="val 6000"/>
            </a:avLst>
          </a:prstGeom>
          <a:solidFill>
            <a:schemeClr val="bg1"/>
          </a:solidFill>
          <a:ln w="12700">
            <a:solidFill>
              <a:srgbClr val="EEF2F9"/>
            </a:solidFill>
            <a:prstDash val="solid"/>
          </a:ln>
          <a:effectLst>
            <a:outerShdw sx="100000" sy="100000" kx="0" ky="0" algn="bl" rotWithShape="0" blurRad="101600" dist="25400" dir="5400000">
              <a:srgbClr val="0F172A">
                <a:alpha val="12000"/>
              </a:srgbClr>
            </a:outerShdw>
          </a:effectLst>
        </p:spPr>
      </p:sp>
      <p:sp>
        <p:nvSpPr>
          <p:cNvPr id="19" name="Text 14"/>
          <p:cNvSpPr txBox="1"/>
          <p:nvPr/>
        </p:nvSpPr>
        <p:spPr>
          <a:xfrm>
            <a:off x="6126480" y="2194560"/>
            <a:ext cx="914400" cy="502920"/>
          </a:xfrm>
          <a:prstGeom prst="rect">
            <a:avLst/>
          </a:prstGeom>
          <a:noFill/>
          <a:ln/>
        </p:spPr>
        <p:txBody>
          <a:bodyPr wrap="square" lIns="0" tIns="0" rIns="0" bIns="0" rtlCol="0" anchor="t"/>
          <a:lstStyle/>
          <a:p>
            <a:pPr indent="0" marL="0">
              <a:buNone/>
            </a:pPr>
            <a:r>
              <a:rPr lang="en-US" sz="2800" b="1" dirty="0">
                <a:solidFill>
                  <a:schemeClr val="accent2"/>
                </a:solidFill>
                <a:latin typeface="Arial" pitchFamily="34" charset="0"/>
                <a:ea typeface="Arial" pitchFamily="34" charset="-122"/>
                <a:cs typeface="Arial" pitchFamily="34" charset="-120"/>
              </a:rPr>
              <a:t>01</a:t>
            </a:r>
            <a:endParaRPr lang="en-US" sz="2800" dirty="0"/>
          </a:p>
        </p:txBody>
      </p:sp>
      <p:sp>
        <p:nvSpPr>
          <p:cNvPr id="20" name="Text 15"/>
          <p:cNvSpPr txBox="1"/>
          <p:nvPr/>
        </p:nvSpPr>
        <p:spPr>
          <a:xfrm>
            <a:off x="6126480" y="2788920"/>
            <a:ext cx="2209648" cy="822960"/>
          </a:xfrm>
          <a:prstGeom prst="rect">
            <a:avLst/>
          </a:prstGeom>
          <a:noFill/>
          <a:ln/>
        </p:spPr>
        <p:txBody>
          <a:bodyPr wrap="square" lIns="0" tIns="0" rIns="0" bIns="0" rtlCol="0" anchor="t"/>
          <a:lstStyle/>
          <a:p>
            <a:pPr indent="0" marL="0">
              <a:buNone/>
            </a:pPr>
            <a:r>
              <a:rPr lang="en-US" sz="1600" dirty="0">
                <a:solidFill>
                  <a:schemeClr val="tx1"/>
                </a:solidFill>
              </a:rPr>
              <a:t>Implement interactive Flutter game journeys</a:t>
            </a:r>
            <a:endParaRPr lang="en-US" sz="1600" dirty="0"/>
          </a:p>
        </p:txBody>
      </p:sp>
      <p:sp>
        <p:nvSpPr>
          <p:cNvPr id="21" name="objective 1"/>
          <p:cNvSpPr/>
          <p:nvPr/>
        </p:nvSpPr>
        <p:spPr>
          <a:xfrm>
            <a:off x="8884768" y="1965960"/>
            <a:ext cx="2758288" cy="1828800"/>
          </a:xfrm>
          <a:prstGeom prst="roundRect">
            <a:avLst>
              <a:gd name="adj" fmla="val 6000"/>
            </a:avLst>
          </a:prstGeom>
          <a:solidFill>
            <a:schemeClr val="bg1"/>
          </a:solidFill>
          <a:ln w="12700">
            <a:solidFill>
              <a:srgbClr val="EEF2F9"/>
            </a:solidFill>
            <a:prstDash val="solid"/>
          </a:ln>
          <a:effectLst>
            <a:outerShdw sx="100000" sy="100000" kx="0" ky="0" algn="bl" rotWithShape="0" blurRad="101600" dist="25400" dir="5400000">
              <a:srgbClr val="0F172A">
                <a:alpha val="12000"/>
              </a:srgbClr>
            </a:outerShdw>
          </a:effectLst>
        </p:spPr>
      </p:sp>
      <p:sp>
        <p:nvSpPr>
          <p:cNvPr id="22" name="Text 17"/>
          <p:cNvSpPr txBox="1"/>
          <p:nvPr/>
        </p:nvSpPr>
        <p:spPr>
          <a:xfrm>
            <a:off x="9159088" y="2194560"/>
            <a:ext cx="914400" cy="502920"/>
          </a:xfrm>
          <a:prstGeom prst="rect">
            <a:avLst/>
          </a:prstGeom>
          <a:noFill/>
          <a:ln/>
        </p:spPr>
        <p:txBody>
          <a:bodyPr wrap="square" lIns="0" tIns="0" rIns="0" bIns="0" rtlCol="0" anchor="t"/>
          <a:lstStyle/>
          <a:p>
            <a:pPr indent="0" marL="0">
              <a:buNone/>
            </a:pPr>
            <a:r>
              <a:rPr lang="en-US" sz="2800" b="1" dirty="0">
                <a:solidFill>
                  <a:schemeClr val="accent2"/>
                </a:solidFill>
                <a:latin typeface="Arial" pitchFamily="34" charset="0"/>
                <a:ea typeface="Arial" pitchFamily="34" charset="-122"/>
                <a:cs typeface="Arial" pitchFamily="34" charset="-120"/>
              </a:rPr>
              <a:t>02</a:t>
            </a:r>
            <a:endParaRPr lang="en-US" sz="2800" dirty="0"/>
          </a:p>
        </p:txBody>
      </p:sp>
      <p:sp>
        <p:nvSpPr>
          <p:cNvPr id="23" name="Text 18"/>
          <p:cNvSpPr txBox="1"/>
          <p:nvPr/>
        </p:nvSpPr>
        <p:spPr>
          <a:xfrm>
            <a:off x="9159088" y="2788920"/>
            <a:ext cx="2209648" cy="822960"/>
          </a:xfrm>
          <a:prstGeom prst="rect">
            <a:avLst/>
          </a:prstGeom>
          <a:noFill/>
          <a:ln/>
        </p:spPr>
        <p:txBody>
          <a:bodyPr wrap="square" lIns="0" tIns="0" rIns="0" bIns="0" rtlCol="0" anchor="t"/>
          <a:lstStyle/>
          <a:p>
            <a:pPr indent="0" marL="0">
              <a:buNone/>
            </a:pPr>
            <a:r>
              <a:rPr lang="en-US" sz="1600" dirty="0">
                <a:solidFill>
                  <a:schemeClr val="tx1"/>
                </a:solidFill>
              </a:rPr>
              <a:t>Connect raw measurements to server-side scoring</a:t>
            </a:r>
            <a:endParaRPr lang="en-US" sz="1600" dirty="0"/>
          </a:p>
        </p:txBody>
      </p:sp>
      <p:sp>
        <p:nvSpPr>
          <p:cNvPr id="24" name="objective 2"/>
          <p:cNvSpPr/>
          <p:nvPr/>
        </p:nvSpPr>
        <p:spPr>
          <a:xfrm>
            <a:off x="5852160" y="4023360"/>
            <a:ext cx="2758288" cy="1828800"/>
          </a:xfrm>
          <a:prstGeom prst="roundRect">
            <a:avLst>
              <a:gd name="adj" fmla="val 6000"/>
            </a:avLst>
          </a:prstGeom>
          <a:solidFill>
            <a:schemeClr val="bg1"/>
          </a:solidFill>
          <a:ln w="12700">
            <a:solidFill>
              <a:srgbClr val="EEF2F9"/>
            </a:solidFill>
            <a:prstDash val="solid"/>
          </a:ln>
          <a:effectLst>
            <a:outerShdw sx="100000" sy="100000" kx="0" ky="0" algn="bl" rotWithShape="0" blurRad="101600" dist="25400" dir="5400000">
              <a:srgbClr val="0F172A">
                <a:alpha val="12000"/>
              </a:srgbClr>
            </a:outerShdw>
          </a:effectLst>
        </p:spPr>
      </p:sp>
      <p:sp>
        <p:nvSpPr>
          <p:cNvPr id="25" name="Text 20"/>
          <p:cNvSpPr txBox="1"/>
          <p:nvPr/>
        </p:nvSpPr>
        <p:spPr>
          <a:xfrm>
            <a:off x="6126480" y="4251960"/>
            <a:ext cx="914400" cy="502920"/>
          </a:xfrm>
          <a:prstGeom prst="rect">
            <a:avLst/>
          </a:prstGeom>
          <a:noFill/>
          <a:ln/>
        </p:spPr>
        <p:txBody>
          <a:bodyPr wrap="square" lIns="0" tIns="0" rIns="0" bIns="0" rtlCol="0" anchor="t"/>
          <a:lstStyle/>
          <a:p>
            <a:pPr indent="0" marL="0">
              <a:buNone/>
            </a:pPr>
            <a:r>
              <a:rPr lang="en-US" sz="2800" b="1" dirty="0">
                <a:solidFill>
                  <a:schemeClr val="accent2"/>
                </a:solidFill>
                <a:latin typeface="Arial" pitchFamily="34" charset="0"/>
                <a:ea typeface="Arial" pitchFamily="34" charset="-122"/>
                <a:cs typeface="Arial" pitchFamily="34" charset="-120"/>
              </a:rPr>
              <a:t>03</a:t>
            </a:r>
            <a:endParaRPr lang="en-US" sz="2800" dirty="0"/>
          </a:p>
        </p:txBody>
      </p:sp>
      <p:sp>
        <p:nvSpPr>
          <p:cNvPr id="26" name="Text 21"/>
          <p:cNvSpPr txBox="1"/>
          <p:nvPr/>
        </p:nvSpPr>
        <p:spPr>
          <a:xfrm>
            <a:off x="6126480" y="4846320"/>
            <a:ext cx="2209648" cy="822960"/>
          </a:xfrm>
          <a:prstGeom prst="rect">
            <a:avLst/>
          </a:prstGeom>
          <a:noFill/>
          <a:ln/>
        </p:spPr>
        <p:txBody>
          <a:bodyPr wrap="square" lIns="0" tIns="0" rIns="0" bIns="0" rtlCol="0" anchor="t"/>
          <a:lstStyle/>
          <a:p>
            <a:pPr indent="0" marL="0">
              <a:buNone/>
            </a:pPr>
            <a:r>
              <a:rPr lang="en-US" sz="1600" dirty="0">
                <a:solidFill>
                  <a:schemeClr val="tx1"/>
                </a:solidFill>
              </a:rPr>
              <a:t>Manage sessions, tutorials and lifecycle states</a:t>
            </a:r>
            <a:endParaRPr lang="en-US" sz="1600" dirty="0"/>
          </a:p>
        </p:txBody>
      </p:sp>
      <p:sp>
        <p:nvSpPr>
          <p:cNvPr id="27" name="objective 3"/>
          <p:cNvSpPr/>
          <p:nvPr/>
        </p:nvSpPr>
        <p:spPr>
          <a:xfrm>
            <a:off x="8884768" y="4023360"/>
            <a:ext cx="2758288" cy="1828800"/>
          </a:xfrm>
          <a:prstGeom prst="roundRect">
            <a:avLst>
              <a:gd name="adj" fmla="val 6000"/>
            </a:avLst>
          </a:prstGeom>
          <a:solidFill>
            <a:schemeClr val="bg1"/>
          </a:solidFill>
          <a:ln w="12700">
            <a:solidFill>
              <a:srgbClr val="EEF2F9"/>
            </a:solidFill>
            <a:prstDash val="solid"/>
          </a:ln>
          <a:effectLst>
            <a:outerShdw sx="100000" sy="100000" kx="0" ky="0" algn="bl" rotWithShape="0" blurRad="101600" dist="25400" dir="5400000">
              <a:srgbClr val="0F172A">
                <a:alpha val="12000"/>
              </a:srgbClr>
            </a:outerShdw>
          </a:effectLst>
        </p:spPr>
      </p:sp>
      <p:sp>
        <p:nvSpPr>
          <p:cNvPr id="28" name="Text 23"/>
          <p:cNvSpPr txBox="1"/>
          <p:nvPr/>
        </p:nvSpPr>
        <p:spPr>
          <a:xfrm>
            <a:off x="9159088" y="4251960"/>
            <a:ext cx="914400" cy="502920"/>
          </a:xfrm>
          <a:prstGeom prst="rect">
            <a:avLst/>
          </a:prstGeom>
          <a:noFill/>
          <a:ln/>
        </p:spPr>
        <p:txBody>
          <a:bodyPr wrap="square" lIns="0" tIns="0" rIns="0" bIns="0" rtlCol="0" anchor="t"/>
          <a:lstStyle/>
          <a:p>
            <a:pPr indent="0" marL="0">
              <a:buNone/>
            </a:pPr>
            <a:r>
              <a:rPr lang="en-US" sz="2800" b="1" dirty="0">
                <a:solidFill>
                  <a:schemeClr val="accent2"/>
                </a:solidFill>
                <a:latin typeface="Arial" pitchFamily="34" charset="0"/>
                <a:ea typeface="Arial" pitchFamily="34" charset="-122"/>
                <a:cs typeface="Arial" pitchFamily="34" charset="-120"/>
              </a:rPr>
              <a:t>04</a:t>
            </a:r>
            <a:endParaRPr lang="en-US" sz="2800" dirty="0"/>
          </a:p>
        </p:txBody>
      </p:sp>
      <p:sp>
        <p:nvSpPr>
          <p:cNvPr id="29" name="Text 24"/>
          <p:cNvSpPr txBox="1"/>
          <p:nvPr/>
        </p:nvSpPr>
        <p:spPr>
          <a:xfrm>
            <a:off x="9159088" y="4846320"/>
            <a:ext cx="2209648" cy="822960"/>
          </a:xfrm>
          <a:prstGeom prst="rect">
            <a:avLst/>
          </a:prstGeom>
          <a:noFill/>
          <a:ln/>
        </p:spPr>
        <p:txBody>
          <a:bodyPr wrap="square" lIns="0" tIns="0" rIns="0" bIns="0" rtlCol="0" anchor="t"/>
          <a:lstStyle/>
          <a:p>
            <a:pPr indent="0" marL="0">
              <a:buNone/>
            </a:pPr>
            <a:r>
              <a:rPr lang="en-US" sz="1600" dirty="0">
                <a:solidFill>
                  <a:schemeClr val="tx1"/>
                </a:solidFill>
              </a:rPr>
              <a:t>Reusable result screens in six languages</a:t>
            </a:r>
            <a:endParaRPr lang="en-US" sz="16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A modular monolith behind two clients</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4 System design and architecture</a:t>
            </a:r>
            <a:endParaRPr lang="en-US" sz="1000" dirty="0"/>
          </a:p>
        </p:txBody>
      </p:sp>
      <p:sp>
        <p:nvSpPr>
          <p:cNvPr id="4" name="client mobile"/>
          <p:cNvSpPr/>
          <p:nvPr/>
        </p:nvSpPr>
        <p:spPr>
          <a:xfrm>
            <a:off x="548640" y="2103120"/>
            <a:ext cx="2377440" cy="1051560"/>
          </a:xfrm>
          <a:prstGeom prst="roundRect">
            <a:avLst>
              <a:gd name="adj" fmla="val 10435"/>
            </a:avLst>
          </a:prstGeom>
          <a:solidFill>
            <a:schemeClr val="bg1"/>
          </a:solidFill>
          <a:ln w="12700">
            <a:solidFill>
              <a:srgbClr val="11428D"/>
            </a:solidFill>
            <a:prstDash val="solid"/>
          </a:ln>
        </p:spPr>
      </p:sp>
      <p:sp>
        <p:nvSpPr>
          <p:cNvPr id="5" name="Text 3"/>
          <p:cNvSpPr txBox="1"/>
          <p:nvPr/>
        </p:nvSpPr>
        <p:spPr>
          <a:xfrm>
            <a:off x="685800" y="2286000"/>
            <a:ext cx="2103120" cy="347472"/>
          </a:xfrm>
          <a:prstGeom prst="rect">
            <a:avLst/>
          </a:prstGeom>
          <a:noFill/>
          <a:ln/>
        </p:spPr>
        <p:txBody>
          <a:bodyPr wrap="square" lIns="0" tIns="0" rIns="0" bIns="0" rtlCol="0" anchor="t"/>
          <a:lstStyle/>
          <a:p>
            <a:pPr algn="ctr" indent="0" marL="0">
              <a:buNone/>
            </a:pPr>
            <a:r>
              <a:rPr lang="en-US" sz="1600" b="1" dirty="0">
                <a:solidFill>
                  <a:schemeClr val="tx2"/>
                </a:solidFill>
              </a:rPr>
              <a:t>Flutter mobile</a:t>
            </a:r>
            <a:endParaRPr lang="en-US" sz="1600" dirty="0"/>
          </a:p>
        </p:txBody>
      </p:sp>
      <p:sp>
        <p:nvSpPr>
          <p:cNvPr id="6" name="Text 4"/>
          <p:cNvSpPr txBox="1"/>
          <p:nvPr/>
        </p:nvSpPr>
        <p:spPr>
          <a:xfrm>
            <a:off x="685800" y="2651760"/>
            <a:ext cx="2103120" cy="320040"/>
          </a:xfrm>
          <a:prstGeom prst="rect">
            <a:avLst/>
          </a:prstGeom>
          <a:noFill/>
          <a:ln/>
        </p:spPr>
        <p:txBody>
          <a:bodyPr wrap="square" lIns="0" tIns="0" rIns="0" bIns="0" rtlCol="0" anchor="t"/>
          <a:lstStyle/>
          <a:p>
            <a:pPr algn="ctr" indent="0" marL="0">
              <a:buNone/>
            </a:pPr>
            <a:r>
              <a:rPr lang="en-US" sz="1200" dirty="0">
                <a:solidFill>
                  <a:schemeClr val="accent6"/>
                </a:solidFill>
              </a:rPr>
              <a:t>Candidate · recruiter</a:t>
            </a:r>
            <a:endParaRPr lang="en-US" sz="1200" dirty="0"/>
          </a:p>
        </p:txBody>
      </p:sp>
      <p:sp>
        <p:nvSpPr>
          <p:cNvPr id="7" name="client admin"/>
          <p:cNvSpPr/>
          <p:nvPr/>
        </p:nvSpPr>
        <p:spPr>
          <a:xfrm>
            <a:off x="548640" y="3749040"/>
            <a:ext cx="2377440" cy="1051560"/>
          </a:xfrm>
          <a:prstGeom prst="roundRect">
            <a:avLst>
              <a:gd name="adj" fmla="val 10435"/>
            </a:avLst>
          </a:prstGeom>
          <a:solidFill>
            <a:schemeClr val="bg1"/>
          </a:solidFill>
          <a:ln w="12700">
            <a:solidFill>
              <a:srgbClr val="11428D"/>
            </a:solidFill>
            <a:prstDash val="solid"/>
          </a:ln>
        </p:spPr>
      </p:sp>
      <p:sp>
        <p:nvSpPr>
          <p:cNvPr id="8" name="Text 6"/>
          <p:cNvSpPr txBox="1"/>
          <p:nvPr/>
        </p:nvSpPr>
        <p:spPr>
          <a:xfrm>
            <a:off x="685800" y="3931920"/>
            <a:ext cx="2103120" cy="347472"/>
          </a:xfrm>
          <a:prstGeom prst="rect">
            <a:avLst/>
          </a:prstGeom>
          <a:noFill/>
          <a:ln/>
        </p:spPr>
        <p:txBody>
          <a:bodyPr wrap="square" lIns="0" tIns="0" rIns="0" bIns="0" rtlCol="0" anchor="t"/>
          <a:lstStyle/>
          <a:p>
            <a:pPr algn="ctr" indent="0" marL="0">
              <a:buNone/>
            </a:pPr>
            <a:r>
              <a:rPr lang="en-US" sz="1600" b="1" dirty="0">
                <a:solidFill>
                  <a:schemeClr val="tx2"/>
                </a:solidFill>
              </a:rPr>
              <a:t>React staff apps</a:t>
            </a:r>
            <a:endParaRPr lang="en-US" sz="1600" dirty="0"/>
          </a:p>
        </p:txBody>
      </p:sp>
      <p:sp>
        <p:nvSpPr>
          <p:cNvPr id="9" name="Text 7"/>
          <p:cNvSpPr txBox="1"/>
          <p:nvPr/>
        </p:nvSpPr>
        <p:spPr>
          <a:xfrm>
            <a:off x="685800" y="4297680"/>
            <a:ext cx="2103120" cy="320040"/>
          </a:xfrm>
          <a:prstGeom prst="rect">
            <a:avLst/>
          </a:prstGeom>
          <a:noFill/>
          <a:ln/>
        </p:spPr>
        <p:txBody>
          <a:bodyPr wrap="square" lIns="0" tIns="0" rIns="0" bIns="0" rtlCol="0" anchor="t"/>
          <a:lstStyle/>
          <a:p>
            <a:pPr algn="ctr" indent="0" marL="0">
              <a:buNone/>
            </a:pPr>
            <a:r>
              <a:rPr lang="en-US" sz="1200" dirty="0">
                <a:solidFill>
                  <a:schemeClr val="accent6"/>
                </a:solidFill>
              </a:rPr>
              <a:t>Game Studio · Console</a:t>
            </a:r>
            <a:endParaRPr lang="en-US" sz="1200" dirty="0"/>
          </a:p>
        </p:txBody>
      </p:sp>
      <p:sp>
        <p:nvSpPr>
          <p:cNvPr id="10" name="db"/>
          <p:cNvSpPr/>
          <p:nvPr/>
        </p:nvSpPr>
        <p:spPr>
          <a:xfrm>
            <a:off x="9262872" y="2103120"/>
            <a:ext cx="2377440" cy="1051560"/>
          </a:xfrm>
          <a:prstGeom prst="roundRect">
            <a:avLst>
              <a:gd name="adj" fmla="val 10435"/>
            </a:avLst>
          </a:prstGeom>
          <a:solidFill>
            <a:schemeClr val="bg1"/>
          </a:solidFill>
          <a:ln w="12700">
            <a:solidFill>
              <a:srgbClr val="11428D"/>
            </a:solidFill>
            <a:prstDash val="solid"/>
          </a:ln>
        </p:spPr>
      </p:sp>
      <p:sp>
        <p:nvSpPr>
          <p:cNvPr id="11" name="Text 9"/>
          <p:cNvSpPr txBox="1"/>
          <p:nvPr/>
        </p:nvSpPr>
        <p:spPr>
          <a:xfrm>
            <a:off x="9400032" y="2286000"/>
            <a:ext cx="2103120" cy="347472"/>
          </a:xfrm>
          <a:prstGeom prst="rect">
            <a:avLst/>
          </a:prstGeom>
          <a:noFill/>
          <a:ln/>
        </p:spPr>
        <p:txBody>
          <a:bodyPr wrap="square" lIns="0" tIns="0" rIns="0" bIns="0" rtlCol="0" anchor="t"/>
          <a:lstStyle/>
          <a:p>
            <a:pPr algn="ctr" indent="0" marL="0">
              <a:buNone/>
            </a:pPr>
            <a:r>
              <a:rPr lang="en-US" sz="1600" b="1" dirty="0">
                <a:solidFill>
                  <a:schemeClr val="tx2"/>
                </a:solidFill>
              </a:rPr>
              <a:t>PostgreSQL</a:t>
            </a:r>
            <a:endParaRPr lang="en-US" sz="1600" dirty="0"/>
          </a:p>
        </p:txBody>
      </p:sp>
      <p:sp>
        <p:nvSpPr>
          <p:cNvPr id="12" name="Text 10"/>
          <p:cNvSpPr txBox="1"/>
          <p:nvPr/>
        </p:nvSpPr>
        <p:spPr>
          <a:xfrm>
            <a:off x="9400032" y="2651760"/>
            <a:ext cx="2103120" cy="320040"/>
          </a:xfrm>
          <a:prstGeom prst="rect">
            <a:avLst/>
          </a:prstGeom>
          <a:noFill/>
          <a:ln/>
        </p:spPr>
        <p:txBody>
          <a:bodyPr wrap="square" lIns="0" tIns="0" rIns="0" bIns="0" rtlCol="0" anchor="t"/>
          <a:lstStyle/>
          <a:p>
            <a:pPr algn="ctr" indent="0" marL="0">
              <a:buNone/>
            </a:pPr>
            <a:r>
              <a:rPr lang="en-US" sz="1200" dirty="0">
                <a:solidFill>
                  <a:schemeClr val="accent6"/>
                </a:solidFill>
              </a:rPr>
              <a:t>Context-owned state</a:t>
            </a:r>
            <a:endParaRPr lang="en-US" sz="1200" dirty="0"/>
          </a:p>
        </p:txBody>
      </p:sp>
      <p:sp>
        <p:nvSpPr>
          <p:cNvPr id="13" name="help"/>
          <p:cNvSpPr/>
          <p:nvPr/>
        </p:nvSpPr>
        <p:spPr>
          <a:xfrm>
            <a:off x="9262872" y="3749040"/>
            <a:ext cx="2377440" cy="1051560"/>
          </a:xfrm>
          <a:prstGeom prst="roundRect">
            <a:avLst>
              <a:gd name="adj" fmla="val 10435"/>
            </a:avLst>
          </a:prstGeom>
          <a:solidFill>
            <a:schemeClr val="bg1"/>
          </a:solidFill>
          <a:ln w="12700">
            <a:solidFill>
              <a:srgbClr val="11428D"/>
            </a:solidFill>
            <a:prstDash val="solid"/>
          </a:ln>
        </p:spPr>
      </p:sp>
      <p:sp>
        <p:nvSpPr>
          <p:cNvPr id="14" name="Text 12"/>
          <p:cNvSpPr txBox="1"/>
          <p:nvPr/>
        </p:nvSpPr>
        <p:spPr>
          <a:xfrm>
            <a:off x="9400032" y="3931920"/>
            <a:ext cx="2103120" cy="347472"/>
          </a:xfrm>
          <a:prstGeom prst="rect">
            <a:avLst/>
          </a:prstGeom>
          <a:noFill/>
          <a:ln/>
        </p:spPr>
        <p:txBody>
          <a:bodyPr wrap="square" lIns="0" tIns="0" rIns="0" bIns="0" rtlCol="0" anchor="t"/>
          <a:lstStyle/>
          <a:p>
            <a:pPr algn="ctr" indent="0" marL="0">
              <a:buNone/>
            </a:pPr>
            <a:r>
              <a:rPr lang="en-US" sz="1600" b="1" dirty="0">
                <a:solidFill>
                  <a:schemeClr val="tx2"/>
                </a:solidFill>
              </a:rPr>
              <a:t>Python help</a:t>
            </a:r>
            <a:endParaRPr lang="en-US" sz="1600" dirty="0"/>
          </a:p>
        </p:txBody>
      </p:sp>
      <p:sp>
        <p:nvSpPr>
          <p:cNvPr id="15" name="Text 13"/>
          <p:cNvSpPr txBox="1"/>
          <p:nvPr/>
        </p:nvSpPr>
        <p:spPr>
          <a:xfrm>
            <a:off x="9400032" y="4297680"/>
            <a:ext cx="2103120" cy="320040"/>
          </a:xfrm>
          <a:prstGeom prst="rect">
            <a:avLst/>
          </a:prstGeom>
          <a:noFill/>
          <a:ln/>
        </p:spPr>
        <p:txBody>
          <a:bodyPr wrap="square" lIns="0" tIns="0" rIns="0" bIns="0" rtlCol="0" anchor="t"/>
          <a:lstStyle/>
          <a:p>
            <a:pPr algn="ctr" indent="0" marL="0">
              <a:buNone/>
            </a:pPr>
            <a:r>
              <a:rPr lang="en-US" sz="1200" dirty="0">
                <a:solidFill>
                  <a:schemeClr val="accent6"/>
                </a:solidFill>
              </a:rPr>
              <a:t>FastAPI · LangChain</a:t>
            </a:r>
            <a:endParaRPr lang="en-US" sz="1200" dirty="0"/>
          </a:p>
        </p:txBody>
      </p:sp>
      <p:sp>
        <p:nvSpPr>
          <p:cNvPr id="16" name="monolith"/>
          <p:cNvSpPr/>
          <p:nvPr/>
        </p:nvSpPr>
        <p:spPr>
          <a:xfrm>
            <a:off x="3383280" y="1463040"/>
            <a:ext cx="5422392" cy="4206240"/>
          </a:xfrm>
          <a:prstGeom prst="roundRect">
            <a:avLst>
              <a:gd name="adj" fmla="val 2609"/>
            </a:avLst>
          </a:prstGeom>
          <a:solidFill>
            <a:schemeClr val="bg2"/>
          </a:solidFill>
          <a:ln w="12700">
            <a:solidFill>
              <a:srgbClr val="11428D"/>
            </a:solidFill>
            <a:prstDash val="solid"/>
          </a:ln>
        </p:spPr>
      </p:sp>
      <p:sp>
        <p:nvSpPr>
          <p:cNvPr id="17" name="Text 15"/>
          <p:cNvSpPr txBox="1"/>
          <p:nvPr/>
        </p:nvSpPr>
        <p:spPr>
          <a:xfrm>
            <a:off x="3383280" y="1600200"/>
            <a:ext cx="5422392" cy="365760"/>
          </a:xfrm>
          <a:prstGeom prst="rect">
            <a:avLst/>
          </a:prstGeom>
          <a:noFill/>
          <a:ln/>
        </p:spPr>
        <p:txBody>
          <a:bodyPr wrap="square" lIns="0" tIns="0" rIns="0" bIns="0" rtlCol="0" anchor="t"/>
          <a:lstStyle/>
          <a:p>
            <a:pPr algn="ctr" indent="0" marL="0">
              <a:buNone/>
            </a:pPr>
            <a:r>
              <a:rPr lang="en-US" sz="1600" b="1" dirty="0">
                <a:solidFill>
                  <a:schemeClr val="tx2"/>
                </a:solidFill>
              </a:rPr>
              <a:t>Spring Boot modular monolith</a:t>
            </a:r>
            <a:endParaRPr lang="en-US" sz="1600" dirty="0"/>
          </a:p>
        </p:txBody>
      </p:sp>
      <p:sp>
        <p:nvSpPr>
          <p:cNvPr id="18" name="context Identity"/>
          <p:cNvSpPr/>
          <p:nvPr/>
        </p:nvSpPr>
        <p:spPr>
          <a:xfrm>
            <a:off x="3657600" y="2148840"/>
            <a:ext cx="1533144" cy="960120"/>
          </a:xfrm>
          <a:prstGeom prst="roundRect">
            <a:avLst>
              <a:gd name="adj" fmla="val 11429"/>
            </a:avLst>
          </a:prstGeom>
          <a:solidFill>
            <a:schemeClr val="bg1"/>
          </a:solidFill>
          <a:ln w="12700">
            <a:solidFill>
              <a:srgbClr val="CBD5E1"/>
            </a:solidFill>
            <a:prstDash val="solid"/>
          </a:ln>
        </p:spPr>
      </p:sp>
      <p:sp>
        <p:nvSpPr>
          <p:cNvPr id="19" name="Text 17"/>
          <p:cNvSpPr txBox="1"/>
          <p:nvPr/>
        </p:nvSpPr>
        <p:spPr>
          <a:xfrm>
            <a:off x="3657600" y="2313432"/>
            <a:ext cx="1533144" cy="320040"/>
          </a:xfrm>
          <a:prstGeom prst="rect">
            <a:avLst/>
          </a:prstGeom>
          <a:noFill/>
          <a:ln/>
        </p:spPr>
        <p:txBody>
          <a:bodyPr wrap="square" lIns="0" tIns="0" rIns="0" bIns="0" rtlCol="0" anchor="t"/>
          <a:lstStyle/>
          <a:p>
            <a:pPr algn="ctr" indent="0" marL="0">
              <a:buNone/>
            </a:pPr>
            <a:r>
              <a:rPr lang="en-US" sz="1400" b="1" dirty="0">
                <a:solidFill>
                  <a:schemeClr val="tx2"/>
                </a:solidFill>
              </a:rPr>
              <a:t>Identity</a:t>
            </a:r>
            <a:endParaRPr lang="en-US" sz="1400" dirty="0"/>
          </a:p>
        </p:txBody>
      </p:sp>
      <p:sp>
        <p:nvSpPr>
          <p:cNvPr id="20" name="Text 18"/>
          <p:cNvSpPr txBox="1"/>
          <p:nvPr/>
        </p:nvSpPr>
        <p:spPr>
          <a:xfrm>
            <a:off x="3657600" y="2651760"/>
            <a:ext cx="1533144" cy="274320"/>
          </a:xfrm>
          <a:prstGeom prst="rect">
            <a:avLst/>
          </a:prstGeom>
          <a:noFill/>
          <a:ln/>
        </p:spPr>
        <p:txBody>
          <a:bodyPr wrap="square" lIns="0" tIns="0" rIns="0" bIns="0" rtlCol="0" anchor="t"/>
          <a:lstStyle/>
          <a:p>
            <a:pPr algn="ctr" indent="0" marL="0">
              <a:buNone/>
            </a:pPr>
            <a:r>
              <a:rPr lang="en-US" sz="1100" dirty="0">
                <a:solidFill>
                  <a:schemeClr val="accent6"/>
                </a:solidFill>
              </a:rPr>
              <a:t>accounts · profiles</a:t>
            </a:r>
            <a:endParaRPr lang="en-US" sz="1100" dirty="0"/>
          </a:p>
        </p:txBody>
      </p:sp>
      <p:sp>
        <p:nvSpPr>
          <p:cNvPr id="21" name="context Games"/>
          <p:cNvSpPr/>
          <p:nvPr/>
        </p:nvSpPr>
        <p:spPr>
          <a:xfrm>
            <a:off x="5327904" y="2148840"/>
            <a:ext cx="1533144" cy="960120"/>
          </a:xfrm>
          <a:prstGeom prst="roundRect">
            <a:avLst>
              <a:gd name="adj" fmla="val 11429"/>
            </a:avLst>
          </a:prstGeom>
          <a:solidFill>
            <a:schemeClr val="accent2"/>
          </a:solidFill>
          <a:ln/>
        </p:spPr>
      </p:sp>
      <p:sp>
        <p:nvSpPr>
          <p:cNvPr id="22" name="Text 20"/>
          <p:cNvSpPr txBox="1"/>
          <p:nvPr/>
        </p:nvSpPr>
        <p:spPr>
          <a:xfrm>
            <a:off x="5327904" y="2313432"/>
            <a:ext cx="1533144" cy="320040"/>
          </a:xfrm>
          <a:prstGeom prst="rect">
            <a:avLst/>
          </a:prstGeom>
          <a:noFill/>
          <a:ln/>
        </p:spPr>
        <p:txBody>
          <a:bodyPr wrap="square" lIns="0" tIns="0" rIns="0" bIns="0" rtlCol="0" anchor="t"/>
          <a:lstStyle/>
          <a:p>
            <a:pPr algn="ctr" indent="0" marL="0">
              <a:buNone/>
            </a:pPr>
            <a:r>
              <a:rPr lang="en-US" sz="1400" b="1" dirty="0">
                <a:solidFill>
                  <a:schemeClr val="bg1"/>
                </a:solidFill>
              </a:rPr>
              <a:t>Games</a:t>
            </a:r>
            <a:endParaRPr lang="en-US" sz="1400" dirty="0"/>
          </a:p>
        </p:txBody>
      </p:sp>
      <p:sp>
        <p:nvSpPr>
          <p:cNvPr id="23" name="Text 21"/>
          <p:cNvSpPr txBox="1"/>
          <p:nvPr/>
        </p:nvSpPr>
        <p:spPr>
          <a:xfrm>
            <a:off x="5327904" y="2651760"/>
            <a:ext cx="1533144" cy="274320"/>
          </a:xfrm>
          <a:prstGeom prst="rect">
            <a:avLst/>
          </a:prstGeom>
          <a:noFill/>
          <a:ln/>
        </p:spPr>
        <p:txBody>
          <a:bodyPr wrap="square" lIns="0" tIns="0" rIns="0" bIns="0" rtlCol="0" anchor="t"/>
          <a:lstStyle/>
          <a:p>
            <a:pPr algn="ctr" indent="0" marL="0">
              <a:buNone/>
            </a:pPr>
            <a:r>
              <a:rPr lang="en-US" sz="1100" dirty="0">
                <a:solidFill>
                  <a:schemeClr val="bg1"/>
                </a:solidFill>
              </a:rPr>
              <a:t>sessions · scoring</a:t>
            </a:r>
            <a:endParaRPr lang="en-US" sz="1100" dirty="0"/>
          </a:p>
        </p:txBody>
      </p:sp>
      <p:sp>
        <p:nvSpPr>
          <p:cNvPr id="24" name="context Recruitment"/>
          <p:cNvSpPr/>
          <p:nvPr/>
        </p:nvSpPr>
        <p:spPr>
          <a:xfrm>
            <a:off x="6998208" y="2148840"/>
            <a:ext cx="1533144" cy="960120"/>
          </a:xfrm>
          <a:prstGeom prst="roundRect">
            <a:avLst>
              <a:gd name="adj" fmla="val 11429"/>
            </a:avLst>
          </a:prstGeom>
          <a:solidFill>
            <a:schemeClr val="bg1"/>
          </a:solidFill>
          <a:ln w="12700">
            <a:solidFill>
              <a:srgbClr val="CBD5E1"/>
            </a:solidFill>
            <a:prstDash val="solid"/>
          </a:ln>
        </p:spPr>
      </p:sp>
      <p:sp>
        <p:nvSpPr>
          <p:cNvPr id="25" name="Text 23"/>
          <p:cNvSpPr txBox="1"/>
          <p:nvPr/>
        </p:nvSpPr>
        <p:spPr>
          <a:xfrm>
            <a:off x="6998208" y="2313432"/>
            <a:ext cx="1533144" cy="320040"/>
          </a:xfrm>
          <a:prstGeom prst="rect">
            <a:avLst/>
          </a:prstGeom>
          <a:noFill/>
          <a:ln/>
        </p:spPr>
        <p:txBody>
          <a:bodyPr wrap="square" lIns="0" tIns="0" rIns="0" bIns="0" rtlCol="0" anchor="t"/>
          <a:lstStyle/>
          <a:p>
            <a:pPr algn="ctr" indent="0" marL="0">
              <a:buNone/>
            </a:pPr>
            <a:r>
              <a:rPr lang="en-US" sz="1400" b="1" dirty="0">
                <a:solidFill>
                  <a:schemeClr val="tx2"/>
                </a:solidFill>
              </a:rPr>
              <a:t>Recruitment</a:t>
            </a:r>
            <a:endParaRPr lang="en-US" sz="1400" dirty="0"/>
          </a:p>
        </p:txBody>
      </p:sp>
      <p:sp>
        <p:nvSpPr>
          <p:cNvPr id="26" name="Text 24"/>
          <p:cNvSpPr txBox="1"/>
          <p:nvPr/>
        </p:nvSpPr>
        <p:spPr>
          <a:xfrm>
            <a:off x="6998208" y="2651760"/>
            <a:ext cx="1533144" cy="274320"/>
          </a:xfrm>
          <a:prstGeom prst="rect">
            <a:avLst/>
          </a:prstGeom>
          <a:noFill/>
          <a:ln/>
        </p:spPr>
        <p:txBody>
          <a:bodyPr wrap="square" lIns="0" tIns="0" rIns="0" bIns="0" rtlCol="0" anchor="t"/>
          <a:lstStyle/>
          <a:p>
            <a:pPr algn="ctr" indent="0" marL="0">
              <a:buNone/>
            </a:pPr>
            <a:r>
              <a:rPr lang="en-US" sz="1100" dirty="0">
                <a:solidFill>
                  <a:schemeClr val="accent6"/>
                </a:solidFill>
              </a:rPr>
              <a:t>offers · Fit Score</a:t>
            </a:r>
            <a:endParaRPr lang="en-US" sz="1100" dirty="0"/>
          </a:p>
        </p:txBody>
      </p:sp>
      <p:sp>
        <p:nvSpPr>
          <p:cNvPr id="27" name="context Engagement"/>
          <p:cNvSpPr/>
          <p:nvPr/>
        </p:nvSpPr>
        <p:spPr>
          <a:xfrm>
            <a:off x="3657600" y="3273552"/>
            <a:ext cx="1533144" cy="960120"/>
          </a:xfrm>
          <a:prstGeom prst="roundRect">
            <a:avLst>
              <a:gd name="adj" fmla="val 11429"/>
            </a:avLst>
          </a:prstGeom>
          <a:solidFill>
            <a:schemeClr val="bg1"/>
          </a:solidFill>
          <a:ln w="12700">
            <a:solidFill>
              <a:srgbClr val="CBD5E1"/>
            </a:solidFill>
            <a:prstDash val="solid"/>
          </a:ln>
        </p:spPr>
      </p:sp>
      <p:sp>
        <p:nvSpPr>
          <p:cNvPr id="28" name="Text 26"/>
          <p:cNvSpPr txBox="1"/>
          <p:nvPr/>
        </p:nvSpPr>
        <p:spPr>
          <a:xfrm>
            <a:off x="3657600" y="3438144"/>
            <a:ext cx="1533144" cy="320040"/>
          </a:xfrm>
          <a:prstGeom prst="rect">
            <a:avLst/>
          </a:prstGeom>
          <a:noFill/>
          <a:ln/>
        </p:spPr>
        <p:txBody>
          <a:bodyPr wrap="square" lIns="0" tIns="0" rIns="0" bIns="0" rtlCol="0" anchor="t"/>
          <a:lstStyle/>
          <a:p>
            <a:pPr algn="ctr" indent="0" marL="0">
              <a:buNone/>
            </a:pPr>
            <a:r>
              <a:rPr lang="en-US" sz="1400" b="1" dirty="0">
                <a:solidFill>
                  <a:schemeClr val="tx2"/>
                </a:solidFill>
              </a:rPr>
              <a:t>Engagement</a:t>
            </a:r>
            <a:endParaRPr lang="en-US" sz="1400" dirty="0"/>
          </a:p>
        </p:txBody>
      </p:sp>
      <p:sp>
        <p:nvSpPr>
          <p:cNvPr id="29" name="Text 27"/>
          <p:cNvSpPr txBox="1"/>
          <p:nvPr/>
        </p:nvSpPr>
        <p:spPr>
          <a:xfrm>
            <a:off x="3657600" y="3776472"/>
            <a:ext cx="1533144" cy="274320"/>
          </a:xfrm>
          <a:prstGeom prst="rect">
            <a:avLst/>
          </a:prstGeom>
          <a:noFill/>
          <a:ln/>
        </p:spPr>
        <p:txBody>
          <a:bodyPr wrap="square" lIns="0" tIns="0" rIns="0" bIns="0" rtlCol="0" anchor="t"/>
          <a:lstStyle/>
          <a:p>
            <a:pPr algn="ctr" indent="0" marL="0">
              <a:buNone/>
            </a:pPr>
            <a:r>
              <a:rPr lang="en-US" sz="1100" dirty="0">
                <a:solidFill>
                  <a:schemeClr val="accent6"/>
                </a:solidFill>
              </a:rPr>
              <a:t>social · messages</a:t>
            </a:r>
            <a:endParaRPr lang="en-US" sz="1100" dirty="0"/>
          </a:p>
        </p:txBody>
      </p:sp>
      <p:sp>
        <p:nvSpPr>
          <p:cNvPr id="30" name="context Analytics"/>
          <p:cNvSpPr/>
          <p:nvPr/>
        </p:nvSpPr>
        <p:spPr>
          <a:xfrm>
            <a:off x="5327904" y="3273552"/>
            <a:ext cx="1533144" cy="960120"/>
          </a:xfrm>
          <a:prstGeom prst="roundRect">
            <a:avLst>
              <a:gd name="adj" fmla="val 11429"/>
            </a:avLst>
          </a:prstGeom>
          <a:solidFill>
            <a:schemeClr val="bg1"/>
          </a:solidFill>
          <a:ln w="12700">
            <a:solidFill>
              <a:srgbClr val="CBD5E1"/>
            </a:solidFill>
            <a:prstDash val="solid"/>
          </a:ln>
        </p:spPr>
      </p:sp>
      <p:sp>
        <p:nvSpPr>
          <p:cNvPr id="31" name="Text 29"/>
          <p:cNvSpPr txBox="1"/>
          <p:nvPr/>
        </p:nvSpPr>
        <p:spPr>
          <a:xfrm>
            <a:off x="5327904" y="3438144"/>
            <a:ext cx="1533144" cy="320040"/>
          </a:xfrm>
          <a:prstGeom prst="rect">
            <a:avLst/>
          </a:prstGeom>
          <a:noFill/>
          <a:ln/>
        </p:spPr>
        <p:txBody>
          <a:bodyPr wrap="square" lIns="0" tIns="0" rIns="0" bIns="0" rtlCol="0" anchor="t"/>
          <a:lstStyle/>
          <a:p>
            <a:pPr algn="ctr" indent="0" marL="0">
              <a:buNone/>
            </a:pPr>
            <a:r>
              <a:rPr lang="en-US" sz="1400" b="1" dirty="0">
                <a:solidFill>
                  <a:schemeClr val="tx2"/>
                </a:solidFill>
              </a:rPr>
              <a:t>Analytics</a:t>
            </a:r>
            <a:endParaRPr lang="en-US" sz="1400" dirty="0"/>
          </a:p>
        </p:txBody>
      </p:sp>
      <p:sp>
        <p:nvSpPr>
          <p:cNvPr id="32" name="Text 30"/>
          <p:cNvSpPr txBox="1"/>
          <p:nvPr/>
        </p:nvSpPr>
        <p:spPr>
          <a:xfrm>
            <a:off x="5327904" y="3776472"/>
            <a:ext cx="1533144" cy="274320"/>
          </a:xfrm>
          <a:prstGeom prst="rect">
            <a:avLst/>
          </a:prstGeom>
          <a:noFill/>
          <a:ln/>
        </p:spPr>
        <p:txBody>
          <a:bodyPr wrap="square" lIns="0" tIns="0" rIns="0" bIns="0" rtlCol="0" anchor="t"/>
          <a:lstStyle/>
          <a:p>
            <a:pPr algn="ctr" indent="0" marL="0">
              <a:buNone/>
            </a:pPr>
            <a:r>
              <a:rPr lang="en-US" sz="1100" dirty="0">
                <a:solidFill>
                  <a:schemeClr val="accent6"/>
                </a:solidFill>
              </a:rPr>
              <a:t>event projections</a:t>
            </a:r>
            <a:endParaRPr lang="en-US" sz="1100" dirty="0"/>
          </a:p>
        </p:txBody>
      </p:sp>
      <p:sp>
        <p:nvSpPr>
          <p:cNvPr id="33" name="context Referral"/>
          <p:cNvSpPr/>
          <p:nvPr/>
        </p:nvSpPr>
        <p:spPr>
          <a:xfrm>
            <a:off x="6998208" y="3273552"/>
            <a:ext cx="1533144" cy="960120"/>
          </a:xfrm>
          <a:prstGeom prst="roundRect">
            <a:avLst>
              <a:gd name="adj" fmla="val 11429"/>
            </a:avLst>
          </a:prstGeom>
          <a:solidFill>
            <a:schemeClr val="bg1"/>
          </a:solidFill>
          <a:ln w="12700">
            <a:solidFill>
              <a:srgbClr val="CBD5E1"/>
            </a:solidFill>
            <a:prstDash val="solid"/>
          </a:ln>
        </p:spPr>
      </p:sp>
      <p:sp>
        <p:nvSpPr>
          <p:cNvPr id="34" name="Text 32"/>
          <p:cNvSpPr txBox="1"/>
          <p:nvPr/>
        </p:nvSpPr>
        <p:spPr>
          <a:xfrm>
            <a:off x="6998208" y="3438144"/>
            <a:ext cx="1533144" cy="320040"/>
          </a:xfrm>
          <a:prstGeom prst="rect">
            <a:avLst/>
          </a:prstGeom>
          <a:noFill/>
          <a:ln/>
        </p:spPr>
        <p:txBody>
          <a:bodyPr wrap="square" lIns="0" tIns="0" rIns="0" bIns="0" rtlCol="0" anchor="t"/>
          <a:lstStyle/>
          <a:p>
            <a:pPr algn="ctr" indent="0" marL="0">
              <a:buNone/>
            </a:pPr>
            <a:r>
              <a:rPr lang="en-US" sz="1400" b="1" dirty="0">
                <a:solidFill>
                  <a:schemeClr val="tx2"/>
                </a:solidFill>
              </a:rPr>
              <a:t>Referral</a:t>
            </a:r>
            <a:endParaRPr lang="en-US" sz="1400" dirty="0"/>
          </a:p>
        </p:txBody>
      </p:sp>
      <p:sp>
        <p:nvSpPr>
          <p:cNvPr id="35" name="Text 33"/>
          <p:cNvSpPr txBox="1"/>
          <p:nvPr/>
        </p:nvSpPr>
        <p:spPr>
          <a:xfrm>
            <a:off x="6998208" y="3776472"/>
            <a:ext cx="1533144" cy="274320"/>
          </a:xfrm>
          <a:prstGeom prst="rect">
            <a:avLst/>
          </a:prstGeom>
          <a:noFill/>
          <a:ln/>
        </p:spPr>
        <p:txBody>
          <a:bodyPr wrap="square" lIns="0" tIns="0" rIns="0" bIns="0" rtlCol="0" anchor="t"/>
          <a:lstStyle/>
          <a:p>
            <a:pPr algn="ctr" indent="0" marL="0">
              <a:buNone/>
            </a:pPr>
            <a:r>
              <a:rPr lang="en-US" sz="1100" dirty="0">
                <a:solidFill>
                  <a:schemeClr val="accent6"/>
                </a:solidFill>
              </a:rPr>
              <a:t>invitations · wallet</a:t>
            </a:r>
            <a:endParaRPr lang="en-US" sz="1100" dirty="0"/>
          </a:p>
        </p:txBody>
      </p:sp>
      <p:sp>
        <p:nvSpPr>
          <p:cNvPr id="36" name="context Support"/>
          <p:cNvSpPr/>
          <p:nvPr/>
        </p:nvSpPr>
        <p:spPr>
          <a:xfrm>
            <a:off x="3657600" y="4398264"/>
            <a:ext cx="1533144" cy="960120"/>
          </a:xfrm>
          <a:prstGeom prst="roundRect">
            <a:avLst>
              <a:gd name="adj" fmla="val 11429"/>
            </a:avLst>
          </a:prstGeom>
          <a:solidFill>
            <a:schemeClr val="bg1"/>
          </a:solidFill>
          <a:ln w="12700">
            <a:solidFill>
              <a:srgbClr val="CBD5E1"/>
            </a:solidFill>
            <a:prstDash val="solid"/>
          </a:ln>
        </p:spPr>
      </p:sp>
      <p:sp>
        <p:nvSpPr>
          <p:cNvPr id="37" name="Text 35"/>
          <p:cNvSpPr txBox="1"/>
          <p:nvPr/>
        </p:nvSpPr>
        <p:spPr>
          <a:xfrm>
            <a:off x="3657600" y="4562856"/>
            <a:ext cx="1533144" cy="320040"/>
          </a:xfrm>
          <a:prstGeom prst="rect">
            <a:avLst/>
          </a:prstGeom>
          <a:noFill/>
          <a:ln/>
        </p:spPr>
        <p:txBody>
          <a:bodyPr wrap="square" lIns="0" tIns="0" rIns="0" bIns="0" rtlCol="0" anchor="t"/>
          <a:lstStyle/>
          <a:p>
            <a:pPr algn="ctr" indent="0" marL="0">
              <a:buNone/>
            </a:pPr>
            <a:r>
              <a:rPr lang="en-US" sz="1400" b="1" dirty="0">
                <a:solidFill>
                  <a:schemeClr val="tx2"/>
                </a:solidFill>
              </a:rPr>
              <a:t>Support</a:t>
            </a:r>
            <a:endParaRPr lang="en-US" sz="1400" dirty="0"/>
          </a:p>
        </p:txBody>
      </p:sp>
      <p:sp>
        <p:nvSpPr>
          <p:cNvPr id="38" name="Text 36"/>
          <p:cNvSpPr txBox="1"/>
          <p:nvPr/>
        </p:nvSpPr>
        <p:spPr>
          <a:xfrm>
            <a:off x="3657600" y="4901184"/>
            <a:ext cx="1533144" cy="274320"/>
          </a:xfrm>
          <a:prstGeom prst="rect">
            <a:avLst/>
          </a:prstGeom>
          <a:noFill/>
          <a:ln/>
        </p:spPr>
        <p:txBody>
          <a:bodyPr wrap="square" lIns="0" tIns="0" rIns="0" bIns="0" rtlCol="0" anchor="t"/>
          <a:lstStyle/>
          <a:p>
            <a:pPr algn="ctr" indent="0" marL="0">
              <a:buNone/>
            </a:pPr>
            <a:r>
              <a:rPr lang="en-US" sz="1100" dirty="0">
                <a:solidFill>
                  <a:schemeClr val="accent6"/>
                </a:solidFill>
              </a:rPr>
              <a:t>help · tickets</a:t>
            </a:r>
            <a:endParaRPr lang="en-US" sz="1100" dirty="0"/>
          </a:p>
        </p:txBody>
      </p:sp>
      <p:sp>
        <p:nvSpPr>
          <p:cNvPr id="39" name="shared infra"/>
          <p:cNvSpPr/>
          <p:nvPr/>
        </p:nvSpPr>
        <p:spPr>
          <a:xfrm>
            <a:off x="5327904" y="4398264"/>
            <a:ext cx="3203448" cy="960120"/>
          </a:xfrm>
          <a:prstGeom prst="roundRect">
            <a:avLst>
              <a:gd name="adj" fmla="val 11429"/>
            </a:avLst>
          </a:prstGeom>
          <a:solidFill>
            <a:schemeClr val="bg1"/>
          </a:solidFill>
          <a:ln w="12700">
            <a:solidFill>
              <a:srgbClr val="CBD5E1"/>
            </a:solidFill>
            <a:prstDash val="solid"/>
          </a:ln>
        </p:spPr>
      </p:sp>
      <p:sp>
        <p:nvSpPr>
          <p:cNvPr id="40" name="Text 38"/>
          <p:cNvSpPr txBox="1"/>
          <p:nvPr/>
        </p:nvSpPr>
        <p:spPr>
          <a:xfrm>
            <a:off x="5327904" y="4562856"/>
            <a:ext cx="3203448" cy="320040"/>
          </a:xfrm>
          <a:prstGeom prst="rect">
            <a:avLst/>
          </a:prstGeom>
          <a:noFill/>
          <a:ln/>
        </p:spPr>
        <p:txBody>
          <a:bodyPr wrap="square" lIns="0" tIns="0" rIns="0" bIns="0" rtlCol="0" anchor="t"/>
          <a:lstStyle/>
          <a:p>
            <a:pPr algn="ctr" indent="0" marL="0">
              <a:buNone/>
            </a:pPr>
            <a:r>
              <a:rPr lang="en-US" sz="1400" b="1" dirty="0">
                <a:solidFill>
                  <a:schemeClr val="tx2"/>
                </a:solidFill>
              </a:rPr>
              <a:t>Shared infrastructure</a:t>
            </a:r>
            <a:endParaRPr lang="en-US" sz="1400" dirty="0"/>
          </a:p>
        </p:txBody>
      </p:sp>
      <p:sp>
        <p:nvSpPr>
          <p:cNvPr id="41" name="Text 39"/>
          <p:cNvSpPr txBox="1"/>
          <p:nvPr/>
        </p:nvSpPr>
        <p:spPr>
          <a:xfrm>
            <a:off x="5327904" y="4901184"/>
            <a:ext cx="3203448" cy="274320"/>
          </a:xfrm>
          <a:prstGeom prst="rect">
            <a:avLst/>
          </a:prstGeom>
          <a:noFill/>
          <a:ln/>
        </p:spPr>
        <p:txBody>
          <a:bodyPr wrap="square" lIns="0" tIns="0" rIns="0" bIns="0" rtlCol="0" anchor="t"/>
          <a:lstStyle/>
          <a:p>
            <a:pPr algn="ctr" indent="0" marL="0">
              <a:buNone/>
            </a:pPr>
            <a:r>
              <a:rPr lang="en-US" sz="1100" dirty="0">
                <a:solidFill>
                  <a:schemeClr val="accent6"/>
                </a:solidFill>
              </a:rPr>
              <a:t>security · domain events · work queue</a:t>
            </a:r>
            <a:endParaRPr lang="en-US" sz="1100" dirty="0"/>
          </a:p>
        </p:txBody>
      </p:sp>
      <p:sp>
        <p:nvSpPr>
          <p:cNvPr id="42" name="arrow mobile"/>
          <p:cNvSpPr/>
          <p:nvPr/>
        </p:nvSpPr>
        <p:spPr>
          <a:xfrm>
            <a:off x="2926080" y="2628900"/>
            <a:ext cx="457200" cy="0"/>
          </a:xfrm>
          <a:prstGeom prst="line">
            <a:avLst/>
          </a:prstGeom>
          <a:noFill/>
          <a:ln w="19050">
            <a:solidFill>
              <a:srgbClr val="11428D"/>
            </a:solidFill>
            <a:prstDash val="solid"/>
            <a:tailEnd type="triangle"/>
          </a:ln>
        </p:spPr>
      </p:sp>
      <p:sp>
        <p:nvSpPr>
          <p:cNvPr id="43" name="arrow admin"/>
          <p:cNvSpPr/>
          <p:nvPr/>
        </p:nvSpPr>
        <p:spPr>
          <a:xfrm>
            <a:off x="2926080" y="4274820"/>
            <a:ext cx="457200" cy="0"/>
          </a:xfrm>
          <a:prstGeom prst="line">
            <a:avLst/>
          </a:prstGeom>
          <a:noFill/>
          <a:ln w="19050">
            <a:solidFill>
              <a:srgbClr val="11428D"/>
            </a:solidFill>
            <a:prstDash val="solid"/>
            <a:tailEnd type="triangle"/>
          </a:ln>
        </p:spPr>
      </p:sp>
      <p:sp>
        <p:nvSpPr>
          <p:cNvPr id="44" name="arrow db"/>
          <p:cNvSpPr/>
          <p:nvPr/>
        </p:nvSpPr>
        <p:spPr>
          <a:xfrm>
            <a:off x="8805672" y="2628900"/>
            <a:ext cx="457200" cy="0"/>
          </a:xfrm>
          <a:prstGeom prst="line">
            <a:avLst/>
          </a:prstGeom>
          <a:noFill/>
          <a:ln w="19050">
            <a:solidFill>
              <a:srgbClr val="11428D"/>
            </a:solidFill>
            <a:prstDash val="solid"/>
            <a:tailEnd type="triangle"/>
          </a:ln>
        </p:spPr>
      </p:sp>
      <p:sp>
        <p:nvSpPr>
          <p:cNvPr id="45" name="arrow help"/>
          <p:cNvSpPr/>
          <p:nvPr/>
        </p:nvSpPr>
        <p:spPr>
          <a:xfrm>
            <a:off x="8805672" y="4274820"/>
            <a:ext cx="457200" cy="0"/>
          </a:xfrm>
          <a:prstGeom prst="line">
            <a:avLst/>
          </a:prstGeom>
          <a:noFill/>
          <a:ln w="19050">
            <a:solidFill>
              <a:srgbClr val="11428D"/>
            </a:solidFill>
            <a:prstDash val="solid"/>
            <a:tailEnd type="triangle"/>
          </a:ln>
        </p:spPr>
      </p:sp>
      <p:sp>
        <p:nvSpPr>
          <p:cNvPr id="46" name="Text 44"/>
          <p:cNvSpPr txBox="1"/>
          <p:nvPr/>
        </p:nvSpPr>
        <p:spPr>
          <a:xfrm>
            <a:off x="9262872" y="4892040"/>
            <a:ext cx="2377440" cy="457200"/>
          </a:xfrm>
          <a:prstGeom prst="rect">
            <a:avLst/>
          </a:prstGeom>
          <a:noFill/>
          <a:ln/>
        </p:spPr>
        <p:txBody>
          <a:bodyPr wrap="square" lIns="0" tIns="0" rIns="0" bIns="0" rtlCol="0" anchor="t"/>
          <a:lstStyle/>
          <a:p>
            <a:pPr algn="ctr" indent="0" marL="0">
              <a:buNone/>
            </a:pPr>
            <a:r>
              <a:rPr lang="en-US" sz="1100" dirty="0">
                <a:solidFill>
                  <a:schemeClr val="accent6"/>
                </a:solidFill>
              </a:rPr>
              <a:t>Help calls carry the user JWT + a service secret</a:t>
            </a:r>
            <a:endParaRPr lang="en-US" sz="1100" dirty="0"/>
          </a:p>
        </p:txBody>
      </p:sp>
      <p:sp>
        <p:nvSpPr>
          <p:cNvPr id="47" name="Text 45"/>
          <p:cNvSpPr txBox="1"/>
          <p:nvPr/>
        </p:nvSpPr>
        <p:spPr>
          <a:xfrm>
            <a:off x="548640" y="5806440"/>
            <a:ext cx="11094415" cy="411480"/>
          </a:xfrm>
          <a:prstGeom prst="rect">
            <a:avLst/>
          </a:prstGeom>
          <a:noFill/>
          <a:ln/>
        </p:spPr>
        <p:txBody>
          <a:bodyPr wrap="square" lIns="0" tIns="0" rIns="0" bIns="0" rtlCol="0" anchor="t"/>
          <a:lstStyle/>
          <a:p>
            <a:pPr algn="ctr" indent="0" marL="0">
              <a:buNone/>
            </a:pPr>
            <a:r>
              <a:rPr lang="en-US" sz="1400" b="1" dirty="0">
                <a:solidFill>
                  <a:schemeClr val="tx2"/>
                </a:solidFill>
              </a:rPr>
              <a:t>Each context: </a:t>
            </a:r>
            <a:pPr algn="ctr" indent="0" marL="0">
              <a:buNone/>
            </a:pPr>
            <a:r>
              <a:rPr lang="en-US" sz="1400" dirty="0">
                <a:solidFill>
                  <a:schemeClr val="tx1"/>
                </a:solidFill>
              </a:rPr>
              <a:t>API → application → pure domain → infrastructure, enforced by ArchUnit. Contexts talk through domain events; contracts start in OpenAPI.</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Technology stack by layer</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5 Technologies</a:t>
            </a:r>
            <a:endParaRPr lang="en-US" sz="1000" dirty="0"/>
          </a:p>
        </p:txBody>
      </p:sp>
      <p:sp>
        <p:nvSpPr>
          <p:cNvPr id="4" name="layer Mobile"/>
          <p:cNvSpPr/>
          <p:nvPr/>
        </p:nvSpPr>
        <p:spPr>
          <a:xfrm>
            <a:off x="548640" y="1463040"/>
            <a:ext cx="2567864" cy="3657600"/>
          </a:xfrm>
          <a:prstGeom prst="roundRect">
            <a:avLst>
              <a:gd name="adj" fmla="val 4273"/>
            </a:avLst>
          </a:prstGeom>
          <a:solidFill>
            <a:schemeClr val="bg2"/>
          </a:solidFill>
          <a:ln/>
        </p:spPr>
      </p:sp>
      <p:sp>
        <p:nvSpPr>
          <p:cNvPr id="5" name="Text 3"/>
          <p:cNvSpPr txBox="1"/>
          <p:nvPr/>
        </p:nvSpPr>
        <p:spPr>
          <a:xfrm>
            <a:off x="822960" y="1691640"/>
            <a:ext cx="2019224" cy="365760"/>
          </a:xfrm>
          <a:prstGeom prst="rect">
            <a:avLst/>
          </a:prstGeom>
          <a:noFill/>
          <a:ln/>
        </p:spPr>
        <p:txBody>
          <a:bodyPr wrap="square" lIns="0" tIns="0" rIns="0" bIns="0" rtlCol="0" anchor="t"/>
          <a:lstStyle/>
          <a:p>
            <a:pPr indent="0" marL="0">
              <a:buNone/>
            </a:pPr>
            <a:r>
              <a:rPr lang="en-US" sz="1800" b="1" dirty="0">
                <a:solidFill>
                  <a:schemeClr val="accent2"/>
                </a:solidFill>
              </a:rPr>
              <a:t>Mobile</a:t>
            </a:r>
            <a:endParaRPr lang="en-US" sz="1800" dirty="0"/>
          </a:p>
        </p:txBody>
      </p:sp>
      <p:pic>
        <p:nvPicPr>
          <p:cNvPr id="6" name="logo flutter" descr="flutter logo">    </p:cNvPr>
          <p:cNvPicPr>
            <a:picLocks noChangeAspect="1"/>
          </p:cNvPicPr>
          <p:nvPr/>
        </p:nvPicPr>
        <p:blipFill>
          <a:blip r:embed="rId1"/>
          <a:stretch>
            <a:fillRect/>
          </a:stretch>
        </p:blipFill>
        <p:spPr>
          <a:xfrm>
            <a:off x="871366" y="2217420"/>
            <a:ext cx="406108" cy="502920"/>
          </a:xfrm>
          <a:prstGeom prst="rect">
            <a:avLst/>
          </a:prstGeom>
        </p:spPr>
      </p:pic>
      <p:pic>
        <p:nvPicPr>
          <p:cNvPr id="7" name="logo dart" descr="dart logo">    </p:cNvPr>
          <p:cNvPicPr>
            <a:picLocks noChangeAspect="1"/>
          </p:cNvPicPr>
          <p:nvPr/>
        </p:nvPicPr>
        <p:blipFill>
          <a:blip r:embed="rId2"/>
          <a:stretch>
            <a:fillRect/>
          </a:stretch>
        </p:blipFill>
        <p:spPr>
          <a:xfrm>
            <a:off x="1554480" y="2217420"/>
            <a:ext cx="502920" cy="502920"/>
          </a:xfrm>
          <a:prstGeom prst="rect">
            <a:avLst/>
          </a:prstGeom>
        </p:spPr>
      </p:pic>
      <p:sp>
        <p:nvSpPr>
          <p:cNvPr id="8" name="Text 4"/>
          <p:cNvSpPr txBox="1"/>
          <p:nvPr/>
        </p:nvSpPr>
        <p:spPr>
          <a:xfrm>
            <a:off x="822960" y="2971800"/>
            <a:ext cx="2110664"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Riverpod state</a:t>
            </a:r>
            <a:endParaRPr lang="en-US" sz="1400" dirty="0"/>
          </a:p>
          <a:p>
            <a:pPr marL="342900" indent="-342900">
              <a:spcAft>
                <a:spcPts val="600"/>
              </a:spcAft>
              <a:buSzPct val="100000"/>
              <a:buChar char="•"/>
            </a:pPr>
            <a:r>
              <a:rPr lang="en-US" sz="1400" dirty="0">
                <a:solidFill>
                  <a:schemeClr val="tx1"/>
                </a:solidFill>
              </a:rPr>
              <a:t>go_router navigation</a:t>
            </a:r>
            <a:endParaRPr lang="en-US" sz="1400" dirty="0"/>
          </a:p>
          <a:p>
            <a:pPr marL="342900" indent="-342900">
              <a:spcAft>
                <a:spcPts val="600"/>
              </a:spcAft>
              <a:buSzPct val="100000"/>
              <a:buChar char="•"/>
            </a:pPr>
            <a:r>
              <a:rPr lang="en-US" sz="1400" dirty="0">
                <a:solidFill>
                  <a:schemeClr val="tx1"/>
                </a:solidFill>
              </a:rPr>
              <a:t>Flame game runtime</a:t>
            </a:r>
            <a:endParaRPr lang="en-US" sz="1400" dirty="0"/>
          </a:p>
          <a:p>
            <a:pPr marL="342900" indent="-342900">
              <a:spcAft>
                <a:spcPts val="600"/>
              </a:spcAft>
              <a:buSzPct val="100000"/>
              <a:buChar char="•"/>
            </a:pPr>
            <a:r>
              <a:rPr lang="en-US" sz="1400" dirty="0">
                <a:solidFill>
                  <a:schemeClr val="tx1"/>
                </a:solidFill>
              </a:rPr>
              <a:t>Dio + STOMP client</a:t>
            </a:r>
            <a:endParaRPr lang="en-US" sz="1400" dirty="0"/>
          </a:p>
          <a:p>
            <a:pPr marL="342900" indent="-342900">
              <a:spcAft>
                <a:spcPts val="600"/>
              </a:spcAft>
              <a:buSzPct val="100000"/>
              <a:buChar char="•"/>
            </a:pPr>
            <a:r>
              <a:rPr lang="en-US" sz="1400" dirty="0">
                <a:solidFill>
                  <a:schemeClr val="tx1"/>
                </a:solidFill>
              </a:rPr>
              <a:t>Secure storage, Hive</a:t>
            </a:r>
            <a:endParaRPr lang="en-US" sz="1400" dirty="0"/>
          </a:p>
        </p:txBody>
      </p:sp>
      <p:sp>
        <p:nvSpPr>
          <p:cNvPr id="9" name="layer Backend"/>
          <p:cNvSpPr/>
          <p:nvPr/>
        </p:nvSpPr>
        <p:spPr>
          <a:xfrm>
            <a:off x="3390824" y="1463040"/>
            <a:ext cx="2567864" cy="3657600"/>
          </a:xfrm>
          <a:prstGeom prst="roundRect">
            <a:avLst>
              <a:gd name="adj" fmla="val 4273"/>
            </a:avLst>
          </a:prstGeom>
          <a:solidFill>
            <a:schemeClr val="bg2"/>
          </a:solidFill>
          <a:ln/>
        </p:spPr>
      </p:sp>
      <p:sp>
        <p:nvSpPr>
          <p:cNvPr id="10" name="Text 6"/>
          <p:cNvSpPr txBox="1"/>
          <p:nvPr/>
        </p:nvSpPr>
        <p:spPr>
          <a:xfrm>
            <a:off x="3665144" y="1691640"/>
            <a:ext cx="2019224" cy="365760"/>
          </a:xfrm>
          <a:prstGeom prst="rect">
            <a:avLst/>
          </a:prstGeom>
          <a:noFill/>
          <a:ln/>
        </p:spPr>
        <p:txBody>
          <a:bodyPr wrap="square" lIns="0" tIns="0" rIns="0" bIns="0" rtlCol="0" anchor="t"/>
          <a:lstStyle/>
          <a:p>
            <a:pPr indent="0" marL="0">
              <a:buNone/>
            </a:pPr>
            <a:r>
              <a:rPr lang="en-US" sz="1800" b="1" dirty="0">
                <a:solidFill>
                  <a:schemeClr val="tx2"/>
                </a:solidFill>
              </a:rPr>
              <a:t>Backend</a:t>
            </a:r>
            <a:endParaRPr lang="en-US" sz="1800" dirty="0"/>
          </a:p>
        </p:txBody>
      </p:sp>
      <p:pic>
        <p:nvPicPr>
          <p:cNvPr id="11" name="logo java" descr="java logo">    </p:cNvPr>
          <p:cNvPicPr>
            <a:picLocks noChangeAspect="1"/>
          </p:cNvPicPr>
          <p:nvPr/>
        </p:nvPicPr>
        <p:blipFill>
          <a:blip r:embed="rId3"/>
          <a:stretch>
            <a:fillRect/>
          </a:stretch>
        </p:blipFill>
        <p:spPr>
          <a:xfrm>
            <a:off x="3730523" y="2217420"/>
            <a:ext cx="372161" cy="502920"/>
          </a:xfrm>
          <a:prstGeom prst="rect">
            <a:avLst/>
          </a:prstGeom>
        </p:spPr>
      </p:pic>
      <p:pic>
        <p:nvPicPr>
          <p:cNvPr id="12" name="logo spring" descr="spring logo">    </p:cNvPr>
          <p:cNvPicPr>
            <a:picLocks noChangeAspect="1"/>
          </p:cNvPicPr>
          <p:nvPr/>
        </p:nvPicPr>
        <p:blipFill>
          <a:blip r:embed="rId4"/>
          <a:stretch>
            <a:fillRect/>
          </a:stretch>
        </p:blipFill>
        <p:spPr>
          <a:xfrm>
            <a:off x="4396664" y="2217420"/>
            <a:ext cx="502920" cy="502920"/>
          </a:xfrm>
          <a:prstGeom prst="rect">
            <a:avLst/>
          </a:prstGeom>
        </p:spPr>
      </p:pic>
      <p:pic>
        <p:nvPicPr>
          <p:cNvPr id="13" name="logo postgresql" descr="postgresql logo">    </p:cNvPr>
          <p:cNvPicPr>
            <a:picLocks noChangeAspect="1"/>
          </p:cNvPicPr>
          <p:nvPr/>
        </p:nvPicPr>
        <p:blipFill>
          <a:blip r:embed="rId5"/>
          <a:stretch>
            <a:fillRect/>
          </a:stretch>
        </p:blipFill>
        <p:spPr>
          <a:xfrm>
            <a:off x="5135728" y="2217420"/>
            <a:ext cx="487832" cy="502920"/>
          </a:xfrm>
          <a:prstGeom prst="rect">
            <a:avLst/>
          </a:prstGeom>
        </p:spPr>
      </p:pic>
      <p:sp>
        <p:nvSpPr>
          <p:cNvPr id="14" name="Text 7"/>
          <p:cNvSpPr txBox="1"/>
          <p:nvPr/>
        </p:nvSpPr>
        <p:spPr>
          <a:xfrm>
            <a:off x="3665144" y="2971800"/>
            <a:ext cx="2110664"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Spring Boot modular monolith</a:t>
            </a:r>
            <a:endParaRPr lang="en-US" sz="1400" dirty="0"/>
          </a:p>
          <a:p>
            <a:pPr marL="342900" indent="-342900">
              <a:spcAft>
                <a:spcPts val="600"/>
              </a:spcAft>
              <a:buSzPct val="100000"/>
              <a:buChar char="•"/>
            </a:pPr>
            <a:r>
              <a:rPr lang="en-US" sz="1400" dirty="0">
                <a:solidFill>
                  <a:schemeClr val="tx1"/>
                </a:solidFill>
              </a:rPr>
              <a:t>Spring Data JPA</a:t>
            </a:r>
            <a:endParaRPr lang="en-US" sz="1400" dirty="0"/>
          </a:p>
          <a:p>
            <a:pPr marL="342900" indent="-342900">
              <a:spcAft>
                <a:spcPts val="600"/>
              </a:spcAft>
              <a:buSzPct val="100000"/>
              <a:buChar char="•"/>
            </a:pPr>
            <a:r>
              <a:rPr lang="en-US" sz="1400" dirty="0">
                <a:solidFill>
                  <a:schemeClr val="tx1"/>
                </a:solidFill>
              </a:rPr>
              <a:t>Spring Security, OAuth2</a:t>
            </a:r>
            <a:endParaRPr lang="en-US" sz="1400" dirty="0"/>
          </a:p>
          <a:p>
            <a:pPr marL="342900" indent="-342900">
              <a:spcAft>
                <a:spcPts val="600"/>
              </a:spcAft>
              <a:buSzPct val="100000"/>
              <a:buChar char="•"/>
            </a:pPr>
            <a:r>
              <a:rPr lang="en-US" sz="1400" dirty="0">
                <a:solidFill>
                  <a:schemeClr val="tx1"/>
                </a:solidFill>
              </a:rPr>
              <a:t>OpenAPI Generator</a:t>
            </a:r>
            <a:endParaRPr lang="en-US" sz="1400" dirty="0"/>
          </a:p>
        </p:txBody>
      </p:sp>
      <p:sp>
        <p:nvSpPr>
          <p:cNvPr id="15" name="layer Administration"/>
          <p:cNvSpPr/>
          <p:nvPr/>
        </p:nvSpPr>
        <p:spPr>
          <a:xfrm>
            <a:off x="6233008" y="1463040"/>
            <a:ext cx="2567864" cy="3657600"/>
          </a:xfrm>
          <a:prstGeom prst="roundRect">
            <a:avLst>
              <a:gd name="adj" fmla="val 4273"/>
            </a:avLst>
          </a:prstGeom>
          <a:solidFill>
            <a:schemeClr val="bg2"/>
          </a:solidFill>
          <a:ln/>
        </p:spPr>
      </p:sp>
      <p:sp>
        <p:nvSpPr>
          <p:cNvPr id="16" name="Text 9"/>
          <p:cNvSpPr txBox="1"/>
          <p:nvPr/>
        </p:nvSpPr>
        <p:spPr>
          <a:xfrm>
            <a:off x="6507328" y="1691640"/>
            <a:ext cx="2019224" cy="365760"/>
          </a:xfrm>
          <a:prstGeom prst="rect">
            <a:avLst/>
          </a:prstGeom>
          <a:noFill/>
          <a:ln/>
        </p:spPr>
        <p:txBody>
          <a:bodyPr wrap="square" lIns="0" tIns="0" rIns="0" bIns="0" rtlCol="0" anchor="t"/>
          <a:lstStyle/>
          <a:p>
            <a:pPr indent="0" marL="0">
              <a:buNone/>
            </a:pPr>
            <a:r>
              <a:rPr lang="en-US" sz="1800" b="1" dirty="0">
                <a:solidFill>
                  <a:schemeClr val="tx2"/>
                </a:solidFill>
              </a:rPr>
              <a:t>Administration</a:t>
            </a:r>
            <a:endParaRPr lang="en-US" sz="1800" dirty="0"/>
          </a:p>
        </p:txBody>
      </p:sp>
      <p:pic>
        <p:nvPicPr>
          <p:cNvPr id="17" name="logo react" descr="react logo">    </p:cNvPr>
          <p:cNvPicPr>
            <a:picLocks noChangeAspect="1"/>
          </p:cNvPicPr>
          <p:nvPr/>
        </p:nvPicPr>
        <p:blipFill>
          <a:blip r:embed="rId6"/>
          <a:stretch>
            <a:fillRect/>
          </a:stretch>
        </p:blipFill>
        <p:spPr>
          <a:xfrm>
            <a:off x="6507328" y="2320747"/>
            <a:ext cx="329184" cy="296266"/>
          </a:xfrm>
          <a:prstGeom prst="rect">
            <a:avLst/>
          </a:prstGeom>
        </p:spPr>
      </p:pic>
      <p:pic>
        <p:nvPicPr>
          <p:cNvPr id="18" name="logo typescript" descr="typescript logo">    </p:cNvPr>
          <p:cNvPicPr>
            <a:picLocks noChangeAspect="1"/>
          </p:cNvPicPr>
          <p:nvPr/>
        </p:nvPicPr>
        <p:blipFill>
          <a:blip r:embed="rId7"/>
          <a:stretch>
            <a:fillRect/>
          </a:stretch>
        </p:blipFill>
        <p:spPr>
          <a:xfrm>
            <a:off x="6927952" y="2304288"/>
            <a:ext cx="329184" cy="329184"/>
          </a:xfrm>
          <a:prstGeom prst="rect">
            <a:avLst/>
          </a:prstGeom>
        </p:spPr>
      </p:pic>
      <p:pic>
        <p:nvPicPr>
          <p:cNvPr id="19" name="logo tailwindcss" descr="tailwindcss logo">    </p:cNvPr>
          <p:cNvPicPr>
            <a:picLocks noChangeAspect="1"/>
          </p:cNvPicPr>
          <p:nvPr/>
        </p:nvPicPr>
        <p:blipFill>
          <a:blip r:embed="rId8"/>
          <a:stretch>
            <a:fillRect/>
          </a:stretch>
        </p:blipFill>
        <p:spPr>
          <a:xfrm>
            <a:off x="7348576" y="2368479"/>
            <a:ext cx="329184" cy="200802"/>
          </a:xfrm>
          <a:prstGeom prst="rect">
            <a:avLst/>
          </a:prstGeom>
        </p:spPr>
      </p:pic>
      <p:pic>
        <p:nvPicPr>
          <p:cNvPr id="20" name="logo bun" descr="bun logo">    </p:cNvPr>
          <p:cNvPicPr>
            <a:picLocks noChangeAspect="1"/>
          </p:cNvPicPr>
          <p:nvPr/>
        </p:nvPicPr>
        <p:blipFill>
          <a:blip r:embed="rId9"/>
          <a:stretch>
            <a:fillRect/>
          </a:stretch>
        </p:blipFill>
        <p:spPr>
          <a:xfrm>
            <a:off x="7769200" y="2324862"/>
            <a:ext cx="329184" cy="288036"/>
          </a:xfrm>
          <a:prstGeom prst="rect">
            <a:avLst/>
          </a:prstGeom>
        </p:spPr>
      </p:pic>
      <p:pic>
        <p:nvPicPr>
          <p:cNvPr id="21" name="logo turborepo" descr="turborepo logo">    </p:cNvPr>
          <p:cNvPicPr>
            <a:picLocks noChangeAspect="1"/>
          </p:cNvPicPr>
          <p:nvPr/>
        </p:nvPicPr>
        <p:blipFill>
          <a:blip r:embed="rId10"/>
          <a:stretch>
            <a:fillRect/>
          </a:stretch>
        </p:blipFill>
        <p:spPr>
          <a:xfrm>
            <a:off x="8189824" y="2304288"/>
            <a:ext cx="329184" cy="329184"/>
          </a:xfrm>
          <a:prstGeom prst="rect">
            <a:avLst/>
          </a:prstGeom>
        </p:spPr>
      </p:pic>
      <p:sp>
        <p:nvSpPr>
          <p:cNvPr id="22" name="Text 10"/>
          <p:cNvSpPr txBox="1"/>
          <p:nvPr/>
        </p:nvSpPr>
        <p:spPr>
          <a:xfrm>
            <a:off x="6507328" y="2971800"/>
            <a:ext cx="2110664"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TanStack Start</a:t>
            </a:r>
            <a:endParaRPr lang="en-US" sz="1400" dirty="0"/>
          </a:p>
          <a:p>
            <a:pPr marL="342900" indent="-342900">
              <a:spcAft>
                <a:spcPts val="600"/>
              </a:spcAft>
              <a:buSzPct val="100000"/>
              <a:buChar char="•"/>
            </a:pPr>
            <a:r>
              <a:rPr lang="en-US" sz="1400" dirty="0">
                <a:solidFill>
                  <a:schemeClr val="tx1"/>
                </a:solidFill>
              </a:rPr>
              <a:t>Game Studio</a:t>
            </a:r>
            <a:endParaRPr lang="en-US" sz="1400" dirty="0"/>
          </a:p>
          <a:p>
            <a:pPr marL="342900" indent="-342900">
              <a:spcAft>
                <a:spcPts val="600"/>
              </a:spcAft>
              <a:buSzPct val="100000"/>
              <a:buChar char="•"/>
            </a:pPr>
            <a:r>
              <a:rPr lang="en-US" sz="1400" dirty="0">
                <a:solidFill>
                  <a:schemeClr val="tx1"/>
                </a:solidFill>
              </a:rPr>
              <a:t>Platform Console</a:t>
            </a:r>
            <a:endParaRPr lang="en-US" sz="1400" dirty="0"/>
          </a:p>
        </p:txBody>
      </p:sp>
      <p:sp>
        <p:nvSpPr>
          <p:cNvPr id="23" name="layer Help service"/>
          <p:cNvSpPr/>
          <p:nvPr/>
        </p:nvSpPr>
        <p:spPr>
          <a:xfrm>
            <a:off x="9075191" y="1463040"/>
            <a:ext cx="2567864" cy="3657600"/>
          </a:xfrm>
          <a:prstGeom prst="roundRect">
            <a:avLst>
              <a:gd name="adj" fmla="val 4273"/>
            </a:avLst>
          </a:prstGeom>
          <a:solidFill>
            <a:schemeClr val="bg2"/>
          </a:solidFill>
          <a:ln/>
        </p:spPr>
      </p:sp>
      <p:sp>
        <p:nvSpPr>
          <p:cNvPr id="24" name="Text 12"/>
          <p:cNvSpPr txBox="1"/>
          <p:nvPr/>
        </p:nvSpPr>
        <p:spPr>
          <a:xfrm>
            <a:off x="9349511" y="1691640"/>
            <a:ext cx="2019224" cy="365760"/>
          </a:xfrm>
          <a:prstGeom prst="rect">
            <a:avLst/>
          </a:prstGeom>
          <a:noFill/>
          <a:ln/>
        </p:spPr>
        <p:txBody>
          <a:bodyPr wrap="square" lIns="0" tIns="0" rIns="0" bIns="0" rtlCol="0" anchor="t"/>
          <a:lstStyle/>
          <a:p>
            <a:pPr indent="0" marL="0">
              <a:buNone/>
            </a:pPr>
            <a:r>
              <a:rPr lang="en-US" sz="1800" b="1" dirty="0">
                <a:solidFill>
                  <a:schemeClr val="tx2"/>
                </a:solidFill>
              </a:rPr>
              <a:t>Help service</a:t>
            </a:r>
            <a:endParaRPr lang="en-US" sz="1800" dirty="0"/>
          </a:p>
        </p:txBody>
      </p:sp>
      <p:pic>
        <p:nvPicPr>
          <p:cNvPr id="25" name="logo python" descr="python logo">    </p:cNvPr>
          <p:cNvPicPr>
            <a:picLocks noChangeAspect="1"/>
          </p:cNvPicPr>
          <p:nvPr/>
        </p:nvPicPr>
        <p:blipFill>
          <a:blip r:embed="rId11"/>
          <a:stretch>
            <a:fillRect/>
          </a:stretch>
        </p:blipFill>
        <p:spPr>
          <a:xfrm>
            <a:off x="9349511" y="2217420"/>
            <a:ext cx="502920" cy="502920"/>
          </a:xfrm>
          <a:prstGeom prst="rect">
            <a:avLst/>
          </a:prstGeom>
        </p:spPr>
      </p:pic>
      <p:pic>
        <p:nvPicPr>
          <p:cNvPr id="26" name="logo fastapi" descr="fastapi logo">    </p:cNvPr>
          <p:cNvPicPr>
            <a:picLocks noChangeAspect="1"/>
          </p:cNvPicPr>
          <p:nvPr/>
        </p:nvPicPr>
        <p:blipFill>
          <a:blip r:embed="rId12"/>
          <a:stretch>
            <a:fillRect/>
          </a:stretch>
        </p:blipFill>
        <p:spPr>
          <a:xfrm>
            <a:off x="10081031" y="2217420"/>
            <a:ext cx="502920" cy="502920"/>
          </a:xfrm>
          <a:prstGeom prst="rect">
            <a:avLst/>
          </a:prstGeom>
        </p:spPr>
      </p:pic>
      <p:sp>
        <p:nvSpPr>
          <p:cNvPr id="27" name="Text 13"/>
          <p:cNvSpPr txBox="1"/>
          <p:nvPr/>
        </p:nvSpPr>
        <p:spPr>
          <a:xfrm>
            <a:off x="9349511" y="2971800"/>
            <a:ext cx="2110664"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LangChain</a:t>
            </a:r>
            <a:endParaRPr lang="en-US" sz="1400" dirty="0"/>
          </a:p>
          <a:p>
            <a:pPr marL="342900" indent="-342900">
              <a:spcAft>
                <a:spcPts val="600"/>
              </a:spcAft>
              <a:buSzPct val="100000"/>
              <a:buChar char="•"/>
            </a:pPr>
            <a:r>
              <a:rPr lang="en-US" sz="1400" dirty="0">
                <a:solidFill>
                  <a:schemeClr val="tx1"/>
                </a:solidFill>
              </a:rPr>
              <a:t>Chroma retrieval</a:t>
            </a:r>
            <a:endParaRPr lang="en-US" sz="1400" dirty="0"/>
          </a:p>
          <a:p>
            <a:pPr marL="342900" indent="-342900">
              <a:spcAft>
                <a:spcPts val="600"/>
              </a:spcAft>
              <a:buSzPct val="100000"/>
              <a:buChar char="•"/>
            </a:pPr>
            <a:r>
              <a:rPr lang="en-US" sz="1400" dirty="0">
                <a:solidFill>
                  <a:schemeClr val="tx1"/>
                </a:solidFill>
              </a:rPr>
              <a:t>Authenticated AI gateway</a:t>
            </a:r>
            <a:endParaRPr lang="en-US" sz="1400" dirty="0"/>
          </a:p>
        </p:txBody>
      </p:sp>
      <p:sp>
        <p:nvSpPr>
          <p:cNvPr id="28" name="quality strip"/>
          <p:cNvSpPr/>
          <p:nvPr/>
        </p:nvSpPr>
        <p:spPr>
          <a:xfrm>
            <a:off x="548640" y="5394960"/>
            <a:ext cx="11094415" cy="640080"/>
          </a:xfrm>
          <a:prstGeom prst="roundRect">
            <a:avLst>
              <a:gd name="adj" fmla="val 17143"/>
            </a:avLst>
          </a:prstGeom>
          <a:solidFill>
            <a:schemeClr val="bg1"/>
          </a:solidFill>
          <a:ln w="12700">
            <a:solidFill>
              <a:srgbClr val="EEF2F9"/>
            </a:solidFill>
            <a:prstDash val="solid"/>
          </a:ln>
        </p:spPr>
      </p:sp>
      <p:sp>
        <p:nvSpPr>
          <p:cNvPr id="29" name="Text 15"/>
          <p:cNvSpPr txBox="1"/>
          <p:nvPr/>
        </p:nvSpPr>
        <p:spPr>
          <a:xfrm>
            <a:off x="822960" y="5394960"/>
            <a:ext cx="10545775" cy="640080"/>
          </a:xfrm>
          <a:prstGeom prst="rect">
            <a:avLst/>
          </a:prstGeom>
          <a:noFill/>
          <a:ln/>
        </p:spPr>
        <p:txBody>
          <a:bodyPr wrap="square" lIns="0" tIns="0" rIns="0" bIns="0" rtlCol="0" anchor="ctr"/>
          <a:lstStyle/>
          <a:p>
            <a:pPr indent="0" marL="0">
              <a:buNone/>
            </a:pPr>
            <a:r>
              <a:rPr lang="en-US" sz="1400" b="1" dirty="0">
                <a:solidFill>
                  <a:schemeClr val="tx2"/>
                </a:solidFill>
              </a:rPr>
              <a:t>Quality &amp; runtime   </a:t>
            </a:r>
            <a:pPr indent="0" marL="0">
              <a:buNone/>
            </a:pPr>
            <a:r>
              <a:rPr lang="en-US" sz="1400" dirty="0">
                <a:solidFill>
                  <a:schemeClr val="tx1"/>
                </a:solidFill>
              </a:rPr>
              <a:t>JUnit · ArchUnit · Flutter test · OpenAPI contract-parity tests · Compose · Maven</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My focus: 9 families, 14 mini-games</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7 Personal contribution</a:t>
            </a:r>
            <a:endParaRPr lang="en-US" sz="1000" dirty="0"/>
          </a:p>
        </p:txBody>
      </p:sp>
      <p:sp>
        <p:nvSpPr>
          <p:cNvPr id="4" name="family Planifik"/>
          <p:cNvSpPr/>
          <p:nvPr/>
        </p:nvSpPr>
        <p:spPr>
          <a:xfrm>
            <a:off x="548640" y="1463040"/>
            <a:ext cx="3515258" cy="1371600"/>
          </a:xfrm>
          <a:prstGeom prst="roundRect">
            <a:avLst>
              <a:gd name="adj" fmla="val 8000"/>
            </a:avLst>
          </a:prstGeom>
          <a:solidFill>
            <a:schemeClr val="bg2"/>
          </a:solidFill>
          <a:ln/>
        </p:spPr>
      </p:sp>
      <p:sp>
        <p:nvSpPr>
          <p:cNvPr id="5" name="Planifik circle"/>
          <p:cNvSpPr/>
          <p:nvPr/>
        </p:nvSpPr>
        <p:spPr>
          <a:xfrm>
            <a:off x="777240" y="1719072"/>
            <a:ext cx="548640" cy="548640"/>
          </a:xfrm>
          <a:prstGeom prst="ellipse">
            <a:avLst/>
          </a:prstGeom>
          <a:solidFill>
            <a:schemeClr val="accent2"/>
          </a:solidFill>
          <a:ln/>
        </p:spPr>
      </p:sp>
      <p:pic>
        <p:nvPicPr>
          <p:cNvPr id="6" name="Planifik icon" descr="Planifik">    </p:cNvPr>
          <p:cNvPicPr>
            <a:picLocks noChangeAspect="1"/>
          </p:cNvPicPr>
          <p:nvPr/>
        </p:nvPicPr>
        <p:blipFill>
          <a:blip r:embed="rId1"/>
          <a:stretch>
            <a:fillRect/>
          </a:stretch>
        </p:blipFill>
        <p:spPr>
          <a:xfrm>
            <a:off x="914400" y="1856232"/>
            <a:ext cx="274320" cy="274320"/>
          </a:xfrm>
          <a:prstGeom prst="rect">
            <a:avLst/>
          </a:prstGeom>
        </p:spPr>
      </p:pic>
      <p:sp>
        <p:nvSpPr>
          <p:cNvPr id="7" name="Text 4"/>
          <p:cNvSpPr txBox="1"/>
          <p:nvPr/>
        </p:nvSpPr>
        <p:spPr>
          <a:xfrm>
            <a:off x="1508760" y="1691640"/>
            <a:ext cx="2326538" cy="347472"/>
          </a:xfrm>
          <a:prstGeom prst="rect">
            <a:avLst/>
          </a:prstGeom>
          <a:noFill/>
          <a:ln/>
        </p:spPr>
        <p:txBody>
          <a:bodyPr wrap="square" lIns="0" tIns="0" rIns="0" bIns="0" rtlCol="0" anchor="t"/>
          <a:lstStyle/>
          <a:p>
            <a:pPr indent="0" marL="0">
              <a:buNone/>
            </a:pPr>
            <a:r>
              <a:rPr lang="en-US" sz="1600" b="1" dirty="0">
                <a:solidFill>
                  <a:schemeClr val="tx2"/>
                </a:solidFill>
              </a:rPr>
              <a:t>Planifik</a:t>
            </a:r>
            <a:endParaRPr lang="en-US" sz="1600" dirty="0"/>
          </a:p>
        </p:txBody>
      </p:sp>
      <p:sp>
        <p:nvSpPr>
          <p:cNvPr id="8" name="Text 5"/>
          <p:cNvSpPr txBox="1"/>
          <p:nvPr/>
        </p:nvSpPr>
        <p:spPr>
          <a:xfrm>
            <a:off x="1508760" y="2066544"/>
            <a:ext cx="2326538" cy="640080"/>
          </a:xfrm>
          <a:prstGeom prst="rect">
            <a:avLst/>
          </a:prstGeom>
          <a:noFill/>
          <a:ln/>
        </p:spPr>
        <p:txBody>
          <a:bodyPr wrap="square" lIns="0" tIns="0" rIns="0" bIns="0" rtlCol="0" anchor="t"/>
          <a:lstStyle/>
          <a:p>
            <a:pPr indent="0" marL="0">
              <a:buNone/>
            </a:pPr>
            <a:r>
              <a:rPr lang="en-US" sz="1400" dirty="0">
                <a:solidFill>
                  <a:schemeClr val="tx1"/>
                </a:solidFill>
              </a:rPr>
              <a:t>Optimal Path · Task Scheduling · Predictive Puzzle</a:t>
            </a:r>
            <a:endParaRPr lang="en-US" sz="1400" dirty="0"/>
          </a:p>
        </p:txBody>
      </p:sp>
      <p:sp>
        <p:nvSpPr>
          <p:cNvPr id="9" name="family Move Fast"/>
          <p:cNvSpPr/>
          <p:nvPr/>
        </p:nvSpPr>
        <p:spPr>
          <a:xfrm>
            <a:off x="4338218" y="1463040"/>
            <a:ext cx="3515258" cy="1371600"/>
          </a:xfrm>
          <a:prstGeom prst="roundRect">
            <a:avLst>
              <a:gd name="adj" fmla="val 8000"/>
            </a:avLst>
          </a:prstGeom>
          <a:solidFill>
            <a:schemeClr val="bg2"/>
          </a:solidFill>
          <a:ln/>
        </p:spPr>
      </p:sp>
      <p:sp>
        <p:nvSpPr>
          <p:cNvPr id="10" name="Move Fast circle"/>
          <p:cNvSpPr/>
          <p:nvPr/>
        </p:nvSpPr>
        <p:spPr>
          <a:xfrm>
            <a:off x="4566818" y="1719072"/>
            <a:ext cx="548640" cy="548640"/>
          </a:xfrm>
          <a:prstGeom prst="ellipse">
            <a:avLst/>
          </a:prstGeom>
          <a:solidFill>
            <a:schemeClr val="tx2"/>
          </a:solidFill>
          <a:ln/>
        </p:spPr>
      </p:sp>
      <p:pic>
        <p:nvPicPr>
          <p:cNvPr id="11" name="Move Fast icon" descr="Move Fast">    </p:cNvPr>
          <p:cNvPicPr>
            <a:picLocks noChangeAspect="1"/>
          </p:cNvPicPr>
          <p:nvPr/>
        </p:nvPicPr>
        <p:blipFill>
          <a:blip r:embed="rId2"/>
          <a:stretch>
            <a:fillRect/>
          </a:stretch>
        </p:blipFill>
        <p:spPr>
          <a:xfrm>
            <a:off x="4703978" y="1856232"/>
            <a:ext cx="274320" cy="274320"/>
          </a:xfrm>
          <a:prstGeom prst="rect">
            <a:avLst/>
          </a:prstGeom>
        </p:spPr>
      </p:pic>
      <p:sp>
        <p:nvSpPr>
          <p:cNvPr id="12" name="Text 8"/>
          <p:cNvSpPr txBox="1"/>
          <p:nvPr/>
        </p:nvSpPr>
        <p:spPr>
          <a:xfrm>
            <a:off x="5298338" y="1691640"/>
            <a:ext cx="2326538" cy="347472"/>
          </a:xfrm>
          <a:prstGeom prst="rect">
            <a:avLst/>
          </a:prstGeom>
          <a:noFill/>
          <a:ln/>
        </p:spPr>
        <p:txBody>
          <a:bodyPr wrap="square" lIns="0" tIns="0" rIns="0" bIns="0" rtlCol="0" anchor="t"/>
          <a:lstStyle/>
          <a:p>
            <a:pPr indent="0" marL="0">
              <a:buNone/>
            </a:pPr>
            <a:r>
              <a:rPr lang="en-US" sz="1600" b="1" dirty="0">
                <a:solidFill>
                  <a:schemeClr val="tx2"/>
                </a:solidFill>
              </a:rPr>
              <a:t>Move Fast</a:t>
            </a:r>
            <a:endParaRPr lang="en-US" sz="1600" dirty="0"/>
          </a:p>
        </p:txBody>
      </p:sp>
      <p:sp>
        <p:nvSpPr>
          <p:cNvPr id="13" name="Text 9"/>
          <p:cNvSpPr txBox="1"/>
          <p:nvPr/>
        </p:nvSpPr>
        <p:spPr>
          <a:xfrm>
            <a:off x="5298338" y="2066544"/>
            <a:ext cx="2326538" cy="640080"/>
          </a:xfrm>
          <a:prstGeom prst="rect">
            <a:avLst/>
          </a:prstGeom>
          <a:noFill/>
          <a:ln/>
        </p:spPr>
        <p:txBody>
          <a:bodyPr wrap="square" lIns="0" tIns="0" rIns="0" bIns="0" rtlCol="0" anchor="t"/>
          <a:lstStyle/>
          <a:p>
            <a:pPr indent="0" marL="0">
              <a:buNone/>
            </a:pPr>
            <a:r>
              <a:rPr lang="en-US" sz="1400" dirty="0">
                <a:solidFill>
                  <a:schemeClr val="tx1"/>
                </a:solidFill>
              </a:rPr>
              <a:t>Move Fast Core</a:t>
            </a:r>
            <a:endParaRPr lang="en-US" sz="1400" dirty="0"/>
          </a:p>
        </p:txBody>
      </p:sp>
      <p:sp>
        <p:nvSpPr>
          <p:cNvPr id="14" name="family Memory Quest"/>
          <p:cNvSpPr/>
          <p:nvPr/>
        </p:nvSpPr>
        <p:spPr>
          <a:xfrm>
            <a:off x="8127797" y="1463040"/>
            <a:ext cx="3515258" cy="1371600"/>
          </a:xfrm>
          <a:prstGeom prst="roundRect">
            <a:avLst>
              <a:gd name="adj" fmla="val 8000"/>
            </a:avLst>
          </a:prstGeom>
          <a:solidFill>
            <a:schemeClr val="bg2"/>
          </a:solidFill>
          <a:ln/>
        </p:spPr>
      </p:sp>
      <p:sp>
        <p:nvSpPr>
          <p:cNvPr id="15" name="Memory Quest circle"/>
          <p:cNvSpPr/>
          <p:nvPr/>
        </p:nvSpPr>
        <p:spPr>
          <a:xfrm>
            <a:off x="8356397" y="1719072"/>
            <a:ext cx="548640" cy="548640"/>
          </a:xfrm>
          <a:prstGeom prst="ellipse">
            <a:avLst/>
          </a:prstGeom>
          <a:solidFill>
            <a:schemeClr val="tx2"/>
          </a:solidFill>
          <a:ln/>
        </p:spPr>
      </p:sp>
      <p:pic>
        <p:nvPicPr>
          <p:cNvPr id="16" name="Memory Quest icon" descr="Memory Quest">    </p:cNvPr>
          <p:cNvPicPr>
            <a:picLocks noChangeAspect="1"/>
          </p:cNvPicPr>
          <p:nvPr/>
        </p:nvPicPr>
        <p:blipFill>
          <a:blip r:embed="rId3"/>
          <a:stretch>
            <a:fillRect/>
          </a:stretch>
        </p:blipFill>
        <p:spPr>
          <a:xfrm>
            <a:off x="8493557" y="1856232"/>
            <a:ext cx="274320" cy="274320"/>
          </a:xfrm>
          <a:prstGeom prst="rect">
            <a:avLst/>
          </a:prstGeom>
        </p:spPr>
      </p:pic>
      <p:sp>
        <p:nvSpPr>
          <p:cNvPr id="17" name="Text 12"/>
          <p:cNvSpPr txBox="1"/>
          <p:nvPr/>
        </p:nvSpPr>
        <p:spPr>
          <a:xfrm>
            <a:off x="9087917" y="1691640"/>
            <a:ext cx="2326538" cy="347472"/>
          </a:xfrm>
          <a:prstGeom prst="rect">
            <a:avLst/>
          </a:prstGeom>
          <a:noFill/>
          <a:ln/>
        </p:spPr>
        <p:txBody>
          <a:bodyPr wrap="square" lIns="0" tIns="0" rIns="0" bIns="0" rtlCol="0" anchor="t"/>
          <a:lstStyle/>
          <a:p>
            <a:pPr indent="0" marL="0">
              <a:buNone/>
            </a:pPr>
            <a:r>
              <a:rPr lang="en-US" sz="1600" b="1" dirty="0">
                <a:solidFill>
                  <a:schemeClr val="tx2"/>
                </a:solidFill>
              </a:rPr>
              <a:t>Memory Quest</a:t>
            </a:r>
            <a:endParaRPr lang="en-US" sz="1600" dirty="0"/>
          </a:p>
        </p:txBody>
      </p:sp>
      <p:sp>
        <p:nvSpPr>
          <p:cNvPr id="18" name="Text 13"/>
          <p:cNvSpPr txBox="1"/>
          <p:nvPr/>
        </p:nvSpPr>
        <p:spPr>
          <a:xfrm>
            <a:off x="9087917" y="2066544"/>
            <a:ext cx="2326538" cy="640080"/>
          </a:xfrm>
          <a:prstGeom prst="rect">
            <a:avLst/>
          </a:prstGeom>
          <a:noFill/>
          <a:ln/>
        </p:spPr>
        <p:txBody>
          <a:bodyPr wrap="square" lIns="0" tIns="0" rIns="0" bIns="0" rtlCol="0" anchor="t"/>
          <a:lstStyle/>
          <a:p>
            <a:pPr indent="0" marL="0">
              <a:buNone/>
            </a:pPr>
            <a:r>
              <a:rPr lang="en-US" sz="1400" dirty="0">
                <a:solidFill>
                  <a:schemeClr val="tx1"/>
                </a:solidFill>
              </a:rPr>
              <a:t>I Investigate</a:t>
            </a:r>
            <a:endParaRPr lang="en-US" sz="1400" dirty="0"/>
          </a:p>
        </p:txBody>
      </p:sp>
      <p:sp>
        <p:nvSpPr>
          <p:cNvPr id="19" name="family Decision"/>
          <p:cNvSpPr/>
          <p:nvPr/>
        </p:nvSpPr>
        <p:spPr>
          <a:xfrm>
            <a:off x="548640" y="3017520"/>
            <a:ext cx="3515258" cy="1371600"/>
          </a:xfrm>
          <a:prstGeom prst="roundRect">
            <a:avLst>
              <a:gd name="adj" fmla="val 8000"/>
            </a:avLst>
          </a:prstGeom>
          <a:solidFill>
            <a:schemeClr val="bg2"/>
          </a:solidFill>
          <a:ln/>
        </p:spPr>
      </p:sp>
      <p:sp>
        <p:nvSpPr>
          <p:cNvPr id="20" name="Decision circle"/>
          <p:cNvSpPr/>
          <p:nvPr/>
        </p:nvSpPr>
        <p:spPr>
          <a:xfrm>
            <a:off x="777240" y="3273552"/>
            <a:ext cx="548640" cy="548640"/>
          </a:xfrm>
          <a:prstGeom prst="ellipse">
            <a:avLst/>
          </a:prstGeom>
          <a:solidFill>
            <a:schemeClr val="tx2"/>
          </a:solidFill>
          <a:ln/>
        </p:spPr>
      </p:sp>
      <p:pic>
        <p:nvPicPr>
          <p:cNvPr id="21" name="Decision icon" descr="Decision">    </p:cNvPr>
          <p:cNvPicPr>
            <a:picLocks noChangeAspect="1"/>
          </p:cNvPicPr>
          <p:nvPr/>
        </p:nvPicPr>
        <p:blipFill>
          <a:blip r:embed="rId4"/>
          <a:stretch>
            <a:fillRect/>
          </a:stretch>
        </p:blipFill>
        <p:spPr>
          <a:xfrm>
            <a:off x="914400" y="3410712"/>
            <a:ext cx="274320" cy="274320"/>
          </a:xfrm>
          <a:prstGeom prst="rect">
            <a:avLst/>
          </a:prstGeom>
        </p:spPr>
      </p:pic>
      <p:sp>
        <p:nvSpPr>
          <p:cNvPr id="22" name="Text 16"/>
          <p:cNvSpPr txBox="1"/>
          <p:nvPr/>
        </p:nvSpPr>
        <p:spPr>
          <a:xfrm>
            <a:off x="1508760" y="3246120"/>
            <a:ext cx="2326538" cy="347472"/>
          </a:xfrm>
          <a:prstGeom prst="rect">
            <a:avLst/>
          </a:prstGeom>
          <a:noFill/>
          <a:ln/>
        </p:spPr>
        <p:txBody>
          <a:bodyPr wrap="square" lIns="0" tIns="0" rIns="0" bIns="0" rtlCol="0" anchor="t"/>
          <a:lstStyle/>
          <a:p>
            <a:pPr indent="0" marL="0">
              <a:buNone/>
            </a:pPr>
            <a:r>
              <a:rPr lang="en-US" sz="1600" b="1" dirty="0">
                <a:solidFill>
                  <a:schemeClr val="tx2"/>
                </a:solidFill>
              </a:rPr>
              <a:t>Decision</a:t>
            </a:r>
            <a:endParaRPr lang="en-US" sz="1600" dirty="0"/>
          </a:p>
        </p:txBody>
      </p:sp>
      <p:sp>
        <p:nvSpPr>
          <p:cNvPr id="23" name="Text 17"/>
          <p:cNvSpPr txBox="1"/>
          <p:nvPr/>
        </p:nvSpPr>
        <p:spPr>
          <a:xfrm>
            <a:off x="1508760" y="3621024"/>
            <a:ext cx="2326538" cy="640080"/>
          </a:xfrm>
          <a:prstGeom prst="rect">
            <a:avLst/>
          </a:prstGeom>
          <a:noFill/>
          <a:ln/>
        </p:spPr>
        <p:txBody>
          <a:bodyPr wrap="square" lIns="0" tIns="0" rIns="0" bIns="0" rtlCol="0" anchor="t"/>
          <a:lstStyle/>
          <a:p>
            <a:pPr indent="0" marL="0">
              <a:buNone/>
            </a:pPr>
            <a:r>
              <a:rPr lang="en-US" sz="1400" dirty="0">
                <a:solidFill>
                  <a:schemeClr val="tx1"/>
                </a:solidFill>
              </a:rPr>
              <a:t>I Decide</a:t>
            </a:r>
            <a:endParaRPr lang="en-US" sz="1400" dirty="0"/>
          </a:p>
        </p:txBody>
      </p:sp>
      <p:sp>
        <p:nvSpPr>
          <p:cNvPr id="24" name="family Emotional Regulation"/>
          <p:cNvSpPr/>
          <p:nvPr/>
        </p:nvSpPr>
        <p:spPr>
          <a:xfrm>
            <a:off x="4338218" y="3017520"/>
            <a:ext cx="3515258" cy="1371600"/>
          </a:xfrm>
          <a:prstGeom prst="roundRect">
            <a:avLst>
              <a:gd name="adj" fmla="val 8000"/>
            </a:avLst>
          </a:prstGeom>
          <a:solidFill>
            <a:schemeClr val="bg2"/>
          </a:solidFill>
          <a:ln/>
        </p:spPr>
      </p:sp>
      <p:sp>
        <p:nvSpPr>
          <p:cNvPr id="25" name="Emotional Regulation circle"/>
          <p:cNvSpPr/>
          <p:nvPr/>
        </p:nvSpPr>
        <p:spPr>
          <a:xfrm>
            <a:off x="4566818" y="3273552"/>
            <a:ext cx="548640" cy="548640"/>
          </a:xfrm>
          <a:prstGeom prst="ellipse">
            <a:avLst/>
          </a:prstGeom>
          <a:solidFill>
            <a:schemeClr val="accent2"/>
          </a:solidFill>
          <a:ln/>
        </p:spPr>
      </p:sp>
      <p:pic>
        <p:nvPicPr>
          <p:cNvPr id="26" name="Emotional Regulation icon" descr="Emotional Regulation">    </p:cNvPr>
          <p:cNvPicPr>
            <a:picLocks noChangeAspect="1"/>
          </p:cNvPicPr>
          <p:nvPr/>
        </p:nvPicPr>
        <p:blipFill>
          <a:blip r:embed="rId5"/>
          <a:stretch>
            <a:fillRect/>
          </a:stretch>
        </p:blipFill>
        <p:spPr>
          <a:xfrm>
            <a:off x="4703978" y="3410712"/>
            <a:ext cx="274320" cy="274320"/>
          </a:xfrm>
          <a:prstGeom prst="rect">
            <a:avLst/>
          </a:prstGeom>
        </p:spPr>
      </p:pic>
      <p:sp>
        <p:nvSpPr>
          <p:cNvPr id="27" name="Text 20"/>
          <p:cNvSpPr txBox="1"/>
          <p:nvPr/>
        </p:nvSpPr>
        <p:spPr>
          <a:xfrm>
            <a:off x="5298338" y="3246120"/>
            <a:ext cx="2326538" cy="347472"/>
          </a:xfrm>
          <a:prstGeom prst="rect">
            <a:avLst/>
          </a:prstGeom>
          <a:noFill/>
          <a:ln/>
        </p:spPr>
        <p:txBody>
          <a:bodyPr wrap="square" lIns="0" tIns="0" rIns="0" bIns="0" rtlCol="0" anchor="t"/>
          <a:lstStyle/>
          <a:p>
            <a:pPr indent="0" marL="0">
              <a:buNone/>
            </a:pPr>
            <a:r>
              <a:rPr lang="en-US" sz="1600" b="1" dirty="0">
                <a:solidFill>
                  <a:schemeClr val="tx2"/>
                </a:solidFill>
              </a:rPr>
              <a:t>Emotional Regulation</a:t>
            </a:r>
            <a:endParaRPr lang="en-US" sz="1600" dirty="0"/>
          </a:p>
        </p:txBody>
      </p:sp>
      <p:sp>
        <p:nvSpPr>
          <p:cNvPr id="28" name="Text 21"/>
          <p:cNvSpPr txBox="1"/>
          <p:nvPr/>
        </p:nvSpPr>
        <p:spPr>
          <a:xfrm>
            <a:off x="5298338" y="3621024"/>
            <a:ext cx="2326538" cy="640080"/>
          </a:xfrm>
          <a:prstGeom prst="rect">
            <a:avLst/>
          </a:prstGeom>
          <a:noFill/>
          <a:ln/>
        </p:spPr>
        <p:txBody>
          <a:bodyPr wrap="square" lIns="0" tIns="0" rIns="0" bIns="0" rtlCol="0" anchor="t"/>
          <a:lstStyle/>
          <a:p>
            <a:pPr indent="0" marL="0">
              <a:buNone/>
            </a:pPr>
            <a:r>
              <a:rPr lang="en-US" sz="1400" dirty="0">
                <a:solidFill>
                  <a:schemeClr val="tx1"/>
                </a:solidFill>
              </a:rPr>
              <a:t>Emotional Radar · Reflective Pause · Strategic Choices</a:t>
            </a:r>
            <a:endParaRPr lang="en-US" sz="1400" dirty="0"/>
          </a:p>
        </p:txBody>
      </p:sp>
      <p:sp>
        <p:nvSpPr>
          <p:cNvPr id="29" name="family Continuous Attention"/>
          <p:cNvSpPr/>
          <p:nvPr/>
        </p:nvSpPr>
        <p:spPr>
          <a:xfrm>
            <a:off x="8127797" y="3017520"/>
            <a:ext cx="3515258" cy="1371600"/>
          </a:xfrm>
          <a:prstGeom prst="roundRect">
            <a:avLst>
              <a:gd name="adj" fmla="val 8000"/>
            </a:avLst>
          </a:prstGeom>
          <a:solidFill>
            <a:schemeClr val="bg2"/>
          </a:solidFill>
          <a:ln/>
        </p:spPr>
      </p:sp>
      <p:sp>
        <p:nvSpPr>
          <p:cNvPr id="30" name="Continuous Attention circle"/>
          <p:cNvSpPr/>
          <p:nvPr/>
        </p:nvSpPr>
        <p:spPr>
          <a:xfrm>
            <a:off x="8356397" y="3273552"/>
            <a:ext cx="548640" cy="548640"/>
          </a:xfrm>
          <a:prstGeom prst="ellipse">
            <a:avLst/>
          </a:prstGeom>
          <a:solidFill>
            <a:schemeClr val="tx2"/>
          </a:solidFill>
          <a:ln/>
        </p:spPr>
      </p:sp>
      <p:pic>
        <p:nvPicPr>
          <p:cNvPr id="31" name="Continuous Attention icon" descr="Continuous Attention">    </p:cNvPr>
          <p:cNvPicPr>
            <a:picLocks noChangeAspect="1"/>
          </p:cNvPicPr>
          <p:nvPr/>
        </p:nvPicPr>
        <p:blipFill>
          <a:blip r:embed="rId6"/>
          <a:stretch>
            <a:fillRect/>
          </a:stretch>
        </p:blipFill>
        <p:spPr>
          <a:xfrm>
            <a:off x="8493557" y="3410712"/>
            <a:ext cx="274320" cy="274320"/>
          </a:xfrm>
          <a:prstGeom prst="rect">
            <a:avLst/>
          </a:prstGeom>
        </p:spPr>
      </p:pic>
      <p:sp>
        <p:nvSpPr>
          <p:cNvPr id="32" name="Text 24"/>
          <p:cNvSpPr txBox="1"/>
          <p:nvPr/>
        </p:nvSpPr>
        <p:spPr>
          <a:xfrm>
            <a:off x="9087917" y="3246120"/>
            <a:ext cx="2326538" cy="347472"/>
          </a:xfrm>
          <a:prstGeom prst="rect">
            <a:avLst/>
          </a:prstGeom>
          <a:noFill/>
          <a:ln/>
        </p:spPr>
        <p:txBody>
          <a:bodyPr wrap="square" lIns="0" tIns="0" rIns="0" bIns="0" rtlCol="0" anchor="t"/>
          <a:lstStyle/>
          <a:p>
            <a:pPr indent="0" marL="0">
              <a:buNone/>
            </a:pPr>
            <a:r>
              <a:rPr lang="en-US" sz="1600" b="1" dirty="0">
                <a:solidFill>
                  <a:schemeClr val="tx2"/>
                </a:solidFill>
              </a:rPr>
              <a:t>Continuous Attention</a:t>
            </a:r>
            <a:endParaRPr lang="en-US" sz="1600" dirty="0"/>
          </a:p>
        </p:txBody>
      </p:sp>
      <p:sp>
        <p:nvSpPr>
          <p:cNvPr id="33" name="Text 25"/>
          <p:cNvSpPr txBox="1"/>
          <p:nvPr/>
        </p:nvSpPr>
        <p:spPr>
          <a:xfrm>
            <a:off x="9087917" y="3621024"/>
            <a:ext cx="2326538" cy="640080"/>
          </a:xfrm>
          <a:prstGeom prst="rect">
            <a:avLst/>
          </a:prstGeom>
          <a:noFill/>
          <a:ln/>
        </p:spPr>
        <p:txBody>
          <a:bodyPr wrap="square" lIns="0" tIns="0" rIns="0" bIns="0" rtlCol="0" anchor="t"/>
          <a:lstStyle/>
          <a:p>
            <a:pPr indent="0" marL="0">
              <a:buNone/>
            </a:pPr>
            <a:r>
              <a:rPr lang="en-US" sz="1400" dirty="0">
                <a:solidFill>
                  <a:schemeClr val="tx1"/>
                </a:solidFill>
              </a:rPr>
              <a:t>I Continue</a:t>
            </a:r>
            <a:endParaRPr lang="en-US" sz="1400" dirty="0"/>
          </a:p>
        </p:txBody>
      </p:sp>
      <p:sp>
        <p:nvSpPr>
          <p:cNvPr id="34" name="family Visuomotor Coordination"/>
          <p:cNvSpPr/>
          <p:nvPr/>
        </p:nvSpPr>
        <p:spPr>
          <a:xfrm>
            <a:off x="548640" y="4572000"/>
            <a:ext cx="3515258" cy="1371600"/>
          </a:xfrm>
          <a:prstGeom prst="roundRect">
            <a:avLst>
              <a:gd name="adj" fmla="val 8000"/>
            </a:avLst>
          </a:prstGeom>
          <a:solidFill>
            <a:schemeClr val="bg2"/>
          </a:solidFill>
          <a:ln/>
        </p:spPr>
      </p:sp>
      <p:sp>
        <p:nvSpPr>
          <p:cNvPr id="35" name="Visuomotor Coordination circle"/>
          <p:cNvSpPr/>
          <p:nvPr/>
        </p:nvSpPr>
        <p:spPr>
          <a:xfrm>
            <a:off x="777240" y="4828032"/>
            <a:ext cx="548640" cy="548640"/>
          </a:xfrm>
          <a:prstGeom prst="ellipse">
            <a:avLst/>
          </a:prstGeom>
          <a:solidFill>
            <a:schemeClr val="tx2"/>
          </a:solidFill>
          <a:ln/>
        </p:spPr>
      </p:sp>
      <p:pic>
        <p:nvPicPr>
          <p:cNvPr id="36" name="Visuomotor Coordination icon" descr="Visuomotor Coordination">    </p:cNvPr>
          <p:cNvPicPr>
            <a:picLocks noChangeAspect="1"/>
          </p:cNvPicPr>
          <p:nvPr/>
        </p:nvPicPr>
        <p:blipFill>
          <a:blip r:embed="rId7"/>
          <a:stretch>
            <a:fillRect/>
          </a:stretch>
        </p:blipFill>
        <p:spPr>
          <a:xfrm>
            <a:off x="914400" y="4965192"/>
            <a:ext cx="274320" cy="274320"/>
          </a:xfrm>
          <a:prstGeom prst="rect">
            <a:avLst/>
          </a:prstGeom>
        </p:spPr>
      </p:pic>
      <p:sp>
        <p:nvSpPr>
          <p:cNvPr id="37" name="Text 28"/>
          <p:cNvSpPr txBox="1"/>
          <p:nvPr/>
        </p:nvSpPr>
        <p:spPr>
          <a:xfrm>
            <a:off x="1508760" y="4800600"/>
            <a:ext cx="2326538" cy="347472"/>
          </a:xfrm>
          <a:prstGeom prst="rect">
            <a:avLst/>
          </a:prstGeom>
          <a:noFill/>
          <a:ln/>
        </p:spPr>
        <p:txBody>
          <a:bodyPr wrap="square" lIns="0" tIns="0" rIns="0" bIns="0" rtlCol="0" anchor="t"/>
          <a:lstStyle/>
          <a:p>
            <a:pPr indent="0" marL="0">
              <a:buNone/>
            </a:pPr>
            <a:r>
              <a:rPr lang="en-US" sz="1600" b="1" dirty="0">
                <a:solidFill>
                  <a:schemeClr val="tx2"/>
                </a:solidFill>
              </a:rPr>
              <a:t>Visuomotor Coordination</a:t>
            </a:r>
            <a:endParaRPr lang="en-US" sz="1600" dirty="0"/>
          </a:p>
        </p:txBody>
      </p:sp>
      <p:sp>
        <p:nvSpPr>
          <p:cNvPr id="38" name="Text 29"/>
          <p:cNvSpPr txBox="1"/>
          <p:nvPr/>
        </p:nvSpPr>
        <p:spPr>
          <a:xfrm>
            <a:off x="1508760" y="5175504"/>
            <a:ext cx="2326538" cy="640080"/>
          </a:xfrm>
          <a:prstGeom prst="rect">
            <a:avLst/>
          </a:prstGeom>
          <a:noFill/>
          <a:ln/>
        </p:spPr>
        <p:txBody>
          <a:bodyPr wrap="square" lIns="0" tIns="0" rIns="0" bIns="0" rtlCol="0" anchor="t"/>
          <a:lstStyle/>
          <a:p>
            <a:pPr indent="0" marL="0">
              <a:buNone/>
            </a:pPr>
            <a:r>
              <a:rPr lang="en-US" sz="1400" dirty="0">
                <a:solidFill>
                  <a:schemeClr val="tx1"/>
                </a:solidFill>
              </a:rPr>
              <a:t>I Coordinate</a:t>
            </a:r>
            <a:endParaRPr lang="en-US" sz="1400" dirty="0"/>
          </a:p>
        </p:txBody>
      </p:sp>
      <p:sp>
        <p:nvSpPr>
          <p:cNvPr id="39" name="family Visuospatial Memory"/>
          <p:cNvSpPr/>
          <p:nvPr/>
        </p:nvSpPr>
        <p:spPr>
          <a:xfrm>
            <a:off x="4338218" y="4572000"/>
            <a:ext cx="3515258" cy="1371600"/>
          </a:xfrm>
          <a:prstGeom prst="roundRect">
            <a:avLst>
              <a:gd name="adj" fmla="val 8000"/>
            </a:avLst>
          </a:prstGeom>
          <a:solidFill>
            <a:schemeClr val="bg2"/>
          </a:solidFill>
          <a:ln/>
        </p:spPr>
      </p:sp>
      <p:sp>
        <p:nvSpPr>
          <p:cNvPr id="40" name="Visuospatial Memory circle"/>
          <p:cNvSpPr/>
          <p:nvPr/>
        </p:nvSpPr>
        <p:spPr>
          <a:xfrm>
            <a:off x="4566818" y="4828032"/>
            <a:ext cx="548640" cy="548640"/>
          </a:xfrm>
          <a:prstGeom prst="ellipse">
            <a:avLst/>
          </a:prstGeom>
          <a:solidFill>
            <a:schemeClr val="tx2"/>
          </a:solidFill>
          <a:ln/>
        </p:spPr>
      </p:sp>
      <p:pic>
        <p:nvPicPr>
          <p:cNvPr id="41" name="Visuospatial Memory icon" descr="Visuospatial Memory">    </p:cNvPr>
          <p:cNvPicPr>
            <a:picLocks noChangeAspect="1"/>
          </p:cNvPicPr>
          <p:nvPr/>
        </p:nvPicPr>
        <p:blipFill>
          <a:blip r:embed="rId8"/>
          <a:stretch>
            <a:fillRect/>
          </a:stretch>
        </p:blipFill>
        <p:spPr>
          <a:xfrm>
            <a:off x="4703978" y="4965192"/>
            <a:ext cx="274320" cy="274320"/>
          </a:xfrm>
          <a:prstGeom prst="rect">
            <a:avLst/>
          </a:prstGeom>
        </p:spPr>
      </p:pic>
      <p:sp>
        <p:nvSpPr>
          <p:cNvPr id="42" name="Text 32"/>
          <p:cNvSpPr txBox="1"/>
          <p:nvPr/>
        </p:nvSpPr>
        <p:spPr>
          <a:xfrm>
            <a:off x="5298338" y="4800600"/>
            <a:ext cx="2326538" cy="347472"/>
          </a:xfrm>
          <a:prstGeom prst="rect">
            <a:avLst/>
          </a:prstGeom>
          <a:noFill/>
          <a:ln/>
        </p:spPr>
        <p:txBody>
          <a:bodyPr wrap="square" lIns="0" tIns="0" rIns="0" bIns="0" rtlCol="0" anchor="t"/>
          <a:lstStyle/>
          <a:p>
            <a:pPr indent="0" marL="0">
              <a:buNone/>
            </a:pPr>
            <a:r>
              <a:rPr lang="en-US" sz="1600" b="1" dirty="0">
                <a:solidFill>
                  <a:schemeClr val="tx2"/>
                </a:solidFill>
              </a:rPr>
              <a:t>Visuospatial Memory</a:t>
            </a:r>
            <a:endParaRPr lang="en-US" sz="1600" dirty="0"/>
          </a:p>
        </p:txBody>
      </p:sp>
      <p:sp>
        <p:nvSpPr>
          <p:cNvPr id="43" name="Text 33"/>
          <p:cNvSpPr txBox="1"/>
          <p:nvPr/>
        </p:nvSpPr>
        <p:spPr>
          <a:xfrm>
            <a:off x="5298338" y="5175504"/>
            <a:ext cx="2326538" cy="640080"/>
          </a:xfrm>
          <a:prstGeom prst="rect">
            <a:avLst/>
          </a:prstGeom>
          <a:noFill/>
          <a:ln/>
        </p:spPr>
        <p:txBody>
          <a:bodyPr wrap="square" lIns="0" tIns="0" rIns="0" bIns="0" rtlCol="0" anchor="t"/>
          <a:lstStyle/>
          <a:p>
            <a:pPr indent="0" marL="0">
              <a:buNone/>
            </a:pPr>
            <a:r>
              <a:rPr lang="en-US" sz="1400" dirty="0">
                <a:solidFill>
                  <a:schemeClr val="tx1"/>
                </a:solidFill>
              </a:rPr>
              <a:t>I Place</a:t>
            </a:r>
            <a:endParaRPr lang="en-US" sz="1400" dirty="0"/>
          </a:p>
        </p:txBody>
      </p:sp>
      <p:sp>
        <p:nvSpPr>
          <p:cNvPr id="44" name="family Decision Behavioral"/>
          <p:cNvSpPr/>
          <p:nvPr/>
        </p:nvSpPr>
        <p:spPr>
          <a:xfrm>
            <a:off x="8127797" y="4572000"/>
            <a:ext cx="3515258" cy="1371600"/>
          </a:xfrm>
          <a:prstGeom prst="roundRect">
            <a:avLst>
              <a:gd name="adj" fmla="val 8000"/>
            </a:avLst>
          </a:prstGeom>
          <a:solidFill>
            <a:schemeClr val="bg2"/>
          </a:solidFill>
          <a:ln/>
        </p:spPr>
      </p:sp>
      <p:sp>
        <p:nvSpPr>
          <p:cNvPr id="45" name="Decision Behavioral circle"/>
          <p:cNvSpPr/>
          <p:nvPr/>
        </p:nvSpPr>
        <p:spPr>
          <a:xfrm>
            <a:off x="8356397" y="4828032"/>
            <a:ext cx="548640" cy="548640"/>
          </a:xfrm>
          <a:prstGeom prst="ellipse">
            <a:avLst/>
          </a:prstGeom>
          <a:solidFill>
            <a:schemeClr val="accent2"/>
          </a:solidFill>
          <a:ln/>
        </p:spPr>
      </p:sp>
      <p:pic>
        <p:nvPicPr>
          <p:cNvPr id="46" name="Decision Behavioral icon" descr="Decision Behavioral">    </p:cNvPr>
          <p:cNvPicPr>
            <a:picLocks noChangeAspect="1"/>
          </p:cNvPicPr>
          <p:nvPr/>
        </p:nvPicPr>
        <p:blipFill>
          <a:blip r:embed="rId9"/>
          <a:stretch>
            <a:fillRect/>
          </a:stretch>
        </p:blipFill>
        <p:spPr>
          <a:xfrm>
            <a:off x="8493557" y="4965192"/>
            <a:ext cx="274320" cy="274320"/>
          </a:xfrm>
          <a:prstGeom prst="rect">
            <a:avLst/>
          </a:prstGeom>
        </p:spPr>
      </p:pic>
      <p:sp>
        <p:nvSpPr>
          <p:cNvPr id="47" name="Text 36"/>
          <p:cNvSpPr txBox="1"/>
          <p:nvPr/>
        </p:nvSpPr>
        <p:spPr>
          <a:xfrm>
            <a:off x="9087917" y="4800600"/>
            <a:ext cx="2326538" cy="347472"/>
          </a:xfrm>
          <a:prstGeom prst="rect">
            <a:avLst/>
          </a:prstGeom>
          <a:noFill/>
          <a:ln/>
        </p:spPr>
        <p:txBody>
          <a:bodyPr wrap="square" lIns="0" tIns="0" rIns="0" bIns="0" rtlCol="0" anchor="t"/>
          <a:lstStyle/>
          <a:p>
            <a:pPr indent="0" marL="0">
              <a:buNone/>
            </a:pPr>
            <a:r>
              <a:rPr lang="en-US" sz="1600" b="1" dirty="0">
                <a:solidFill>
                  <a:schemeClr val="tx2"/>
                </a:solidFill>
              </a:rPr>
              <a:t>Decision Behavioral</a:t>
            </a:r>
            <a:endParaRPr lang="en-US" sz="1600" dirty="0"/>
          </a:p>
        </p:txBody>
      </p:sp>
      <p:sp>
        <p:nvSpPr>
          <p:cNvPr id="48" name="Text 37"/>
          <p:cNvSpPr txBox="1"/>
          <p:nvPr/>
        </p:nvSpPr>
        <p:spPr>
          <a:xfrm>
            <a:off x="9087917" y="5175504"/>
            <a:ext cx="2326538" cy="640080"/>
          </a:xfrm>
          <a:prstGeom prst="rect">
            <a:avLst/>
          </a:prstGeom>
          <a:noFill/>
          <a:ln/>
        </p:spPr>
        <p:txBody>
          <a:bodyPr wrap="square" lIns="0" tIns="0" rIns="0" bIns="0" rtlCol="0" anchor="t"/>
          <a:lstStyle/>
          <a:p>
            <a:pPr indent="0" marL="0">
              <a:buNone/>
            </a:pPr>
            <a:r>
              <a:rPr lang="en-US" sz="1400" dirty="0">
                <a:solidFill>
                  <a:schemeClr val="tx1"/>
                </a:solidFill>
              </a:rPr>
              <a:t>BART · IST</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The client measures, the server decides</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7 Measurement and scoring pipeline</a:t>
            </a:r>
            <a:endParaRPr lang="en-US" sz="1000" dirty="0"/>
          </a:p>
        </p:txBody>
      </p:sp>
      <p:sp>
        <p:nvSpPr>
          <p:cNvPr id="4" name="step Record"/>
          <p:cNvSpPr/>
          <p:nvPr/>
        </p:nvSpPr>
        <p:spPr>
          <a:xfrm>
            <a:off x="548640" y="1508760"/>
            <a:ext cx="1999427" cy="2697480"/>
          </a:xfrm>
          <a:prstGeom prst="roundRect">
            <a:avLst>
              <a:gd name="adj" fmla="val 5488"/>
            </a:avLst>
          </a:prstGeom>
          <a:solidFill>
            <a:schemeClr val="bg1"/>
          </a:solidFill>
          <a:ln w="12700">
            <a:solidFill>
              <a:srgbClr val="EEF2F9"/>
            </a:solidFill>
            <a:prstDash val="solid"/>
          </a:ln>
          <a:effectLst>
            <a:outerShdw sx="100000" sy="100000" kx="0" ky="0" algn="bl" rotWithShape="0" blurRad="101600" dist="25400" dir="5400000">
              <a:srgbClr val="0F172A">
                <a:alpha val="12000"/>
              </a:srgbClr>
            </a:outerShdw>
          </a:effectLst>
        </p:spPr>
      </p:sp>
      <p:sp>
        <p:nvSpPr>
          <p:cNvPr id="5" name="Record circle"/>
          <p:cNvSpPr/>
          <p:nvPr/>
        </p:nvSpPr>
        <p:spPr>
          <a:xfrm>
            <a:off x="777240" y="1783080"/>
            <a:ext cx="548640" cy="548640"/>
          </a:xfrm>
          <a:prstGeom prst="ellipse">
            <a:avLst/>
          </a:prstGeom>
          <a:solidFill>
            <a:schemeClr val="accent2"/>
          </a:solidFill>
          <a:ln/>
        </p:spPr>
      </p:sp>
      <p:pic>
        <p:nvPicPr>
          <p:cNvPr id="6" name="Record icon" descr="Record">    </p:cNvPr>
          <p:cNvPicPr>
            <a:picLocks noChangeAspect="1"/>
          </p:cNvPicPr>
          <p:nvPr/>
        </p:nvPicPr>
        <p:blipFill>
          <a:blip r:embed="rId1"/>
          <a:stretch>
            <a:fillRect/>
          </a:stretch>
        </p:blipFill>
        <p:spPr>
          <a:xfrm>
            <a:off x="914400" y="1920240"/>
            <a:ext cx="274320" cy="274320"/>
          </a:xfrm>
          <a:prstGeom prst="rect">
            <a:avLst/>
          </a:prstGeom>
        </p:spPr>
      </p:pic>
      <p:sp>
        <p:nvSpPr>
          <p:cNvPr id="7" name="Text 4"/>
          <p:cNvSpPr txBox="1"/>
          <p:nvPr/>
        </p:nvSpPr>
        <p:spPr>
          <a:xfrm>
            <a:off x="777240" y="2514600"/>
            <a:ext cx="1542227" cy="365760"/>
          </a:xfrm>
          <a:prstGeom prst="rect">
            <a:avLst/>
          </a:prstGeom>
          <a:noFill/>
          <a:ln/>
        </p:spPr>
        <p:txBody>
          <a:bodyPr wrap="square" lIns="0" tIns="0" rIns="0" bIns="0" rtlCol="0" anchor="t"/>
          <a:lstStyle/>
          <a:p>
            <a:pPr indent="0" marL="0">
              <a:buNone/>
            </a:pPr>
            <a:r>
              <a:rPr lang="en-US" sz="1800" b="1" dirty="0">
                <a:solidFill>
                  <a:schemeClr val="tx2"/>
                </a:solidFill>
              </a:rPr>
              <a:t>1. Record</a:t>
            </a:r>
            <a:endParaRPr lang="en-US" sz="1800" dirty="0"/>
          </a:p>
        </p:txBody>
      </p:sp>
      <p:sp>
        <p:nvSpPr>
          <p:cNvPr id="8" name="Text 5"/>
          <p:cNvSpPr txBox="1"/>
          <p:nvPr/>
        </p:nvSpPr>
        <p:spPr>
          <a:xfrm>
            <a:off x="777240" y="2926080"/>
            <a:ext cx="1587947" cy="1143000"/>
          </a:xfrm>
          <a:prstGeom prst="rect">
            <a:avLst/>
          </a:prstGeom>
          <a:noFill/>
          <a:ln/>
        </p:spPr>
        <p:txBody>
          <a:bodyPr wrap="square" lIns="0" tIns="0" rIns="0" bIns="0" rtlCol="0" anchor="t"/>
          <a:lstStyle/>
          <a:p>
            <a:pPr indent="0" marL="0">
              <a:buNone/>
            </a:pPr>
            <a:r>
              <a:rPr lang="en-US" sz="1400" dirty="0">
                <a:solidFill>
                  <a:schemeClr val="tx1"/>
                </a:solidFill>
              </a:rPr>
              <a:t>Flutter captures actions, answers and timings</a:t>
            </a:r>
            <a:endParaRPr lang="en-US" sz="1400" dirty="0"/>
          </a:p>
        </p:txBody>
      </p:sp>
      <p:sp>
        <p:nvSpPr>
          <p:cNvPr id="9" name="Text 6"/>
          <p:cNvSpPr txBox="1"/>
          <p:nvPr/>
        </p:nvSpPr>
        <p:spPr>
          <a:xfrm>
            <a:off x="2548067" y="2514600"/>
            <a:ext cx="274320" cy="457200"/>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10" name="step Route"/>
          <p:cNvSpPr/>
          <p:nvPr/>
        </p:nvSpPr>
        <p:spPr>
          <a:xfrm>
            <a:off x="2822387" y="1508760"/>
            <a:ext cx="1999427" cy="2697480"/>
          </a:xfrm>
          <a:prstGeom prst="roundRect">
            <a:avLst>
              <a:gd name="adj" fmla="val 5488"/>
            </a:avLst>
          </a:prstGeom>
          <a:solidFill>
            <a:schemeClr val="bg2"/>
          </a:solidFill>
          <a:ln/>
        </p:spPr>
      </p:sp>
      <p:sp>
        <p:nvSpPr>
          <p:cNvPr id="11" name="Route circle"/>
          <p:cNvSpPr/>
          <p:nvPr/>
        </p:nvSpPr>
        <p:spPr>
          <a:xfrm>
            <a:off x="3050987" y="1783080"/>
            <a:ext cx="548640" cy="548640"/>
          </a:xfrm>
          <a:prstGeom prst="ellipse">
            <a:avLst/>
          </a:prstGeom>
          <a:solidFill>
            <a:schemeClr val="tx2"/>
          </a:solidFill>
          <a:ln/>
        </p:spPr>
      </p:sp>
      <p:pic>
        <p:nvPicPr>
          <p:cNvPr id="12" name="Route icon" descr="Route">    </p:cNvPr>
          <p:cNvPicPr>
            <a:picLocks noChangeAspect="1"/>
          </p:cNvPicPr>
          <p:nvPr/>
        </p:nvPicPr>
        <p:blipFill>
          <a:blip r:embed="rId2"/>
          <a:stretch>
            <a:fillRect/>
          </a:stretch>
        </p:blipFill>
        <p:spPr>
          <a:xfrm>
            <a:off x="3188147" y="1920240"/>
            <a:ext cx="274320" cy="274320"/>
          </a:xfrm>
          <a:prstGeom prst="rect">
            <a:avLst/>
          </a:prstGeom>
        </p:spPr>
      </p:pic>
      <p:sp>
        <p:nvSpPr>
          <p:cNvPr id="13" name="Text 9"/>
          <p:cNvSpPr txBox="1"/>
          <p:nvPr/>
        </p:nvSpPr>
        <p:spPr>
          <a:xfrm>
            <a:off x="3050987" y="2514600"/>
            <a:ext cx="1542227" cy="365760"/>
          </a:xfrm>
          <a:prstGeom prst="rect">
            <a:avLst/>
          </a:prstGeom>
          <a:noFill/>
          <a:ln/>
        </p:spPr>
        <p:txBody>
          <a:bodyPr wrap="square" lIns="0" tIns="0" rIns="0" bIns="0" rtlCol="0" anchor="t"/>
          <a:lstStyle/>
          <a:p>
            <a:pPr indent="0" marL="0">
              <a:buNone/>
            </a:pPr>
            <a:r>
              <a:rPr lang="en-US" sz="1800" b="1" dirty="0">
                <a:solidFill>
                  <a:schemeClr val="tx2"/>
                </a:solidFill>
              </a:rPr>
              <a:t>2. Route</a:t>
            </a:r>
            <a:endParaRPr lang="en-US" sz="1800" dirty="0"/>
          </a:p>
        </p:txBody>
      </p:sp>
      <p:sp>
        <p:nvSpPr>
          <p:cNvPr id="14" name="Text 10"/>
          <p:cNvSpPr txBox="1"/>
          <p:nvPr/>
        </p:nvSpPr>
        <p:spPr>
          <a:xfrm>
            <a:off x="3050987" y="2926080"/>
            <a:ext cx="1587947" cy="1143000"/>
          </a:xfrm>
          <a:prstGeom prst="rect">
            <a:avLst/>
          </a:prstGeom>
          <a:noFill/>
          <a:ln/>
        </p:spPr>
        <p:txBody>
          <a:bodyPr wrap="square" lIns="0" tIns="0" rIns="0" bIns="0" rtlCol="0" anchor="t"/>
          <a:lstStyle/>
          <a:p>
            <a:pPr indent="0" marL="0">
              <a:buNone/>
            </a:pPr>
            <a:r>
              <a:rPr lang="en-US" sz="1400" dirty="0">
                <a:solidFill>
                  <a:schemeClr val="tx1"/>
                </a:solidFill>
              </a:rPr>
              <a:t>The mini-game ID selects the measurement schema</a:t>
            </a:r>
            <a:endParaRPr lang="en-US" sz="1400" dirty="0"/>
          </a:p>
        </p:txBody>
      </p:sp>
      <p:sp>
        <p:nvSpPr>
          <p:cNvPr id="15" name="Text 11"/>
          <p:cNvSpPr txBox="1"/>
          <p:nvPr/>
        </p:nvSpPr>
        <p:spPr>
          <a:xfrm>
            <a:off x="4821814" y="2514600"/>
            <a:ext cx="274320" cy="457200"/>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16" name="step Check"/>
          <p:cNvSpPr/>
          <p:nvPr/>
        </p:nvSpPr>
        <p:spPr>
          <a:xfrm>
            <a:off x="5096134" y="1508760"/>
            <a:ext cx="1999427" cy="2697480"/>
          </a:xfrm>
          <a:prstGeom prst="roundRect">
            <a:avLst>
              <a:gd name="adj" fmla="val 5488"/>
            </a:avLst>
          </a:prstGeom>
          <a:solidFill>
            <a:schemeClr val="bg2"/>
          </a:solidFill>
          <a:ln/>
        </p:spPr>
      </p:sp>
      <p:sp>
        <p:nvSpPr>
          <p:cNvPr id="17" name="Check circle"/>
          <p:cNvSpPr/>
          <p:nvPr/>
        </p:nvSpPr>
        <p:spPr>
          <a:xfrm>
            <a:off x="5324734" y="1783080"/>
            <a:ext cx="548640" cy="548640"/>
          </a:xfrm>
          <a:prstGeom prst="ellipse">
            <a:avLst/>
          </a:prstGeom>
          <a:solidFill>
            <a:schemeClr val="tx2"/>
          </a:solidFill>
          <a:ln/>
        </p:spPr>
      </p:sp>
      <p:pic>
        <p:nvPicPr>
          <p:cNvPr id="18" name="Check icon" descr="Check">    </p:cNvPr>
          <p:cNvPicPr>
            <a:picLocks noChangeAspect="1"/>
          </p:cNvPicPr>
          <p:nvPr/>
        </p:nvPicPr>
        <p:blipFill>
          <a:blip r:embed="rId3"/>
          <a:stretch>
            <a:fillRect/>
          </a:stretch>
        </p:blipFill>
        <p:spPr>
          <a:xfrm>
            <a:off x="5461894" y="1920240"/>
            <a:ext cx="274320" cy="274320"/>
          </a:xfrm>
          <a:prstGeom prst="rect">
            <a:avLst/>
          </a:prstGeom>
        </p:spPr>
      </p:pic>
      <p:sp>
        <p:nvSpPr>
          <p:cNvPr id="19" name="Text 14"/>
          <p:cNvSpPr txBox="1"/>
          <p:nvPr/>
        </p:nvSpPr>
        <p:spPr>
          <a:xfrm>
            <a:off x="5324734" y="2514600"/>
            <a:ext cx="1542227" cy="365760"/>
          </a:xfrm>
          <a:prstGeom prst="rect">
            <a:avLst/>
          </a:prstGeom>
          <a:noFill/>
          <a:ln/>
        </p:spPr>
        <p:txBody>
          <a:bodyPr wrap="square" lIns="0" tIns="0" rIns="0" bIns="0" rtlCol="0" anchor="t"/>
          <a:lstStyle/>
          <a:p>
            <a:pPr indent="0" marL="0">
              <a:buNone/>
            </a:pPr>
            <a:r>
              <a:rPr lang="en-US" sz="1800" b="1" dirty="0">
                <a:solidFill>
                  <a:schemeClr val="tx2"/>
                </a:solidFill>
              </a:rPr>
              <a:t>3. Check</a:t>
            </a:r>
            <a:endParaRPr lang="en-US" sz="1800" dirty="0"/>
          </a:p>
        </p:txBody>
      </p:sp>
      <p:sp>
        <p:nvSpPr>
          <p:cNvPr id="20" name="Text 15"/>
          <p:cNvSpPr txBox="1"/>
          <p:nvPr/>
        </p:nvSpPr>
        <p:spPr>
          <a:xfrm>
            <a:off x="5324734" y="2926080"/>
            <a:ext cx="1587947" cy="1143000"/>
          </a:xfrm>
          <a:prstGeom prst="rect">
            <a:avLst/>
          </a:prstGeom>
          <a:noFill/>
          <a:ln/>
        </p:spPr>
        <p:txBody>
          <a:bodyPr wrap="square" lIns="0" tIns="0" rIns="0" bIns="0" rtlCol="0" anchor="t"/>
          <a:lstStyle/>
          <a:p>
            <a:pPr indent="0" marL="0">
              <a:buNone/>
            </a:pPr>
            <a:r>
              <a:rPr lang="en-US" sz="1400" dirty="0">
                <a:solidFill>
                  <a:schemeClr val="tx1"/>
                </a:solidFill>
              </a:rPr>
              <a:t>Session owner, mini-game and payload are validated</a:t>
            </a:r>
            <a:endParaRPr lang="en-US" sz="1400" dirty="0"/>
          </a:p>
        </p:txBody>
      </p:sp>
      <p:sp>
        <p:nvSpPr>
          <p:cNvPr id="21" name="Text 16"/>
          <p:cNvSpPr txBox="1"/>
          <p:nvPr/>
        </p:nvSpPr>
        <p:spPr>
          <a:xfrm>
            <a:off x="7095561" y="2514600"/>
            <a:ext cx="274320" cy="457200"/>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22" name="step Score"/>
          <p:cNvSpPr/>
          <p:nvPr/>
        </p:nvSpPr>
        <p:spPr>
          <a:xfrm>
            <a:off x="7369881" y="1508760"/>
            <a:ext cx="1999427" cy="2697480"/>
          </a:xfrm>
          <a:prstGeom prst="roundRect">
            <a:avLst>
              <a:gd name="adj" fmla="val 5488"/>
            </a:avLst>
          </a:prstGeom>
          <a:solidFill>
            <a:schemeClr val="bg2"/>
          </a:solidFill>
          <a:ln/>
        </p:spPr>
      </p:sp>
      <p:sp>
        <p:nvSpPr>
          <p:cNvPr id="23" name="Score circle"/>
          <p:cNvSpPr/>
          <p:nvPr/>
        </p:nvSpPr>
        <p:spPr>
          <a:xfrm>
            <a:off x="7598481" y="1783080"/>
            <a:ext cx="548640" cy="548640"/>
          </a:xfrm>
          <a:prstGeom prst="ellipse">
            <a:avLst/>
          </a:prstGeom>
          <a:solidFill>
            <a:schemeClr val="tx2"/>
          </a:solidFill>
          <a:ln/>
        </p:spPr>
      </p:sp>
      <p:pic>
        <p:nvPicPr>
          <p:cNvPr id="24" name="Score icon" descr="Score">    </p:cNvPr>
          <p:cNvPicPr>
            <a:picLocks noChangeAspect="1"/>
          </p:cNvPicPr>
          <p:nvPr/>
        </p:nvPicPr>
        <p:blipFill>
          <a:blip r:embed="rId4"/>
          <a:stretch>
            <a:fillRect/>
          </a:stretch>
        </p:blipFill>
        <p:spPr>
          <a:xfrm>
            <a:off x="7735641" y="1920240"/>
            <a:ext cx="274320" cy="274320"/>
          </a:xfrm>
          <a:prstGeom prst="rect">
            <a:avLst/>
          </a:prstGeom>
        </p:spPr>
      </p:pic>
      <p:sp>
        <p:nvSpPr>
          <p:cNvPr id="25" name="Text 19"/>
          <p:cNvSpPr txBox="1"/>
          <p:nvPr/>
        </p:nvSpPr>
        <p:spPr>
          <a:xfrm>
            <a:off x="7598481" y="2514600"/>
            <a:ext cx="1542227" cy="365760"/>
          </a:xfrm>
          <a:prstGeom prst="rect">
            <a:avLst/>
          </a:prstGeom>
          <a:noFill/>
          <a:ln/>
        </p:spPr>
        <p:txBody>
          <a:bodyPr wrap="square" lIns="0" tIns="0" rIns="0" bIns="0" rtlCol="0" anchor="t"/>
          <a:lstStyle/>
          <a:p>
            <a:pPr indent="0" marL="0">
              <a:buNone/>
            </a:pPr>
            <a:r>
              <a:rPr lang="en-US" sz="1800" b="1" dirty="0">
                <a:solidFill>
                  <a:schemeClr val="tx2"/>
                </a:solidFill>
              </a:rPr>
              <a:t>4. Score</a:t>
            </a:r>
            <a:endParaRPr lang="en-US" sz="1800" dirty="0"/>
          </a:p>
        </p:txBody>
      </p:sp>
      <p:sp>
        <p:nvSpPr>
          <p:cNvPr id="26" name="Text 20"/>
          <p:cNvSpPr txBox="1"/>
          <p:nvPr/>
        </p:nvSpPr>
        <p:spPr>
          <a:xfrm>
            <a:off x="7598481" y="2926080"/>
            <a:ext cx="1587947" cy="1143000"/>
          </a:xfrm>
          <a:prstGeom prst="rect">
            <a:avLst/>
          </a:prstGeom>
          <a:noFill/>
          <a:ln/>
        </p:spPr>
        <p:txBody>
          <a:bodyPr wrap="square" lIns="0" tIns="0" rIns="0" bIns="0" rtlCol="0" anchor="t"/>
          <a:lstStyle/>
          <a:p>
            <a:pPr indent="0" marL="0">
              <a:buNone/>
            </a:pPr>
            <a:r>
              <a:rPr lang="en-US" sz="1400" dirty="0">
                <a:solidFill>
                  <a:schemeClr val="tx1"/>
                </a:solidFill>
              </a:rPr>
              <a:t>A domain service computes the score; the attempt is stored</a:t>
            </a:r>
            <a:endParaRPr lang="en-US" sz="1400" dirty="0"/>
          </a:p>
        </p:txBody>
      </p:sp>
      <p:sp>
        <p:nvSpPr>
          <p:cNvPr id="27" name="Text 21"/>
          <p:cNvSpPr txBox="1"/>
          <p:nvPr/>
        </p:nvSpPr>
        <p:spPr>
          <a:xfrm>
            <a:off x="9369308" y="2514600"/>
            <a:ext cx="274320" cy="457200"/>
          </a:xfrm>
          <a:prstGeom prst="rect">
            <a:avLst/>
          </a:prstGeom>
          <a:noFill/>
          <a:ln/>
        </p:spPr>
        <p:txBody>
          <a:bodyPr wrap="square" lIns="0" tIns="0" rIns="0" bIns="0" rtlCol="0" anchor="ctr"/>
          <a:lstStyle/>
          <a:p>
            <a:pPr algn="ctr" indent="0" marL="0">
              <a:buNone/>
            </a:pPr>
            <a:r>
              <a:rPr lang="en-US" sz="2800" b="1" dirty="0">
                <a:solidFill>
                  <a:schemeClr val="accent6"/>
                </a:solidFill>
              </a:rPr>
              <a:t>›</a:t>
            </a:r>
            <a:endParaRPr lang="en-US" sz="2800" dirty="0"/>
          </a:p>
        </p:txBody>
      </p:sp>
      <p:sp>
        <p:nvSpPr>
          <p:cNvPr id="28" name="step Show"/>
          <p:cNvSpPr/>
          <p:nvPr/>
        </p:nvSpPr>
        <p:spPr>
          <a:xfrm>
            <a:off x="9643628" y="1508760"/>
            <a:ext cx="1999427" cy="2697480"/>
          </a:xfrm>
          <a:prstGeom prst="roundRect">
            <a:avLst>
              <a:gd name="adj" fmla="val 5488"/>
            </a:avLst>
          </a:prstGeom>
          <a:solidFill>
            <a:schemeClr val="bg1"/>
          </a:solidFill>
          <a:ln w="12700">
            <a:solidFill>
              <a:srgbClr val="EEF2F9"/>
            </a:solidFill>
            <a:prstDash val="solid"/>
          </a:ln>
          <a:effectLst>
            <a:outerShdw sx="100000" sy="100000" kx="0" ky="0" algn="bl" rotWithShape="0" blurRad="101600" dist="25400" dir="5400000">
              <a:srgbClr val="0F172A">
                <a:alpha val="12000"/>
              </a:srgbClr>
            </a:outerShdw>
          </a:effectLst>
        </p:spPr>
      </p:sp>
      <p:sp>
        <p:nvSpPr>
          <p:cNvPr id="29" name="Show circle"/>
          <p:cNvSpPr/>
          <p:nvPr/>
        </p:nvSpPr>
        <p:spPr>
          <a:xfrm>
            <a:off x="9872228" y="1783080"/>
            <a:ext cx="548640" cy="548640"/>
          </a:xfrm>
          <a:prstGeom prst="ellipse">
            <a:avLst/>
          </a:prstGeom>
          <a:solidFill>
            <a:schemeClr val="accent2"/>
          </a:solidFill>
          <a:ln/>
        </p:spPr>
      </p:sp>
      <p:pic>
        <p:nvPicPr>
          <p:cNvPr id="30" name="Show icon" descr="Show">    </p:cNvPr>
          <p:cNvPicPr>
            <a:picLocks noChangeAspect="1"/>
          </p:cNvPicPr>
          <p:nvPr/>
        </p:nvPicPr>
        <p:blipFill>
          <a:blip r:embed="rId5"/>
          <a:stretch>
            <a:fillRect/>
          </a:stretch>
        </p:blipFill>
        <p:spPr>
          <a:xfrm>
            <a:off x="10009388" y="1920240"/>
            <a:ext cx="274320" cy="274320"/>
          </a:xfrm>
          <a:prstGeom prst="rect">
            <a:avLst/>
          </a:prstGeom>
        </p:spPr>
      </p:pic>
      <p:sp>
        <p:nvSpPr>
          <p:cNvPr id="31" name="Text 24"/>
          <p:cNvSpPr txBox="1"/>
          <p:nvPr/>
        </p:nvSpPr>
        <p:spPr>
          <a:xfrm>
            <a:off x="9872228" y="2514600"/>
            <a:ext cx="1542227" cy="365760"/>
          </a:xfrm>
          <a:prstGeom prst="rect">
            <a:avLst/>
          </a:prstGeom>
          <a:noFill/>
          <a:ln/>
        </p:spPr>
        <p:txBody>
          <a:bodyPr wrap="square" lIns="0" tIns="0" rIns="0" bIns="0" rtlCol="0" anchor="t"/>
          <a:lstStyle/>
          <a:p>
            <a:pPr indent="0" marL="0">
              <a:buNone/>
            </a:pPr>
            <a:r>
              <a:rPr lang="en-US" sz="1800" b="1" dirty="0">
                <a:solidFill>
                  <a:schemeClr val="tx2"/>
                </a:solidFill>
              </a:rPr>
              <a:t>5. Show</a:t>
            </a:r>
            <a:endParaRPr lang="en-US" sz="1800" dirty="0"/>
          </a:p>
        </p:txBody>
      </p:sp>
      <p:sp>
        <p:nvSpPr>
          <p:cNvPr id="32" name="Text 25"/>
          <p:cNvSpPr txBox="1"/>
          <p:nvPr/>
        </p:nvSpPr>
        <p:spPr>
          <a:xfrm>
            <a:off x="9872228" y="2926080"/>
            <a:ext cx="1587947" cy="1143000"/>
          </a:xfrm>
          <a:prstGeom prst="rect">
            <a:avLst/>
          </a:prstGeom>
          <a:noFill/>
          <a:ln/>
        </p:spPr>
        <p:txBody>
          <a:bodyPr wrap="square" lIns="0" tIns="0" rIns="0" bIns="0" rtlCol="0" anchor="t"/>
          <a:lstStyle/>
          <a:p>
            <a:pPr indent="0" marL="0">
              <a:buNone/>
            </a:pPr>
            <a:r>
              <a:rPr lang="en-US" sz="1400" dirty="0">
                <a:solidFill>
                  <a:schemeClr val="tx1"/>
                </a:solidFill>
              </a:rPr>
              <a:t>The result screen shows the score and its breakdown</a:t>
            </a:r>
            <a:endParaRPr lang="en-US" sz="1400" dirty="0"/>
          </a:p>
        </p:txBody>
      </p:sp>
      <p:sp>
        <p:nvSpPr>
          <p:cNvPr id="33" name="Text 26"/>
          <p:cNvSpPr txBox="1"/>
          <p:nvPr/>
        </p:nvSpPr>
        <p:spPr>
          <a:xfrm>
            <a:off x="548640" y="4297680"/>
            <a:ext cx="1999427" cy="274320"/>
          </a:xfrm>
          <a:prstGeom prst="rect">
            <a:avLst/>
          </a:prstGeom>
          <a:noFill/>
          <a:ln/>
        </p:spPr>
        <p:txBody>
          <a:bodyPr wrap="square" lIns="0" tIns="0" rIns="0" bIns="0" rtlCol="0" anchor="t"/>
          <a:lstStyle/>
          <a:p>
            <a:pPr algn="ctr" indent="0" marL="0">
              <a:buNone/>
            </a:pPr>
            <a:r>
              <a:rPr lang="en-US" sz="1100" b="1" dirty="0">
                <a:solidFill>
                  <a:schemeClr val="accent2"/>
                </a:solidFill>
              </a:rPr>
              <a:t>On the phone</a:t>
            </a:r>
            <a:endParaRPr lang="en-US" sz="1100" dirty="0"/>
          </a:p>
        </p:txBody>
      </p:sp>
      <p:sp>
        <p:nvSpPr>
          <p:cNvPr id="34" name="Text 27"/>
          <p:cNvSpPr txBox="1"/>
          <p:nvPr/>
        </p:nvSpPr>
        <p:spPr>
          <a:xfrm>
            <a:off x="2822387" y="4297680"/>
            <a:ext cx="6546921" cy="274320"/>
          </a:xfrm>
          <a:prstGeom prst="rect">
            <a:avLst/>
          </a:prstGeom>
          <a:noFill/>
          <a:ln/>
        </p:spPr>
        <p:txBody>
          <a:bodyPr wrap="square" lIns="0" tIns="0" rIns="0" bIns="0" rtlCol="0" anchor="t"/>
          <a:lstStyle/>
          <a:p>
            <a:pPr algn="ctr" indent="0" marL="0">
              <a:buNone/>
            </a:pPr>
            <a:r>
              <a:rPr lang="en-US" sz="1100" b="1" dirty="0">
                <a:solidFill>
                  <a:schemeClr val="tx2"/>
                </a:solidFill>
              </a:rPr>
              <a:t>On the server</a:t>
            </a:r>
            <a:endParaRPr lang="en-US" sz="1100" dirty="0"/>
          </a:p>
        </p:txBody>
      </p:sp>
      <p:sp>
        <p:nvSpPr>
          <p:cNvPr id="35" name="Text 28"/>
          <p:cNvSpPr txBox="1"/>
          <p:nvPr/>
        </p:nvSpPr>
        <p:spPr>
          <a:xfrm>
            <a:off x="9643628" y="4297680"/>
            <a:ext cx="1999427" cy="274320"/>
          </a:xfrm>
          <a:prstGeom prst="rect">
            <a:avLst/>
          </a:prstGeom>
          <a:noFill/>
          <a:ln/>
        </p:spPr>
        <p:txBody>
          <a:bodyPr wrap="square" lIns="0" tIns="0" rIns="0" bIns="0" rtlCol="0" anchor="t"/>
          <a:lstStyle/>
          <a:p>
            <a:pPr algn="ctr" indent="0" marL="0">
              <a:buNone/>
            </a:pPr>
            <a:r>
              <a:rPr lang="en-US" sz="1100" b="1" dirty="0">
                <a:solidFill>
                  <a:schemeClr val="accent2"/>
                </a:solidFill>
              </a:rPr>
              <a:t>On the phone</a:t>
            </a:r>
            <a:endParaRPr lang="en-US" sz="1100" dirty="0"/>
          </a:p>
        </p:txBody>
      </p:sp>
      <p:sp>
        <p:nvSpPr>
          <p:cNvPr id="36" name="rule callout"/>
          <p:cNvSpPr/>
          <p:nvPr/>
        </p:nvSpPr>
        <p:spPr>
          <a:xfrm>
            <a:off x="548640" y="4754880"/>
            <a:ext cx="11094415" cy="1280160"/>
          </a:xfrm>
          <a:prstGeom prst="roundRect">
            <a:avLst>
              <a:gd name="adj" fmla="val 8571"/>
            </a:avLst>
          </a:prstGeom>
          <a:solidFill>
            <a:schemeClr val="tx2"/>
          </a:solidFill>
          <a:ln/>
        </p:spPr>
      </p:sp>
      <p:sp>
        <p:nvSpPr>
          <p:cNvPr id="37" name="rule circle"/>
          <p:cNvSpPr/>
          <p:nvPr/>
        </p:nvSpPr>
        <p:spPr>
          <a:xfrm>
            <a:off x="868680" y="5120640"/>
            <a:ext cx="548640" cy="548640"/>
          </a:xfrm>
          <a:prstGeom prst="ellipse">
            <a:avLst/>
          </a:prstGeom>
          <a:solidFill>
            <a:schemeClr val="bg1"/>
          </a:solidFill>
          <a:ln/>
        </p:spPr>
      </p:sp>
      <p:pic>
        <p:nvPicPr>
          <p:cNvPr id="38" name="rule icon" descr="rule">    </p:cNvPr>
          <p:cNvPicPr>
            <a:picLocks noChangeAspect="1"/>
          </p:cNvPicPr>
          <p:nvPr/>
        </p:nvPicPr>
        <p:blipFill>
          <a:blip r:embed="rId6"/>
          <a:stretch>
            <a:fillRect/>
          </a:stretch>
        </p:blipFill>
        <p:spPr>
          <a:xfrm>
            <a:off x="1005840" y="5257800"/>
            <a:ext cx="274320" cy="274320"/>
          </a:xfrm>
          <a:prstGeom prst="rect">
            <a:avLst/>
          </a:prstGeom>
        </p:spPr>
      </p:pic>
      <p:sp>
        <p:nvSpPr>
          <p:cNvPr id="39" name="Text 31"/>
          <p:cNvSpPr txBox="1"/>
          <p:nvPr/>
        </p:nvSpPr>
        <p:spPr>
          <a:xfrm>
            <a:off x="1645920" y="4937760"/>
            <a:ext cx="9722815" cy="384048"/>
          </a:xfrm>
          <a:prstGeom prst="rect">
            <a:avLst/>
          </a:prstGeom>
          <a:noFill/>
          <a:ln/>
        </p:spPr>
        <p:txBody>
          <a:bodyPr wrap="square" lIns="0" tIns="0" rIns="0" bIns="0" rtlCol="0" anchor="t"/>
          <a:lstStyle/>
          <a:p>
            <a:pPr indent="0" marL="0">
              <a:buNone/>
            </a:pPr>
            <a:r>
              <a:rPr lang="en-US" sz="1800" b="1" dirty="0">
                <a:solidFill>
                  <a:schemeClr val="bg1"/>
                </a:solidFill>
              </a:rPr>
              <a:t>The client never chooses an authoritative score</a:t>
            </a:r>
            <a:endParaRPr lang="en-US" sz="1800" dirty="0"/>
          </a:p>
        </p:txBody>
      </p:sp>
      <p:sp>
        <p:nvSpPr>
          <p:cNvPr id="40" name="Text 32"/>
          <p:cNvSpPr txBox="1"/>
          <p:nvPr/>
        </p:nvSpPr>
        <p:spPr>
          <a:xfrm>
            <a:off x="1645920" y="5349240"/>
            <a:ext cx="9722815" cy="594360"/>
          </a:xfrm>
          <a:prstGeom prst="rect">
            <a:avLst/>
          </a:prstGeom>
          <a:noFill/>
          <a:ln/>
        </p:spPr>
        <p:txBody>
          <a:bodyPr wrap="square" lIns="0" tIns="0" rIns="0" bIns="0" rtlCol="0" anchor="t"/>
          <a:lstStyle/>
          <a:p>
            <a:pPr indent="0" marL="0">
              <a:buNone/>
            </a:pPr>
            <a:r>
              <a:rPr lang="en-US" sz="1400" dirty="0">
                <a:solidFill>
                  <a:schemeClr val="bg1"/>
                </a:solidFill>
              </a:rPr>
              <a:t>Invalid metrics, foreign sessions, incompatible mini-games and duplicate results are rejected. Technically invalid runs are kept for audit, never counted.</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One shared journey for every game</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7 Interaction and result design · App. A</a:t>
            </a:r>
            <a:endParaRPr lang="en-US" sz="1000" dirty="0"/>
          </a:p>
        </p:txBody>
      </p:sp>
      <p:pic>
        <p:nvPicPr>
          <p:cNvPr id="4" name="screen 19-game-consent" descr="Monitoring conditions accepted">    </p:cNvPr>
          <p:cNvPicPr>
            <a:picLocks noChangeAspect="1"/>
          </p:cNvPicPr>
          <p:nvPr/>
        </p:nvPicPr>
        <p:blipFill>
          <a:blip r:embed="rId1"/>
          <a:stretch>
            <a:fillRect/>
          </a:stretch>
        </p:blipFill>
        <p:spPr>
          <a:xfrm>
            <a:off x="548640" y="1371600"/>
            <a:ext cx="1718021" cy="3611880"/>
          </a:xfrm>
          <a:prstGeom prst="rect">
            <a:avLst/>
          </a:prstGeom>
        </p:spPr>
      </p:pic>
      <p:sp>
        <p:nvSpPr>
          <p:cNvPr id="5" name="Text 2"/>
          <p:cNvSpPr txBox="1"/>
          <p:nvPr/>
        </p:nvSpPr>
        <p:spPr>
          <a:xfrm>
            <a:off x="365760" y="5120640"/>
            <a:ext cx="2083781" cy="347472"/>
          </a:xfrm>
          <a:prstGeom prst="rect">
            <a:avLst/>
          </a:prstGeom>
          <a:noFill/>
          <a:ln/>
        </p:spPr>
        <p:txBody>
          <a:bodyPr wrap="square" lIns="0" tIns="0" rIns="0" bIns="0" rtlCol="0" anchor="t"/>
          <a:lstStyle/>
          <a:p>
            <a:pPr algn="ctr" indent="0" marL="0">
              <a:buNone/>
            </a:pPr>
            <a:r>
              <a:rPr lang="en-US" sz="1600" b="1" dirty="0">
                <a:solidFill>
                  <a:schemeClr val="tx2"/>
                </a:solidFill>
              </a:rPr>
              <a:t>1  Consent</a:t>
            </a:r>
            <a:endParaRPr lang="en-US" sz="1600" dirty="0"/>
          </a:p>
        </p:txBody>
      </p:sp>
      <p:sp>
        <p:nvSpPr>
          <p:cNvPr id="6" name="Text 3"/>
          <p:cNvSpPr txBox="1"/>
          <p:nvPr/>
        </p:nvSpPr>
        <p:spPr>
          <a:xfrm>
            <a:off x="320040" y="5486400"/>
            <a:ext cx="2175221" cy="292608"/>
          </a:xfrm>
          <a:prstGeom prst="rect">
            <a:avLst/>
          </a:prstGeom>
          <a:noFill/>
          <a:ln/>
        </p:spPr>
        <p:txBody>
          <a:bodyPr wrap="square" lIns="0" tIns="0" rIns="0" bIns="0" rtlCol="0" anchor="t"/>
          <a:lstStyle/>
          <a:p>
            <a:pPr algn="ctr" indent="0" marL="0">
              <a:buNone/>
            </a:pPr>
            <a:r>
              <a:rPr lang="en-US" sz="1200" dirty="0">
                <a:solidFill>
                  <a:schemeClr val="accent6"/>
                </a:solidFill>
              </a:rPr>
              <a:t>Monitoring conditions accepted</a:t>
            </a:r>
            <a:endParaRPr lang="en-US" sz="1200" dirty="0"/>
          </a:p>
        </p:txBody>
      </p:sp>
      <p:pic>
        <p:nvPicPr>
          <p:cNvPr id="7" name="screen 22-move-fast-exercise" descr="Move Fast rule with a cue">    </p:cNvPr>
          <p:cNvPicPr>
            <a:picLocks noChangeAspect="1"/>
          </p:cNvPicPr>
          <p:nvPr/>
        </p:nvPicPr>
        <p:blipFill>
          <a:blip r:embed="rId2"/>
          <a:stretch>
            <a:fillRect/>
          </a:stretch>
        </p:blipFill>
        <p:spPr>
          <a:xfrm>
            <a:off x="2892739" y="1371600"/>
            <a:ext cx="1718021" cy="3611880"/>
          </a:xfrm>
          <a:prstGeom prst="rect">
            <a:avLst/>
          </a:prstGeom>
        </p:spPr>
      </p:pic>
      <p:sp>
        <p:nvSpPr>
          <p:cNvPr id="8" name="Text 4"/>
          <p:cNvSpPr txBox="1"/>
          <p:nvPr/>
        </p:nvSpPr>
        <p:spPr>
          <a:xfrm>
            <a:off x="2709859" y="5120640"/>
            <a:ext cx="2083781" cy="347472"/>
          </a:xfrm>
          <a:prstGeom prst="rect">
            <a:avLst/>
          </a:prstGeom>
          <a:noFill/>
          <a:ln/>
        </p:spPr>
        <p:txBody>
          <a:bodyPr wrap="square" lIns="0" tIns="0" rIns="0" bIns="0" rtlCol="0" anchor="t"/>
          <a:lstStyle/>
          <a:p>
            <a:pPr algn="ctr" indent="0" marL="0">
              <a:buNone/>
            </a:pPr>
            <a:r>
              <a:rPr lang="en-US" sz="1600" b="1" dirty="0">
                <a:solidFill>
                  <a:schemeClr val="tx2"/>
                </a:solidFill>
              </a:rPr>
              <a:t>2  Instructions</a:t>
            </a:r>
            <a:endParaRPr lang="en-US" sz="1600" dirty="0"/>
          </a:p>
        </p:txBody>
      </p:sp>
      <p:sp>
        <p:nvSpPr>
          <p:cNvPr id="9" name="Text 5"/>
          <p:cNvSpPr txBox="1"/>
          <p:nvPr/>
        </p:nvSpPr>
        <p:spPr>
          <a:xfrm>
            <a:off x="2664139" y="5486400"/>
            <a:ext cx="2175221" cy="292608"/>
          </a:xfrm>
          <a:prstGeom prst="rect">
            <a:avLst/>
          </a:prstGeom>
          <a:noFill/>
          <a:ln/>
        </p:spPr>
        <p:txBody>
          <a:bodyPr wrap="square" lIns="0" tIns="0" rIns="0" bIns="0" rtlCol="0" anchor="t"/>
          <a:lstStyle/>
          <a:p>
            <a:pPr algn="ctr" indent="0" marL="0">
              <a:buNone/>
            </a:pPr>
            <a:r>
              <a:rPr lang="en-US" sz="1200" dirty="0">
                <a:solidFill>
                  <a:schemeClr val="accent6"/>
                </a:solidFill>
              </a:rPr>
              <a:t>Move Fast rule with a cue</a:t>
            </a:r>
            <a:endParaRPr lang="en-US" sz="1200" dirty="0"/>
          </a:p>
        </p:txBody>
      </p:sp>
      <p:pic>
        <p:nvPicPr>
          <p:cNvPr id="10" name="screen 95-memory-forward-key-2" descr="Memory Quest digit recall">    </p:cNvPr>
          <p:cNvPicPr>
            <a:picLocks noChangeAspect="1"/>
          </p:cNvPicPr>
          <p:nvPr/>
        </p:nvPicPr>
        <p:blipFill>
          <a:blip r:embed="rId3"/>
          <a:stretch>
            <a:fillRect/>
          </a:stretch>
        </p:blipFill>
        <p:spPr>
          <a:xfrm>
            <a:off x="5236837" y="1371600"/>
            <a:ext cx="1718021" cy="3611880"/>
          </a:xfrm>
          <a:prstGeom prst="rect">
            <a:avLst/>
          </a:prstGeom>
        </p:spPr>
      </p:pic>
      <p:sp>
        <p:nvSpPr>
          <p:cNvPr id="11" name="Text 6"/>
          <p:cNvSpPr txBox="1"/>
          <p:nvPr/>
        </p:nvSpPr>
        <p:spPr>
          <a:xfrm>
            <a:off x="5053957" y="5120640"/>
            <a:ext cx="2083781" cy="347472"/>
          </a:xfrm>
          <a:prstGeom prst="rect">
            <a:avLst/>
          </a:prstGeom>
          <a:noFill/>
          <a:ln/>
        </p:spPr>
        <p:txBody>
          <a:bodyPr wrap="square" lIns="0" tIns="0" rIns="0" bIns="0" rtlCol="0" anchor="t"/>
          <a:lstStyle/>
          <a:p>
            <a:pPr algn="ctr" indent="0" marL="0">
              <a:buNone/>
            </a:pPr>
            <a:r>
              <a:rPr lang="en-US" sz="1600" b="1" dirty="0">
                <a:solidFill>
                  <a:schemeClr val="tx2"/>
                </a:solidFill>
              </a:rPr>
              <a:t>3  Gameplay</a:t>
            </a:r>
            <a:endParaRPr lang="en-US" sz="1600" dirty="0"/>
          </a:p>
        </p:txBody>
      </p:sp>
      <p:sp>
        <p:nvSpPr>
          <p:cNvPr id="12" name="Text 7"/>
          <p:cNvSpPr txBox="1"/>
          <p:nvPr/>
        </p:nvSpPr>
        <p:spPr>
          <a:xfrm>
            <a:off x="5008237" y="5486400"/>
            <a:ext cx="2175221" cy="292608"/>
          </a:xfrm>
          <a:prstGeom prst="rect">
            <a:avLst/>
          </a:prstGeom>
          <a:noFill/>
          <a:ln/>
        </p:spPr>
        <p:txBody>
          <a:bodyPr wrap="square" lIns="0" tIns="0" rIns="0" bIns="0" rtlCol="0" anchor="t"/>
          <a:lstStyle/>
          <a:p>
            <a:pPr algn="ctr" indent="0" marL="0">
              <a:buNone/>
            </a:pPr>
            <a:r>
              <a:rPr lang="en-US" sz="1200" dirty="0">
                <a:solidFill>
                  <a:schemeClr val="accent6"/>
                </a:solidFill>
              </a:rPr>
              <a:t>Memory Quest digit recall</a:t>
            </a:r>
            <a:endParaRPr lang="en-US" sz="1200" dirty="0"/>
          </a:p>
        </p:txBody>
      </p:sp>
      <p:pic>
        <p:nvPicPr>
          <p:cNvPr id="13" name="screen 131-optimal-path-board" descr="Optimal Path route board">    </p:cNvPr>
          <p:cNvPicPr>
            <a:picLocks noChangeAspect="1"/>
          </p:cNvPicPr>
          <p:nvPr/>
        </p:nvPicPr>
        <p:blipFill>
          <a:blip r:embed="rId4"/>
          <a:stretch>
            <a:fillRect/>
          </a:stretch>
        </p:blipFill>
        <p:spPr>
          <a:xfrm>
            <a:off x="7580936" y="1371600"/>
            <a:ext cx="1718021" cy="3611880"/>
          </a:xfrm>
          <a:prstGeom prst="rect">
            <a:avLst/>
          </a:prstGeom>
        </p:spPr>
      </p:pic>
      <p:sp>
        <p:nvSpPr>
          <p:cNvPr id="14" name="Text 8"/>
          <p:cNvSpPr txBox="1"/>
          <p:nvPr/>
        </p:nvSpPr>
        <p:spPr>
          <a:xfrm>
            <a:off x="7398056" y="5120640"/>
            <a:ext cx="2083781" cy="347472"/>
          </a:xfrm>
          <a:prstGeom prst="rect">
            <a:avLst/>
          </a:prstGeom>
          <a:noFill/>
          <a:ln/>
        </p:spPr>
        <p:txBody>
          <a:bodyPr wrap="square" lIns="0" tIns="0" rIns="0" bIns="0" rtlCol="0" anchor="t"/>
          <a:lstStyle/>
          <a:p>
            <a:pPr algn="ctr" indent="0" marL="0">
              <a:buNone/>
            </a:pPr>
            <a:r>
              <a:rPr lang="en-US" sz="1600" b="1" dirty="0">
                <a:solidFill>
                  <a:schemeClr val="tx2"/>
                </a:solidFill>
              </a:rPr>
              <a:t>4  Planning</a:t>
            </a:r>
            <a:endParaRPr lang="en-US" sz="1600" dirty="0"/>
          </a:p>
        </p:txBody>
      </p:sp>
      <p:sp>
        <p:nvSpPr>
          <p:cNvPr id="15" name="Text 9"/>
          <p:cNvSpPr txBox="1"/>
          <p:nvPr/>
        </p:nvSpPr>
        <p:spPr>
          <a:xfrm>
            <a:off x="7352336" y="5486400"/>
            <a:ext cx="2175221" cy="292608"/>
          </a:xfrm>
          <a:prstGeom prst="rect">
            <a:avLst/>
          </a:prstGeom>
          <a:noFill/>
          <a:ln/>
        </p:spPr>
        <p:txBody>
          <a:bodyPr wrap="square" lIns="0" tIns="0" rIns="0" bIns="0" rtlCol="0" anchor="t"/>
          <a:lstStyle/>
          <a:p>
            <a:pPr algn="ctr" indent="0" marL="0">
              <a:buNone/>
            </a:pPr>
            <a:r>
              <a:rPr lang="en-US" sz="1200" dirty="0">
                <a:solidFill>
                  <a:schemeClr val="accent6"/>
                </a:solidFill>
              </a:rPr>
              <a:t>Optimal Path route board</a:t>
            </a:r>
            <a:endParaRPr lang="en-US" sz="1200" dirty="0"/>
          </a:p>
        </p:txBody>
      </p:sp>
      <p:pic>
        <p:nvPicPr>
          <p:cNvPr id="16" name="screen 141-optimal-path-result" descr="Server score: 10 / 10">    </p:cNvPr>
          <p:cNvPicPr>
            <a:picLocks noChangeAspect="1"/>
          </p:cNvPicPr>
          <p:nvPr/>
        </p:nvPicPr>
        <p:blipFill>
          <a:blip r:embed="rId5"/>
          <a:stretch>
            <a:fillRect/>
          </a:stretch>
        </p:blipFill>
        <p:spPr>
          <a:xfrm>
            <a:off x="9925034" y="1371600"/>
            <a:ext cx="1718021" cy="3611880"/>
          </a:xfrm>
          <a:prstGeom prst="rect">
            <a:avLst/>
          </a:prstGeom>
        </p:spPr>
      </p:pic>
      <p:sp>
        <p:nvSpPr>
          <p:cNvPr id="17" name="Text 10"/>
          <p:cNvSpPr txBox="1"/>
          <p:nvPr/>
        </p:nvSpPr>
        <p:spPr>
          <a:xfrm>
            <a:off x="9742154" y="5120640"/>
            <a:ext cx="2083781" cy="347472"/>
          </a:xfrm>
          <a:prstGeom prst="rect">
            <a:avLst/>
          </a:prstGeom>
          <a:noFill/>
          <a:ln/>
        </p:spPr>
        <p:txBody>
          <a:bodyPr wrap="square" lIns="0" tIns="0" rIns="0" bIns="0" rtlCol="0" anchor="t"/>
          <a:lstStyle/>
          <a:p>
            <a:pPr algn="ctr" indent="0" marL="0">
              <a:buNone/>
            </a:pPr>
            <a:r>
              <a:rPr lang="en-US" sz="1600" b="1" dirty="0">
                <a:solidFill>
                  <a:schemeClr val="accent2"/>
                </a:solidFill>
              </a:rPr>
              <a:t>5  Results</a:t>
            </a:r>
            <a:endParaRPr lang="en-US" sz="1600" dirty="0"/>
          </a:p>
        </p:txBody>
      </p:sp>
      <p:sp>
        <p:nvSpPr>
          <p:cNvPr id="18" name="Text 11"/>
          <p:cNvSpPr txBox="1"/>
          <p:nvPr/>
        </p:nvSpPr>
        <p:spPr>
          <a:xfrm>
            <a:off x="9696434" y="5486400"/>
            <a:ext cx="2175221" cy="292608"/>
          </a:xfrm>
          <a:prstGeom prst="rect">
            <a:avLst/>
          </a:prstGeom>
          <a:noFill/>
          <a:ln/>
        </p:spPr>
        <p:txBody>
          <a:bodyPr wrap="square" lIns="0" tIns="0" rIns="0" bIns="0" rtlCol="0" anchor="t"/>
          <a:lstStyle/>
          <a:p>
            <a:pPr algn="ctr" indent="0" marL="0">
              <a:buNone/>
            </a:pPr>
            <a:r>
              <a:rPr lang="en-US" sz="1200" dirty="0">
                <a:solidFill>
                  <a:schemeClr val="accent6"/>
                </a:solidFill>
              </a:rPr>
              <a:t>Server score: 10 / 10</a:t>
            </a:r>
            <a:endParaRPr lang="en-US" sz="12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Replay: the server rebuilds the run</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7 Replay and validation</a:t>
            </a:r>
            <a:endParaRPr lang="en-US" sz="1000" dirty="0"/>
          </a:p>
        </p:txBody>
      </p:sp>
      <p:sp>
        <p:nvSpPr>
          <p:cNvPr id="4" name="BART circle"/>
          <p:cNvSpPr/>
          <p:nvPr/>
        </p:nvSpPr>
        <p:spPr>
          <a:xfrm>
            <a:off x="548640" y="1463040"/>
            <a:ext cx="594360" cy="594360"/>
          </a:xfrm>
          <a:prstGeom prst="ellipse">
            <a:avLst/>
          </a:prstGeom>
          <a:solidFill>
            <a:schemeClr val="accent2"/>
          </a:solidFill>
          <a:ln/>
        </p:spPr>
      </p:sp>
      <p:pic>
        <p:nvPicPr>
          <p:cNvPr id="5" name="BART icon" descr="BART">    </p:cNvPr>
          <p:cNvPicPr>
            <a:picLocks noChangeAspect="1"/>
          </p:cNvPicPr>
          <p:nvPr/>
        </p:nvPicPr>
        <p:blipFill>
          <a:blip r:embed="rId1"/>
          <a:stretch>
            <a:fillRect/>
          </a:stretch>
        </p:blipFill>
        <p:spPr>
          <a:xfrm>
            <a:off x="697230" y="1611630"/>
            <a:ext cx="297180" cy="297180"/>
          </a:xfrm>
          <a:prstGeom prst="rect">
            <a:avLst/>
          </a:prstGeom>
        </p:spPr>
      </p:pic>
      <p:sp>
        <p:nvSpPr>
          <p:cNvPr id="6" name="Text 3"/>
          <p:cNvSpPr txBox="1"/>
          <p:nvPr/>
        </p:nvSpPr>
        <p:spPr>
          <a:xfrm>
            <a:off x="1371600" y="1463040"/>
            <a:ext cx="5486400" cy="329184"/>
          </a:xfrm>
          <a:prstGeom prst="rect">
            <a:avLst/>
          </a:prstGeom>
          <a:noFill/>
          <a:ln/>
        </p:spPr>
        <p:txBody>
          <a:bodyPr wrap="square" lIns="0" tIns="0" rIns="0" bIns="0" rtlCol="0" anchor="t"/>
          <a:lstStyle/>
          <a:p>
            <a:pPr indent="0" marL="0">
              <a:buNone/>
            </a:pPr>
            <a:r>
              <a:rPr lang="en-US" sz="1800" b="1" dirty="0">
                <a:solidFill>
                  <a:schemeClr val="tx2"/>
                </a:solidFill>
              </a:rPr>
              <a:t>BART</a:t>
            </a:r>
            <a:endParaRPr lang="en-US" sz="1800" dirty="0"/>
          </a:p>
        </p:txBody>
      </p:sp>
      <p:sp>
        <p:nvSpPr>
          <p:cNvPr id="7" name="Text 4"/>
          <p:cNvSpPr txBox="1"/>
          <p:nvPr/>
        </p:nvSpPr>
        <p:spPr>
          <a:xfrm>
            <a:off x="1371600" y="1810512"/>
            <a:ext cx="5486400" cy="594360"/>
          </a:xfrm>
          <a:prstGeom prst="rect">
            <a:avLst/>
          </a:prstGeom>
          <a:noFill/>
          <a:ln/>
        </p:spPr>
        <p:txBody>
          <a:bodyPr wrap="square" lIns="0" tIns="0" rIns="0" bIns="0" rtlCol="0" anchor="t"/>
          <a:lstStyle/>
          <a:p>
            <a:pPr indent="0" marL="0">
              <a:buNone/>
            </a:pPr>
            <a:r>
              <a:rPr lang="en-US" sz="1400" dirty="0">
                <a:solidFill>
                  <a:schemeClr val="tx1"/>
                </a:solidFill>
              </a:rPr>
              <a:t>Pumps and cash-outs per balloon → the server reconstructs explosions and earnings</a:t>
            </a:r>
            <a:endParaRPr lang="en-US" sz="1400" dirty="0"/>
          </a:p>
        </p:txBody>
      </p:sp>
      <p:sp>
        <p:nvSpPr>
          <p:cNvPr id="8" name="IST circle"/>
          <p:cNvSpPr/>
          <p:nvPr/>
        </p:nvSpPr>
        <p:spPr>
          <a:xfrm>
            <a:off x="548640" y="2514600"/>
            <a:ext cx="594360" cy="594360"/>
          </a:xfrm>
          <a:prstGeom prst="ellipse">
            <a:avLst/>
          </a:prstGeom>
          <a:solidFill>
            <a:schemeClr val="accent2"/>
          </a:solidFill>
          <a:ln/>
        </p:spPr>
      </p:sp>
      <p:pic>
        <p:nvPicPr>
          <p:cNvPr id="9" name="IST icon" descr="IST">    </p:cNvPr>
          <p:cNvPicPr>
            <a:picLocks noChangeAspect="1"/>
          </p:cNvPicPr>
          <p:nvPr/>
        </p:nvPicPr>
        <p:blipFill>
          <a:blip r:embed="rId2"/>
          <a:stretch>
            <a:fillRect/>
          </a:stretch>
        </p:blipFill>
        <p:spPr>
          <a:xfrm>
            <a:off x="697230" y="2663190"/>
            <a:ext cx="297180" cy="297180"/>
          </a:xfrm>
          <a:prstGeom prst="rect">
            <a:avLst/>
          </a:prstGeom>
        </p:spPr>
      </p:pic>
      <p:sp>
        <p:nvSpPr>
          <p:cNvPr id="10" name="Text 6"/>
          <p:cNvSpPr txBox="1"/>
          <p:nvPr/>
        </p:nvSpPr>
        <p:spPr>
          <a:xfrm>
            <a:off x="1371600" y="2514600"/>
            <a:ext cx="5486400" cy="329184"/>
          </a:xfrm>
          <a:prstGeom prst="rect">
            <a:avLst/>
          </a:prstGeom>
          <a:noFill/>
          <a:ln/>
        </p:spPr>
        <p:txBody>
          <a:bodyPr wrap="square" lIns="0" tIns="0" rIns="0" bIns="0" rtlCol="0" anchor="t"/>
          <a:lstStyle/>
          <a:p>
            <a:pPr indent="0" marL="0">
              <a:buNone/>
            </a:pPr>
            <a:r>
              <a:rPr lang="en-US" sz="1800" b="1" dirty="0">
                <a:solidFill>
                  <a:schemeClr val="tx2"/>
                </a:solidFill>
              </a:rPr>
              <a:t>IST</a:t>
            </a:r>
            <a:endParaRPr lang="en-US" sz="1800" dirty="0"/>
          </a:p>
        </p:txBody>
      </p:sp>
      <p:sp>
        <p:nvSpPr>
          <p:cNvPr id="11" name="Text 7"/>
          <p:cNvSpPr txBox="1"/>
          <p:nvPr/>
        </p:nvSpPr>
        <p:spPr>
          <a:xfrm>
            <a:off x="1371600" y="2862072"/>
            <a:ext cx="5486400" cy="594360"/>
          </a:xfrm>
          <a:prstGeom prst="rect">
            <a:avLst/>
          </a:prstGeom>
          <a:noFill/>
          <a:ln/>
        </p:spPr>
        <p:txBody>
          <a:bodyPr wrap="square" lIns="0" tIns="0" rIns="0" bIns="0" rtlCol="0" anchor="t"/>
          <a:lstStyle/>
          <a:p>
            <a:pPr indent="0" marL="0">
              <a:buNone/>
            </a:pPr>
            <a:r>
              <a:rPr lang="en-US" sz="1400" dirty="0">
                <a:solidFill>
                  <a:schemeClr val="tx1"/>
                </a:solidFill>
              </a:rPr>
              <a:t>Sampled boxes and choices → the server rebuilds what was visible at decision time</a:t>
            </a:r>
            <a:endParaRPr lang="en-US" sz="1400" dirty="0"/>
          </a:p>
        </p:txBody>
      </p:sp>
      <p:sp>
        <p:nvSpPr>
          <p:cNvPr id="12" name="I Place circle"/>
          <p:cNvSpPr/>
          <p:nvPr/>
        </p:nvSpPr>
        <p:spPr>
          <a:xfrm>
            <a:off x="548640" y="3566160"/>
            <a:ext cx="594360" cy="594360"/>
          </a:xfrm>
          <a:prstGeom prst="ellipse">
            <a:avLst/>
          </a:prstGeom>
          <a:solidFill>
            <a:schemeClr val="accent2"/>
          </a:solidFill>
          <a:ln/>
        </p:spPr>
      </p:sp>
      <p:pic>
        <p:nvPicPr>
          <p:cNvPr id="13" name="I Place icon" descr="I Place">    </p:cNvPr>
          <p:cNvPicPr>
            <a:picLocks noChangeAspect="1"/>
          </p:cNvPicPr>
          <p:nvPr/>
        </p:nvPicPr>
        <p:blipFill>
          <a:blip r:embed="rId3"/>
          <a:stretch>
            <a:fillRect/>
          </a:stretch>
        </p:blipFill>
        <p:spPr>
          <a:xfrm>
            <a:off x="697230" y="3714750"/>
            <a:ext cx="297180" cy="297180"/>
          </a:xfrm>
          <a:prstGeom prst="rect">
            <a:avLst/>
          </a:prstGeom>
        </p:spPr>
      </p:pic>
      <p:sp>
        <p:nvSpPr>
          <p:cNvPr id="14" name="Text 9"/>
          <p:cNvSpPr txBox="1"/>
          <p:nvPr/>
        </p:nvSpPr>
        <p:spPr>
          <a:xfrm>
            <a:off x="1371600" y="3566160"/>
            <a:ext cx="5486400" cy="329184"/>
          </a:xfrm>
          <a:prstGeom prst="rect">
            <a:avLst/>
          </a:prstGeom>
          <a:noFill/>
          <a:ln/>
        </p:spPr>
        <p:txBody>
          <a:bodyPr wrap="square" lIns="0" tIns="0" rIns="0" bIns="0" rtlCol="0" anchor="t"/>
          <a:lstStyle/>
          <a:p>
            <a:pPr indent="0" marL="0">
              <a:buNone/>
            </a:pPr>
            <a:r>
              <a:rPr lang="en-US" sz="1800" b="1" dirty="0">
                <a:solidFill>
                  <a:schemeClr val="tx2"/>
                </a:solidFill>
              </a:rPr>
              <a:t>I Place</a:t>
            </a:r>
            <a:endParaRPr lang="en-US" sz="1800" dirty="0"/>
          </a:p>
        </p:txBody>
      </p:sp>
      <p:sp>
        <p:nvSpPr>
          <p:cNvPr id="15" name="Text 10"/>
          <p:cNvSpPr txBox="1"/>
          <p:nvPr/>
        </p:nvSpPr>
        <p:spPr>
          <a:xfrm>
            <a:off x="1371600" y="3913632"/>
            <a:ext cx="5486400" cy="594360"/>
          </a:xfrm>
          <a:prstGeom prst="rect">
            <a:avLst/>
          </a:prstGeom>
          <a:noFill/>
          <a:ln/>
        </p:spPr>
        <p:txBody>
          <a:bodyPr wrap="square" lIns="0" tIns="0" rIns="0" bIns="0" rtlCol="0" anchor="t"/>
          <a:lstStyle/>
          <a:p>
            <a:pPr indent="0" marL="0">
              <a:buNone/>
            </a:pPr>
            <a:r>
              <a:rPr lang="en-US" sz="1400" dirty="0">
                <a:solidFill>
                  <a:schemeClr val="tx1"/>
                </a:solidFill>
              </a:rPr>
              <a:t>Placement actions are replayed against the controlled layout</a:t>
            </a:r>
            <a:endParaRPr lang="en-US" sz="1400" dirty="0"/>
          </a:p>
        </p:txBody>
      </p:sp>
      <p:sp>
        <p:nvSpPr>
          <p:cNvPr id="16" name="controlled content"/>
          <p:cNvSpPr/>
          <p:nvPr/>
        </p:nvSpPr>
        <p:spPr>
          <a:xfrm>
            <a:off x="548640" y="4663440"/>
            <a:ext cx="6309360" cy="1371600"/>
          </a:xfrm>
          <a:prstGeom prst="roundRect">
            <a:avLst>
              <a:gd name="adj" fmla="val 8000"/>
            </a:avLst>
          </a:prstGeom>
          <a:solidFill>
            <a:schemeClr val="bg2"/>
          </a:solidFill>
          <a:ln/>
        </p:spPr>
      </p:sp>
      <p:sp>
        <p:nvSpPr>
          <p:cNvPr id="17" name="Text 12"/>
          <p:cNvSpPr txBox="1"/>
          <p:nvPr/>
        </p:nvSpPr>
        <p:spPr>
          <a:xfrm>
            <a:off x="822960" y="4800600"/>
            <a:ext cx="5760720" cy="329184"/>
          </a:xfrm>
          <a:prstGeom prst="rect">
            <a:avLst/>
          </a:prstGeom>
          <a:noFill/>
          <a:ln/>
        </p:spPr>
        <p:txBody>
          <a:bodyPr wrap="square" lIns="0" tIns="0" rIns="0" bIns="0" rtlCol="0" anchor="t"/>
          <a:lstStyle/>
          <a:p>
            <a:pPr indent="0" marL="0">
              <a:buNone/>
            </a:pPr>
            <a:r>
              <a:rPr lang="en-US" sz="1600" b="1" dirty="0">
                <a:solidFill>
                  <a:schemeClr val="tx2"/>
                </a:solidFill>
              </a:rPr>
              <a:t>Controlled content</a:t>
            </a:r>
            <a:endParaRPr lang="en-US" sz="1600" dirty="0"/>
          </a:p>
        </p:txBody>
      </p:sp>
      <p:sp>
        <p:nvSpPr>
          <p:cNvPr id="18" name="Text 13"/>
          <p:cNvSpPr txBox="1"/>
          <p:nvPr/>
        </p:nvSpPr>
        <p:spPr>
          <a:xfrm>
            <a:off x="822960" y="5138928"/>
            <a:ext cx="5760720" cy="777240"/>
          </a:xfrm>
          <a:prstGeom prst="rect">
            <a:avLst/>
          </a:prstGeom>
          <a:noFill/>
          <a:ln/>
        </p:spPr>
        <p:txBody>
          <a:bodyPr wrap="square" lIns="0" tIns="0" rIns="0" bIns="0" rtlCol="0" anchor="t"/>
          <a:lstStyle/>
          <a:p>
            <a:pPr indent="0" marL="0">
              <a:buNone/>
            </a:pPr>
            <a:r>
              <a:rPr lang="en-US" sz="1400" dirty="0">
                <a:solidFill>
                  <a:schemeClr val="tx1"/>
                </a:solidFill>
              </a:rPr>
              <a:t>Runtime snapshots freeze the published settings when a session starts; assigned forms bind scenario games to a controlled bank.</a:t>
            </a:r>
            <a:endParaRPr lang="en-US" sz="1400" dirty="0"/>
          </a:p>
        </p:txBody>
      </p:sp>
      <p:pic>
        <p:nvPicPr>
          <p:cNvPr id="19" name="screen 113-bart-10-pump" descr="BART pumping">    </p:cNvPr>
          <p:cNvPicPr>
            <a:picLocks noChangeAspect="1"/>
          </p:cNvPicPr>
          <p:nvPr/>
        </p:nvPicPr>
        <p:blipFill>
          <a:blip r:embed="rId4"/>
          <a:stretch>
            <a:fillRect/>
          </a:stretch>
        </p:blipFill>
        <p:spPr>
          <a:xfrm>
            <a:off x="7269480" y="1325880"/>
            <a:ext cx="2087722" cy="4389120"/>
          </a:xfrm>
          <a:prstGeom prst="rect">
            <a:avLst/>
          </a:prstGeom>
        </p:spPr>
      </p:pic>
      <p:pic>
        <p:nvPicPr>
          <p:cNvPr id="20" name="screen 121-ist-decision" descr="IST confidence choice">    </p:cNvPr>
          <p:cNvPicPr>
            <a:picLocks noChangeAspect="1"/>
          </p:cNvPicPr>
          <p:nvPr/>
        </p:nvPicPr>
        <p:blipFill>
          <a:blip r:embed="rId5"/>
          <a:stretch>
            <a:fillRect/>
          </a:stretch>
        </p:blipFill>
        <p:spPr>
          <a:xfrm>
            <a:off x="9555480" y="1325880"/>
            <a:ext cx="2087722" cy="4389120"/>
          </a:xfrm>
          <a:prstGeom prst="rect">
            <a:avLst/>
          </a:prstGeom>
        </p:spPr>
      </p:pic>
      <p:sp>
        <p:nvSpPr>
          <p:cNvPr id="21" name="Text 14"/>
          <p:cNvSpPr txBox="1"/>
          <p:nvPr/>
        </p:nvSpPr>
        <p:spPr>
          <a:xfrm>
            <a:off x="7132320" y="5806440"/>
            <a:ext cx="2377440" cy="274320"/>
          </a:xfrm>
          <a:prstGeom prst="rect">
            <a:avLst/>
          </a:prstGeom>
          <a:noFill/>
          <a:ln/>
        </p:spPr>
        <p:txBody>
          <a:bodyPr wrap="square" lIns="0" tIns="0" rIns="0" bIns="0" rtlCol="0" anchor="t"/>
          <a:lstStyle/>
          <a:p>
            <a:pPr algn="ctr" indent="0" marL="0">
              <a:buNone/>
            </a:pPr>
            <a:r>
              <a:rPr lang="en-US" sz="1100" dirty="0">
                <a:solidFill>
                  <a:schemeClr val="accent6"/>
                </a:solidFill>
              </a:rPr>
              <a:t>BART · balloon 10 of 30</a:t>
            </a:r>
            <a:endParaRPr lang="en-US" sz="1100" dirty="0"/>
          </a:p>
        </p:txBody>
      </p:sp>
      <p:sp>
        <p:nvSpPr>
          <p:cNvPr id="22" name="Text 15"/>
          <p:cNvSpPr txBox="1"/>
          <p:nvPr/>
        </p:nvSpPr>
        <p:spPr>
          <a:xfrm>
            <a:off x="9326880" y="5806440"/>
            <a:ext cx="2560320" cy="274320"/>
          </a:xfrm>
          <a:prstGeom prst="rect">
            <a:avLst/>
          </a:prstGeom>
          <a:noFill/>
          <a:ln/>
        </p:spPr>
        <p:txBody>
          <a:bodyPr wrap="square" lIns="0" tIns="0" rIns="0" bIns="0" rtlCol="0" anchor="t"/>
          <a:lstStyle/>
          <a:p>
            <a:pPr algn="ctr" indent="0" marL="0">
              <a:buNone/>
            </a:pPr>
            <a:r>
              <a:rPr lang="en-US" sz="1100" dirty="0">
                <a:solidFill>
                  <a:schemeClr val="accent6"/>
                </a:solidFill>
              </a:rPr>
              <a:t>IST · colour choice + confidence</a:t>
            </a:r>
            <a:endParaRPr lang="en-US" sz="11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Six languages, adjustable reading</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7 Localization and accessibility</a:t>
            </a:r>
            <a:endParaRPr lang="en-US" sz="1000" dirty="0"/>
          </a:p>
        </p:txBody>
      </p:sp>
      <p:pic>
        <p:nvPicPr>
          <p:cNvPr id="4" name="screen 50-language-picker" descr="Language picker">    </p:cNvPr>
          <p:cNvPicPr>
            <a:picLocks noChangeAspect="1"/>
          </p:cNvPicPr>
          <p:nvPr/>
        </p:nvPicPr>
        <p:blipFill>
          <a:blip r:embed="rId1"/>
          <a:stretch>
            <a:fillRect/>
          </a:stretch>
        </p:blipFill>
        <p:spPr>
          <a:xfrm>
            <a:off x="548640" y="1325880"/>
            <a:ext cx="2087722" cy="4389120"/>
          </a:xfrm>
          <a:prstGeom prst="rect">
            <a:avLst/>
          </a:prstGeom>
        </p:spPr>
      </p:pic>
      <p:pic>
        <p:nvPicPr>
          <p:cNvPr id="5" name="screen 52-accessibility" descr="Accessibility settings">    </p:cNvPr>
          <p:cNvPicPr>
            <a:picLocks noChangeAspect="1"/>
          </p:cNvPicPr>
          <p:nvPr/>
        </p:nvPicPr>
        <p:blipFill>
          <a:blip r:embed="rId2"/>
          <a:stretch>
            <a:fillRect/>
          </a:stretch>
        </p:blipFill>
        <p:spPr>
          <a:xfrm>
            <a:off x="2926080" y="1325880"/>
            <a:ext cx="2087722" cy="4389120"/>
          </a:xfrm>
          <a:prstGeom prst="rect">
            <a:avLst/>
          </a:prstGeom>
        </p:spPr>
      </p:pic>
      <p:sp>
        <p:nvSpPr>
          <p:cNvPr id="6" name="Text 2"/>
          <p:cNvSpPr txBox="1"/>
          <p:nvPr/>
        </p:nvSpPr>
        <p:spPr>
          <a:xfrm>
            <a:off x="457200" y="5806440"/>
            <a:ext cx="2286000" cy="274320"/>
          </a:xfrm>
          <a:prstGeom prst="rect">
            <a:avLst/>
          </a:prstGeom>
          <a:noFill/>
          <a:ln/>
        </p:spPr>
        <p:txBody>
          <a:bodyPr wrap="square" lIns="0" tIns="0" rIns="0" bIns="0" rtlCol="0" anchor="t"/>
          <a:lstStyle/>
          <a:p>
            <a:pPr algn="ctr" indent="0" marL="0">
              <a:buNone/>
            </a:pPr>
            <a:r>
              <a:rPr lang="en-US" sz="1100" dirty="0">
                <a:solidFill>
                  <a:schemeClr val="accent6"/>
                </a:solidFill>
              </a:rPr>
              <a:t>Language picker</a:t>
            </a:r>
            <a:endParaRPr lang="en-US" sz="1100" dirty="0"/>
          </a:p>
        </p:txBody>
      </p:sp>
      <p:sp>
        <p:nvSpPr>
          <p:cNvPr id="7" name="Text 3"/>
          <p:cNvSpPr txBox="1"/>
          <p:nvPr/>
        </p:nvSpPr>
        <p:spPr>
          <a:xfrm>
            <a:off x="2834640" y="5806440"/>
            <a:ext cx="2286000" cy="274320"/>
          </a:xfrm>
          <a:prstGeom prst="rect">
            <a:avLst/>
          </a:prstGeom>
          <a:noFill/>
          <a:ln/>
        </p:spPr>
        <p:txBody>
          <a:bodyPr wrap="square" lIns="0" tIns="0" rIns="0" bIns="0" rtlCol="0" anchor="t"/>
          <a:lstStyle/>
          <a:p>
            <a:pPr algn="ctr" indent="0" marL="0">
              <a:buNone/>
            </a:pPr>
            <a:r>
              <a:rPr lang="en-US" sz="1100" dirty="0">
                <a:solidFill>
                  <a:schemeClr val="accent6"/>
                </a:solidFill>
              </a:rPr>
              <a:t>Accessibility settings</a:t>
            </a:r>
            <a:endParaRPr lang="en-US" sz="1100" dirty="0"/>
          </a:p>
        </p:txBody>
      </p:sp>
      <p:sp>
        <p:nvSpPr>
          <p:cNvPr id="8" name="lang English"/>
          <p:cNvSpPr/>
          <p:nvPr/>
        </p:nvSpPr>
        <p:spPr>
          <a:xfrm>
            <a:off x="5760720" y="1463040"/>
            <a:ext cx="1838858" cy="457200"/>
          </a:xfrm>
          <a:prstGeom prst="roundRect">
            <a:avLst>
              <a:gd name="adj" fmla="val 50000"/>
            </a:avLst>
          </a:prstGeom>
          <a:solidFill>
            <a:schemeClr val="tx2"/>
          </a:solidFill>
          <a:ln/>
        </p:spPr>
      </p:sp>
      <p:sp>
        <p:nvSpPr>
          <p:cNvPr id="9" name="Text 5"/>
          <p:cNvSpPr txBox="1"/>
          <p:nvPr/>
        </p:nvSpPr>
        <p:spPr>
          <a:xfrm>
            <a:off x="5760720" y="1463040"/>
            <a:ext cx="1838858" cy="457200"/>
          </a:xfrm>
          <a:prstGeom prst="rect">
            <a:avLst/>
          </a:prstGeom>
          <a:noFill/>
          <a:ln/>
        </p:spPr>
        <p:txBody>
          <a:bodyPr wrap="square" lIns="0" tIns="0" rIns="0" bIns="0" rtlCol="0" anchor="ctr"/>
          <a:lstStyle/>
          <a:p>
            <a:pPr algn="ctr" indent="0" marL="0">
              <a:buNone/>
            </a:pPr>
            <a:r>
              <a:rPr lang="en-US" sz="1400" b="1" dirty="0">
                <a:solidFill>
                  <a:schemeClr val="bg1"/>
                </a:solidFill>
              </a:rPr>
              <a:t>English</a:t>
            </a:r>
            <a:endParaRPr lang="en-US" sz="1400" dirty="0"/>
          </a:p>
        </p:txBody>
      </p:sp>
      <p:sp>
        <p:nvSpPr>
          <p:cNvPr id="10" name="lang Français"/>
          <p:cNvSpPr/>
          <p:nvPr/>
        </p:nvSpPr>
        <p:spPr>
          <a:xfrm>
            <a:off x="7782458" y="1463040"/>
            <a:ext cx="1838858" cy="457200"/>
          </a:xfrm>
          <a:prstGeom prst="roundRect">
            <a:avLst>
              <a:gd name="adj" fmla="val 50000"/>
            </a:avLst>
          </a:prstGeom>
          <a:solidFill>
            <a:schemeClr val="bg2"/>
          </a:solidFill>
          <a:ln/>
        </p:spPr>
      </p:sp>
      <p:sp>
        <p:nvSpPr>
          <p:cNvPr id="11" name="Text 7"/>
          <p:cNvSpPr txBox="1"/>
          <p:nvPr/>
        </p:nvSpPr>
        <p:spPr>
          <a:xfrm>
            <a:off x="7782458" y="1463040"/>
            <a:ext cx="1838858" cy="457200"/>
          </a:xfrm>
          <a:prstGeom prst="rect">
            <a:avLst/>
          </a:prstGeom>
          <a:noFill/>
          <a:ln/>
        </p:spPr>
        <p:txBody>
          <a:bodyPr wrap="square" lIns="0" tIns="0" rIns="0" bIns="0" rtlCol="0" anchor="ctr"/>
          <a:lstStyle/>
          <a:p>
            <a:pPr algn="ctr" indent="0" marL="0">
              <a:buNone/>
            </a:pPr>
            <a:r>
              <a:rPr lang="en-US" sz="1400" b="1" dirty="0">
                <a:solidFill>
                  <a:schemeClr val="tx2"/>
                </a:solidFill>
              </a:rPr>
              <a:t>Français</a:t>
            </a:r>
            <a:endParaRPr lang="en-US" sz="1400" dirty="0"/>
          </a:p>
        </p:txBody>
      </p:sp>
      <p:sp>
        <p:nvSpPr>
          <p:cNvPr id="12" name="lang Español"/>
          <p:cNvSpPr/>
          <p:nvPr/>
        </p:nvSpPr>
        <p:spPr>
          <a:xfrm>
            <a:off x="9804197" y="1463040"/>
            <a:ext cx="1838858" cy="457200"/>
          </a:xfrm>
          <a:prstGeom prst="roundRect">
            <a:avLst>
              <a:gd name="adj" fmla="val 50000"/>
            </a:avLst>
          </a:prstGeom>
          <a:solidFill>
            <a:schemeClr val="bg2"/>
          </a:solidFill>
          <a:ln/>
        </p:spPr>
      </p:sp>
      <p:sp>
        <p:nvSpPr>
          <p:cNvPr id="13" name="Text 9"/>
          <p:cNvSpPr txBox="1"/>
          <p:nvPr/>
        </p:nvSpPr>
        <p:spPr>
          <a:xfrm>
            <a:off x="9804197" y="1463040"/>
            <a:ext cx="1838858" cy="457200"/>
          </a:xfrm>
          <a:prstGeom prst="rect">
            <a:avLst/>
          </a:prstGeom>
          <a:noFill/>
          <a:ln/>
        </p:spPr>
        <p:txBody>
          <a:bodyPr wrap="square" lIns="0" tIns="0" rIns="0" bIns="0" rtlCol="0" anchor="ctr"/>
          <a:lstStyle/>
          <a:p>
            <a:pPr algn="ctr" indent="0" marL="0">
              <a:buNone/>
            </a:pPr>
            <a:r>
              <a:rPr lang="en-US" sz="1400" b="1" dirty="0">
                <a:solidFill>
                  <a:schemeClr val="tx2"/>
                </a:solidFill>
              </a:rPr>
              <a:t>Español</a:t>
            </a:r>
            <a:endParaRPr lang="en-US" sz="1400" dirty="0"/>
          </a:p>
        </p:txBody>
      </p:sp>
      <p:sp>
        <p:nvSpPr>
          <p:cNvPr id="14" name="lang Deutsch"/>
          <p:cNvSpPr/>
          <p:nvPr/>
        </p:nvSpPr>
        <p:spPr>
          <a:xfrm>
            <a:off x="5760720" y="2103120"/>
            <a:ext cx="1838858" cy="457200"/>
          </a:xfrm>
          <a:prstGeom prst="roundRect">
            <a:avLst>
              <a:gd name="adj" fmla="val 50000"/>
            </a:avLst>
          </a:prstGeom>
          <a:solidFill>
            <a:schemeClr val="bg2"/>
          </a:solidFill>
          <a:ln/>
        </p:spPr>
      </p:sp>
      <p:sp>
        <p:nvSpPr>
          <p:cNvPr id="15" name="Text 11"/>
          <p:cNvSpPr txBox="1"/>
          <p:nvPr/>
        </p:nvSpPr>
        <p:spPr>
          <a:xfrm>
            <a:off x="5760720" y="2103120"/>
            <a:ext cx="1838858" cy="457200"/>
          </a:xfrm>
          <a:prstGeom prst="rect">
            <a:avLst/>
          </a:prstGeom>
          <a:noFill/>
          <a:ln/>
        </p:spPr>
        <p:txBody>
          <a:bodyPr wrap="square" lIns="0" tIns="0" rIns="0" bIns="0" rtlCol="0" anchor="ctr"/>
          <a:lstStyle/>
          <a:p>
            <a:pPr algn="ctr" indent="0" marL="0">
              <a:buNone/>
            </a:pPr>
            <a:r>
              <a:rPr lang="en-US" sz="1400" b="1" dirty="0">
                <a:solidFill>
                  <a:schemeClr val="tx2"/>
                </a:solidFill>
              </a:rPr>
              <a:t>Deutsch</a:t>
            </a:r>
            <a:endParaRPr lang="en-US" sz="1400" dirty="0"/>
          </a:p>
        </p:txBody>
      </p:sp>
      <p:sp>
        <p:nvSpPr>
          <p:cNvPr id="16" name="lang Italiano"/>
          <p:cNvSpPr/>
          <p:nvPr/>
        </p:nvSpPr>
        <p:spPr>
          <a:xfrm>
            <a:off x="7782458" y="2103120"/>
            <a:ext cx="1838858" cy="457200"/>
          </a:xfrm>
          <a:prstGeom prst="roundRect">
            <a:avLst>
              <a:gd name="adj" fmla="val 50000"/>
            </a:avLst>
          </a:prstGeom>
          <a:solidFill>
            <a:schemeClr val="bg2"/>
          </a:solidFill>
          <a:ln/>
        </p:spPr>
      </p:sp>
      <p:sp>
        <p:nvSpPr>
          <p:cNvPr id="17" name="Text 13"/>
          <p:cNvSpPr txBox="1"/>
          <p:nvPr/>
        </p:nvSpPr>
        <p:spPr>
          <a:xfrm>
            <a:off x="7782458" y="2103120"/>
            <a:ext cx="1838858" cy="457200"/>
          </a:xfrm>
          <a:prstGeom prst="rect">
            <a:avLst/>
          </a:prstGeom>
          <a:noFill/>
          <a:ln/>
        </p:spPr>
        <p:txBody>
          <a:bodyPr wrap="square" lIns="0" tIns="0" rIns="0" bIns="0" rtlCol="0" anchor="ctr"/>
          <a:lstStyle/>
          <a:p>
            <a:pPr algn="ctr" indent="0" marL="0">
              <a:buNone/>
            </a:pPr>
            <a:r>
              <a:rPr lang="en-US" sz="1400" b="1" dirty="0">
                <a:solidFill>
                  <a:schemeClr val="tx2"/>
                </a:solidFill>
              </a:rPr>
              <a:t>Italiano</a:t>
            </a:r>
            <a:endParaRPr lang="en-US" sz="1400" dirty="0"/>
          </a:p>
        </p:txBody>
      </p:sp>
      <p:sp>
        <p:nvSpPr>
          <p:cNvPr id="18" name="lang Nederlands"/>
          <p:cNvSpPr/>
          <p:nvPr/>
        </p:nvSpPr>
        <p:spPr>
          <a:xfrm>
            <a:off x="9804197" y="2103120"/>
            <a:ext cx="1838858" cy="457200"/>
          </a:xfrm>
          <a:prstGeom prst="roundRect">
            <a:avLst>
              <a:gd name="adj" fmla="val 50000"/>
            </a:avLst>
          </a:prstGeom>
          <a:solidFill>
            <a:schemeClr val="bg2"/>
          </a:solidFill>
          <a:ln/>
        </p:spPr>
      </p:sp>
      <p:sp>
        <p:nvSpPr>
          <p:cNvPr id="19" name="Text 15"/>
          <p:cNvSpPr txBox="1"/>
          <p:nvPr/>
        </p:nvSpPr>
        <p:spPr>
          <a:xfrm>
            <a:off x="9804197" y="2103120"/>
            <a:ext cx="1838858" cy="457200"/>
          </a:xfrm>
          <a:prstGeom prst="rect">
            <a:avLst/>
          </a:prstGeom>
          <a:noFill/>
          <a:ln/>
        </p:spPr>
        <p:txBody>
          <a:bodyPr wrap="square" lIns="0" tIns="0" rIns="0" bIns="0" rtlCol="0" anchor="ctr"/>
          <a:lstStyle/>
          <a:p>
            <a:pPr algn="ctr" indent="0" marL="0">
              <a:buNone/>
            </a:pPr>
            <a:r>
              <a:rPr lang="en-US" sz="1400" b="1" dirty="0">
                <a:solidFill>
                  <a:schemeClr val="tx2"/>
                </a:solidFill>
              </a:rPr>
              <a:t>Nederlands</a:t>
            </a:r>
            <a:endParaRPr lang="en-US" sz="1400" dirty="0"/>
          </a:p>
        </p:txBody>
      </p:sp>
      <p:sp>
        <p:nvSpPr>
          <p:cNvPr id="20" name="Localization keys everywhere circle"/>
          <p:cNvSpPr/>
          <p:nvPr/>
        </p:nvSpPr>
        <p:spPr>
          <a:xfrm>
            <a:off x="5760720" y="2926080"/>
            <a:ext cx="548640" cy="548640"/>
          </a:xfrm>
          <a:prstGeom prst="ellipse">
            <a:avLst/>
          </a:prstGeom>
          <a:solidFill>
            <a:schemeClr val="tx2"/>
          </a:solidFill>
          <a:ln/>
        </p:spPr>
      </p:sp>
      <p:pic>
        <p:nvPicPr>
          <p:cNvPr id="21" name="Localization keys everywhere icon" descr="Localization keys everywhere">    </p:cNvPr>
          <p:cNvPicPr>
            <a:picLocks noChangeAspect="1"/>
          </p:cNvPicPr>
          <p:nvPr/>
        </p:nvPicPr>
        <p:blipFill>
          <a:blip r:embed="rId3"/>
          <a:stretch>
            <a:fillRect/>
          </a:stretch>
        </p:blipFill>
        <p:spPr>
          <a:xfrm>
            <a:off x="5897880" y="3063240"/>
            <a:ext cx="274320" cy="274320"/>
          </a:xfrm>
          <a:prstGeom prst="rect">
            <a:avLst/>
          </a:prstGeom>
        </p:spPr>
      </p:pic>
      <p:sp>
        <p:nvSpPr>
          <p:cNvPr id="22" name="Text 17"/>
          <p:cNvSpPr txBox="1"/>
          <p:nvPr/>
        </p:nvSpPr>
        <p:spPr>
          <a:xfrm>
            <a:off x="6537960" y="2926080"/>
            <a:ext cx="5105095" cy="329184"/>
          </a:xfrm>
          <a:prstGeom prst="rect">
            <a:avLst/>
          </a:prstGeom>
          <a:noFill/>
          <a:ln/>
        </p:spPr>
        <p:txBody>
          <a:bodyPr wrap="square" lIns="0" tIns="0" rIns="0" bIns="0" rtlCol="0" anchor="t"/>
          <a:lstStyle/>
          <a:p>
            <a:pPr indent="0" marL="0">
              <a:buNone/>
            </a:pPr>
            <a:r>
              <a:rPr lang="en-US" sz="1600" b="1" dirty="0">
                <a:solidFill>
                  <a:schemeClr val="tx2"/>
                </a:solidFill>
              </a:rPr>
              <a:t>Localization keys everywhere</a:t>
            </a:r>
            <a:endParaRPr lang="en-US" sz="1600" dirty="0"/>
          </a:p>
        </p:txBody>
      </p:sp>
      <p:sp>
        <p:nvSpPr>
          <p:cNvPr id="23" name="Text 18"/>
          <p:cNvSpPr txBox="1"/>
          <p:nvPr/>
        </p:nvSpPr>
        <p:spPr>
          <a:xfrm>
            <a:off x="6537960" y="3273552"/>
            <a:ext cx="5105095" cy="548640"/>
          </a:xfrm>
          <a:prstGeom prst="rect">
            <a:avLst/>
          </a:prstGeom>
          <a:noFill/>
          <a:ln/>
        </p:spPr>
        <p:txBody>
          <a:bodyPr wrap="square" lIns="0" tIns="0" rIns="0" bIns="0" rtlCol="0" anchor="t"/>
          <a:lstStyle/>
          <a:p>
            <a:pPr indent="0" marL="0">
              <a:buNone/>
            </a:pPr>
            <a:r>
              <a:rPr lang="en-US" sz="1400" dirty="0">
                <a:solidFill>
                  <a:schemeClr val="tx1"/>
                </a:solidFill>
              </a:rPr>
              <a:t>Instructions, controls, errors and accessibility labels; ICU plurals for counts.</a:t>
            </a:r>
            <a:endParaRPr lang="en-US" sz="1400" dirty="0"/>
          </a:p>
        </p:txBody>
      </p:sp>
      <p:sp>
        <p:nvSpPr>
          <p:cNvPr id="24" name="Layouts that absorb long strings circle"/>
          <p:cNvSpPr/>
          <p:nvPr/>
        </p:nvSpPr>
        <p:spPr>
          <a:xfrm>
            <a:off x="5760720" y="3931920"/>
            <a:ext cx="548640" cy="548640"/>
          </a:xfrm>
          <a:prstGeom prst="ellipse">
            <a:avLst/>
          </a:prstGeom>
          <a:solidFill>
            <a:schemeClr val="tx2"/>
          </a:solidFill>
          <a:ln/>
        </p:spPr>
      </p:sp>
      <p:pic>
        <p:nvPicPr>
          <p:cNvPr id="25" name="Layouts that absorb long strings icon" descr="Layouts that absorb long strings">    </p:cNvPr>
          <p:cNvPicPr>
            <a:picLocks noChangeAspect="1"/>
          </p:cNvPicPr>
          <p:nvPr/>
        </p:nvPicPr>
        <p:blipFill>
          <a:blip r:embed="rId4"/>
          <a:stretch>
            <a:fillRect/>
          </a:stretch>
        </p:blipFill>
        <p:spPr>
          <a:xfrm>
            <a:off x="5897880" y="4069080"/>
            <a:ext cx="274320" cy="274320"/>
          </a:xfrm>
          <a:prstGeom prst="rect">
            <a:avLst/>
          </a:prstGeom>
        </p:spPr>
      </p:pic>
      <p:sp>
        <p:nvSpPr>
          <p:cNvPr id="26" name="Text 20"/>
          <p:cNvSpPr txBox="1"/>
          <p:nvPr/>
        </p:nvSpPr>
        <p:spPr>
          <a:xfrm>
            <a:off x="6537960" y="3931920"/>
            <a:ext cx="5105095" cy="329184"/>
          </a:xfrm>
          <a:prstGeom prst="rect">
            <a:avLst/>
          </a:prstGeom>
          <a:noFill/>
          <a:ln/>
        </p:spPr>
        <p:txBody>
          <a:bodyPr wrap="square" lIns="0" tIns="0" rIns="0" bIns="0" rtlCol="0" anchor="t"/>
          <a:lstStyle/>
          <a:p>
            <a:pPr indent="0" marL="0">
              <a:buNone/>
            </a:pPr>
            <a:r>
              <a:rPr lang="en-US" sz="1600" b="1" dirty="0">
                <a:solidFill>
                  <a:schemeClr val="tx2"/>
                </a:solidFill>
              </a:rPr>
              <a:t>Layouts that absorb long strings</a:t>
            </a:r>
            <a:endParaRPr lang="en-US" sz="1600" dirty="0"/>
          </a:p>
        </p:txBody>
      </p:sp>
      <p:sp>
        <p:nvSpPr>
          <p:cNvPr id="27" name="Text 21"/>
          <p:cNvSpPr txBox="1"/>
          <p:nvPr/>
        </p:nvSpPr>
        <p:spPr>
          <a:xfrm>
            <a:off x="6537960" y="4279392"/>
            <a:ext cx="5105095" cy="548640"/>
          </a:xfrm>
          <a:prstGeom prst="rect">
            <a:avLst/>
          </a:prstGeom>
          <a:noFill/>
          <a:ln/>
        </p:spPr>
        <p:txBody>
          <a:bodyPr wrap="square" lIns="0" tIns="0" rIns="0" bIns="0" rtlCol="0" anchor="t"/>
          <a:lstStyle/>
          <a:p>
            <a:pPr indent="0" marL="0">
              <a:buNone/>
            </a:pPr>
            <a:r>
              <a:rPr lang="en-US" sz="1400" dirty="0">
                <a:solidFill>
                  <a:schemeClr val="tx1"/>
                </a:solidFill>
              </a:rPr>
              <a:t>Shared game layouts keep German and Dutch readable on small screens.</a:t>
            </a:r>
            <a:endParaRPr lang="en-US" sz="1400" dirty="0"/>
          </a:p>
        </p:txBody>
      </p:sp>
      <p:sp>
        <p:nvSpPr>
          <p:cNvPr id="28" name="Reading preferences circle"/>
          <p:cNvSpPr/>
          <p:nvPr/>
        </p:nvSpPr>
        <p:spPr>
          <a:xfrm>
            <a:off x="5760720" y="4937760"/>
            <a:ext cx="548640" cy="548640"/>
          </a:xfrm>
          <a:prstGeom prst="ellipse">
            <a:avLst/>
          </a:prstGeom>
          <a:solidFill>
            <a:schemeClr val="tx2"/>
          </a:solidFill>
          <a:ln/>
        </p:spPr>
      </p:sp>
      <p:pic>
        <p:nvPicPr>
          <p:cNvPr id="29" name="Reading preferences icon" descr="Reading preferences">    </p:cNvPr>
          <p:cNvPicPr>
            <a:picLocks noChangeAspect="1"/>
          </p:cNvPicPr>
          <p:nvPr/>
        </p:nvPicPr>
        <p:blipFill>
          <a:blip r:embed="rId5"/>
          <a:stretch>
            <a:fillRect/>
          </a:stretch>
        </p:blipFill>
        <p:spPr>
          <a:xfrm>
            <a:off x="5897880" y="5074920"/>
            <a:ext cx="274320" cy="274320"/>
          </a:xfrm>
          <a:prstGeom prst="rect">
            <a:avLst/>
          </a:prstGeom>
        </p:spPr>
      </p:pic>
      <p:sp>
        <p:nvSpPr>
          <p:cNvPr id="30" name="Text 23"/>
          <p:cNvSpPr txBox="1"/>
          <p:nvPr/>
        </p:nvSpPr>
        <p:spPr>
          <a:xfrm>
            <a:off x="6537960" y="4937760"/>
            <a:ext cx="5105095" cy="329184"/>
          </a:xfrm>
          <a:prstGeom prst="rect">
            <a:avLst/>
          </a:prstGeom>
          <a:noFill/>
          <a:ln/>
        </p:spPr>
        <p:txBody>
          <a:bodyPr wrap="square" lIns="0" tIns="0" rIns="0" bIns="0" rtlCol="0" anchor="t"/>
          <a:lstStyle/>
          <a:p>
            <a:pPr indent="0" marL="0">
              <a:buNone/>
            </a:pPr>
            <a:r>
              <a:rPr lang="en-US" sz="1600" b="1" dirty="0">
                <a:solidFill>
                  <a:schemeClr val="tx2"/>
                </a:solidFill>
              </a:rPr>
              <a:t>Reading preferences</a:t>
            </a:r>
            <a:endParaRPr lang="en-US" sz="1600" dirty="0"/>
          </a:p>
        </p:txBody>
      </p:sp>
      <p:sp>
        <p:nvSpPr>
          <p:cNvPr id="31" name="Text 24"/>
          <p:cNvSpPr txBox="1"/>
          <p:nvPr/>
        </p:nvSpPr>
        <p:spPr>
          <a:xfrm>
            <a:off x="6537960" y="5285232"/>
            <a:ext cx="5105095" cy="548640"/>
          </a:xfrm>
          <a:prstGeom prst="rect">
            <a:avLst/>
          </a:prstGeom>
          <a:noFill/>
          <a:ln/>
        </p:spPr>
        <p:txBody>
          <a:bodyPr wrap="square" lIns="0" tIns="0" rIns="0" bIns="0" rtlCol="0" anchor="t"/>
          <a:lstStyle/>
          <a:p>
            <a:pPr indent="0" marL="0">
              <a:buNone/>
            </a:pPr>
            <a:r>
              <a:rPr lang="en-US" sz="1400" dirty="0">
                <a:solidFill>
                  <a:schemeClr val="tx1"/>
                </a:solidFill>
              </a:rPr>
              <a:t>Text size, contrast, bold text and reduced motion.</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From recruiter test to application</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6, Ch. 8 Walkthrough · App. A</a:t>
            </a:r>
            <a:endParaRPr lang="en-US" sz="1000" dirty="0"/>
          </a:p>
        </p:txBody>
      </p:sp>
      <p:sp>
        <p:nvSpPr>
          <p:cNvPr id="4" name="Text 2"/>
          <p:cNvSpPr txBox="1"/>
          <p:nvPr/>
        </p:nvSpPr>
        <p:spPr>
          <a:xfrm>
            <a:off x="548640" y="1463040"/>
            <a:ext cx="2834640" cy="1097280"/>
          </a:xfrm>
          <a:prstGeom prst="rect">
            <a:avLst/>
          </a:prstGeom>
          <a:noFill/>
          <a:ln/>
        </p:spPr>
        <p:txBody>
          <a:bodyPr wrap="square" lIns="0" tIns="0" rIns="0" bIns="0" rtlCol="0" anchor="t"/>
          <a:lstStyle/>
          <a:p>
            <a:pPr indent="0" marL="0">
              <a:buNone/>
            </a:pPr>
            <a:r>
              <a:rPr lang="en-US" sz="1600" dirty="0">
                <a:solidFill>
                  <a:schemeClr val="accent6"/>
                </a:solidFill>
              </a:rPr>
              <a:t>Beyond the games, I tested the full recruiter-to-candidate path on a real iPhone build.</a:t>
            </a:r>
            <a:endParaRPr lang="en-US" sz="1600" dirty="0"/>
          </a:p>
        </p:txBody>
      </p:sp>
      <p:sp>
        <p:nvSpPr>
          <p:cNvPr id="5" name="step dot 0"/>
          <p:cNvSpPr/>
          <p:nvPr/>
        </p:nvSpPr>
        <p:spPr>
          <a:xfrm>
            <a:off x="548640" y="2743200"/>
            <a:ext cx="411480" cy="411480"/>
          </a:xfrm>
          <a:prstGeom prst="ellipse">
            <a:avLst/>
          </a:prstGeom>
          <a:solidFill>
            <a:schemeClr val="tx2"/>
          </a:solidFill>
          <a:ln/>
        </p:spPr>
      </p:sp>
      <p:sp>
        <p:nvSpPr>
          <p:cNvPr id="6" name="Text 4"/>
          <p:cNvSpPr txBox="1"/>
          <p:nvPr/>
        </p:nvSpPr>
        <p:spPr>
          <a:xfrm>
            <a:off x="548640" y="2743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097280" y="2706624"/>
            <a:ext cx="2377440" cy="685800"/>
          </a:xfrm>
          <a:prstGeom prst="rect">
            <a:avLst/>
          </a:prstGeom>
          <a:noFill/>
          <a:ln/>
        </p:spPr>
        <p:txBody>
          <a:bodyPr wrap="square" lIns="0" tIns="0" rIns="0" bIns="0" rtlCol="0" anchor="t"/>
          <a:lstStyle/>
          <a:p>
            <a:pPr indent="0" marL="0">
              <a:buNone/>
            </a:pPr>
            <a:r>
              <a:rPr lang="en-US" sz="1400" b="1" dirty="0">
                <a:solidFill>
                  <a:schemeClr val="tx2"/>
                </a:solidFill>
              </a:rPr>
              <a:t>Recruiter </a:t>
            </a:r>
            <a:pPr indent="0" marL="0">
              <a:buNone/>
            </a:pPr>
            <a:r>
              <a:rPr lang="en-US" sz="1400" dirty="0">
                <a:solidFill>
                  <a:schemeClr val="tx1"/>
                </a:solidFill>
              </a:rPr>
              <a:t>creates a test and publishes an offer</a:t>
            </a:r>
            <a:endParaRPr lang="en-US" sz="1400" dirty="0"/>
          </a:p>
        </p:txBody>
      </p:sp>
      <p:sp>
        <p:nvSpPr>
          <p:cNvPr id="8" name="step dot 1"/>
          <p:cNvSpPr/>
          <p:nvPr/>
        </p:nvSpPr>
        <p:spPr>
          <a:xfrm>
            <a:off x="548640" y="3520440"/>
            <a:ext cx="411480" cy="411480"/>
          </a:xfrm>
          <a:prstGeom prst="ellipse">
            <a:avLst/>
          </a:prstGeom>
          <a:solidFill>
            <a:schemeClr val="tx2"/>
          </a:solidFill>
          <a:ln/>
        </p:spPr>
      </p:sp>
      <p:sp>
        <p:nvSpPr>
          <p:cNvPr id="9" name="Text 7"/>
          <p:cNvSpPr txBox="1"/>
          <p:nvPr/>
        </p:nvSpPr>
        <p:spPr>
          <a:xfrm>
            <a:off x="548640" y="3520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097280" y="3483864"/>
            <a:ext cx="2377440" cy="685800"/>
          </a:xfrm>
          <a:prstGeom prst="rect">
            <a:avLst/>
          </a:prstGeom>
          <a:noFill/>
          <a:ln/>
        </p:spPr>
        <p:txBody>
          <a:bodyPr wrap="square" lIns="0" tIns="0" rIns="0" bIns="0" rtlCol="0" anchor="t"/>
          <a:lstStyle/>
          <a:p>
            <a:pPr indent="0" marL="0">
              <a:buNone/>
            </a:pPr>
            <a:r>
              <a:rPr lang="en-US" sz="1400" b="1" dirty="0">
                <a:solidFill>
                  <a:schemeClr val="tx2"/>
                </a:solidFill>
              </a:rPr>
              <a:t>Candidate </a:t>
            </a:r>
            <a:pPr indent="0" marL="0">
              <a:buNone/>
            </a:pPr>
            <a:r>
              <a:rPr lang="en-US" sz="1400" dirty="0">
                <a:solidFill>
                  <a:schemeClr val="tx1"/>
                </a:solidFill>
              </a:rPr>
              <a:t>accepts consent and answers shuffled questions</a:t>
            </a:r>
            <a:endParaRPr lang="en-US" sz="1400" dirty="0"/>
          </a:p>
        </p:txBody>
      </p:sp>
      <p:sp>
        <p:nvSpPr>
          <p:cNvPr id="11" name="step dot 2"/>
          <p:cNvSpPr/>
          <p:nvPr/>
        </p:nvSpPr>
        <p:spPr>
          <a:xfrm>
            <a:off x="548640" y="4297680"/>
            <a:ext cx="411480" cy="411480"/>
          </a:xfrm>
          <a:prstGeom prst="ellipse">
            <a:avLst/>
          </a:prstGeom>
          <a:solidFill>
            <a:schemeClr val="accent2"/>
          </a:solidFill>
          <a:ln/>
        </p:spPr>
      </p:sp>
      <p:sp>
        <p:nvSpPr>
          <p:cNvPr id="12" name="Text 10"/>
          <p:cNvSpPr txBox="1"/>
          <p:nvPr/>
        </p:nvSpPr>
        <p:spPr>
          <a:xfrm>
            <a:off x="548640" y="4297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97280" y="4261104"/>
            <a:ext cx="2377440" cy="685800"/>
          </a:xfrm>
          <a:prstGeom prst="rect">
            <a:avLst/>
          </a:prstGeom>
          <a:noFill/>
          <a:ln/>
        </p:spPr>
        <p:txBody>
          <a:bodyPr wrap="square" lIns="0" tIns="0" rIns="0" bIns="0" rtlCol="0" anchor="t"/>
          <a:lstStyle/>
          <a:p>
            <a:pPr indent="0" marL="0">
              <a:buNone/>
            </a:pPr>
            <a:r>
              <a:rPr lang="en-US" sz="1400" b="1" dirty="0">
                <a:solidFill>
                  <a:schemeClr val="tx2"/>
                </a:solidFill>
              </a:rPr>
              <a:t>Server </a:t>
            </a:r>
            <a:pPr indent="0" marL="0">
              <a:buNone/>
            </a:pPr>
            <a:r>
              <a:rPr lang="en-US" sz="1400" dirty="0">
                <a:solidFill>
                  <a:schemeClr val="tx1"/>
                </a:solidFill>
              </a:rPr>
              <a:t>grades the attempt: 100%</a:t>
            </a:r>
            <a:endParaRPr lang="en-US" sz="1400" dirty="0"/>
          </a:p>
        </p:txBody>
      </p:sp>
      <p:sp>
        <p:nvSpPr>
          <p:cNvPr id="14" name="step dot 3"/>
          <p:cNvSpPr/>
          <p:nvPr/>
        </p:nvSpPr>
        <p:spPr>
          <a:xfrm>
            <a:off x="548640" y="5074920"/>
            <a:ext cx="411480" cy="411480"/>
          </a:xfrm>
          <a:prstGeom prst="ellipse">
            <a:avLst/>
          </a:prstGeom>
          <a:solidFill>
            <a:schemeClr val="tx2"/>
          </a:solidFill>
          <a:ln/>
        </p:spPr>
      </p:sp>
      <p:sp>
        <p:nvSpPr>
          <p:cNvPr id="15" name="Text 13"/>
          <p:cNvSpPr txBox="1"/>
          <p:nvPr/>
        </p:nvSpPr>
        <p:spPr>
          <a:xfrm>
            <a:off x="548640" y="5074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097280" y="5038344"/>
            <a:ext cx="2377440" cy="685800"/>
          </a:xfrm>
          <a:prstGeom prst="rect">
            <a:avLst/>
          </a:prstGeom>
          <a:noFill/>
          <a:ln/>
        </p:spPr>
        <p:txBody>
          <a:bodyPr wrap="square" lIns="0" tIns="0" rIns="0" bIns="0" rtlCol="0" anchor="t"/>
          <a:lstStyle/>
          <a:p>
            <a:pPr indent="0" marL="0">
              <a:buNone/>
            </a:pPr>
            <a:r>
              <a:rPr lang="en-US" sz="1400" b="1" dirty="0">
                <a:solidFill>
                  <a:schemeClr val="tx2"/>
                </a:solidFill>
              </a:rPr>
              <a:t>Candidate </a:t>
            </a:r>
            <a:pPr indent="0" marL="0">
              <a:buNone/>
            </a:pPr>
            <a:r>
              <a:rPr lang="en-US" sz="1400" dirty="0">
                <a:solidFill>
                  <a:schemeClr val="tx1"/>
                </a:solidFill>
              </a:rPr>
              <a:t>applies with the passed-test banner</a:t>
            </a:r>
            <a:endParaRPr lang="en-US" sz="1400" dirty="0"/>
          </a:p>
        </p:txBody>
      </p:sp>
      <p:pic>
        <p:nvPicPr>
          <p:cNvPr id="17" name="screen 153-recruiter-careers-ready" descr="Careers dashboard">    </p:cNvPr>
          <p:cNvPicPr>
            <a:picLocks noChangeAspect="1"/>
          </p:cNvPicPr>
          <p:nvPr/>
        </p:nvPicPr>
        <p:blipFill>
          <a:blip r:embed="rId1"/>
          <a:stretch>
            <a:fillRect/>
          </a:stretch>
        </p:blipFill>
        <p:spPr>
          <a:xfrm>
            <a:off x="3703320" y="1371600"/>
            <a:ext cx="1913745" cy="4023360"/>
          </a:xfrm>
          <a:prstGeom prst="rect">
            <a:avLst/>
          </a:prstGeom>
        </p:spPr>
      </p:pic>
      <p:sp>
        <p:nvSpPr>
          <p:cNvPr id="18" name="Text 15"/>
          <p:cNvSpPr txBox="1"/>
          <p:nvPr/>
        </p:nvSpPr>
        <p:spPr>
          <a:xfrm>
            <a:off x="3520440" y="5532120"/>
            <a:ext cx="2279505" cy="292608"/>
          </a:xfrm>
          <a:prstGeom prst="rect">
            <a:avLst/>
          </a:prstGeom>
          <a:noFill/>
          <a:ln/>
        </p:spPr>
        <p:txBody>
          <a:bodyPr wrap="square" lIns="0" tIns="0" rIns="0" bIns="0" rtlCol="0" anchor="t"/>
          <a:lstStyle/>
          <a:p>
            <a:pPr algn="ctr" indent="0" marL="0">
              <a:buNone/>
            </a:pPr>
            <a:r>
              <a:rPr lang="en-US" sz="1200" dirty="0">
                <a:solidFill>
                  <a:schemeClr val="accent6"/>
                </a:solidFill>
              </a:rPr>
              <a:t>Careers dashboard</a:t>
            </a:r>
            <a:endParaRPr lang="en-US" sz="1200" dirty="0"/>
          </a:p>
        </p:txBody>
      </p:sp>
      <p:pic>
        <p:nvPicPr>
          <p:cNvPr id="19" name="screen 171-test-created-return" descr="Test and answer options">    </p:cNvPr>
          <p:cNvPicPr>
            <a:picLocks noChangeAspect="1"/>
          </p:cNvPicPr>
          <p:nvPr/>
        </p:nvPicPr>
        <p:blipFill>
          <a:blip r:embed="rId2"/>
          <a:stretch>
            <a:fillRect/>
          </a:stretch>
        </p:blipFill>
        <p:spPr>
          <a:xfrm>
            <a:off x="5711983" y="1371600"/>
            <a:ext cx="1913745" cy="4023360"/>
          </a:xfrm>
          <a:prstGeom prst="rect">
            <a:avLst/>
          </a:prstGeom>
        </p:spPr>
      </p:pic>
      <p:sp>
        <p:nvSpPr>
          <p:cNvPr id="20" name="Text 16"/>
          <p:cNvSpPr txBox="1"/>
          <p:nvPr/>
        </p:nvSpPr>
        <p:spPr>
          <a:xfrm>
            <a:off x="5529103" y="5532120"/>
            <a:ext cx="2279505" cy="292608"/>
          </a:xfrm>
          <a:prstGeom prst="rect">
            <a:avLst/>
          </a:prstGeom>
          <a:noFill/>
          <a:ln/>
        </p:spPr>
        <p:txBody>
          <a:bodyPr wrap="square" lIns="0" tIns="0" rIns="0" bIns="0" rtlCol="0" anchor="t"/>
          <a:lstStyle/>
          <a:p>
            <a:pPr algn="ctr" indent="0" marL="0">
              <a:buNone/>
            </a:pPr>
            <a:r>
              <a:rPr lang="en-US" sz="1200" dirty="0">
                <a:solidFill>
                  <a:schemeClr val="accent6"/>
                </a:solidFill>
              </a:rPr>
              <a:t>Test and answer options</a:t>
            </a:r>
            <a:endParaRPr lang="en-US" sz="1200" dirty="0"/>
          </a:p>
        </p:txBody>
      </p:sp>
      <p:pic>
        <p:nvPicPr>
          <p:cNvPr id="21" name="screen 247-native-test-result" descr="Server result: 100%">    </p:cNvPr>
          <p:cNvPicPr>
            <a:picLocks noChangeAspect="1"/>
          </p:cNvPicPr>
          <p:nvPr/>
        </p:nvPicPr>
        <p:blipFill>
          <a:blip r:embed="rId3"/>
          <a:stretch>
            <a:fillRect/>
          </a:stretch>
        </p:blipFill>
        <p:spPr>
          <a:xfrm>
            <a:off x="7720647" y="1371600"/>
            <a:ext cx="1913745" cy="4023360"/>
          </a:xfrm>
          <a:prstGeom prst="rect">
            <a:avLst/>
          </a:prstGeom>
        </p:spPr>
      </p:pic>
      <p:sp>
        <p:nvSpPr>
          <p:cNvPr id="22" name="Text 17"/>
          <p:cNvSpPr txBox="1"/>
          <p:nvPr/>
        </p:nvSpPr>
        <p:spPr>
          <a:xfrm>
            <a:off x="7537767" y="5532120"/>
            <a:ext cx="2279505" cy="292608"/>
          </a:xfrm>
          <a:prstGeom prst="rect">
            <a:avLst/>
          </a:prstGeom>
          <a:noFill/>
          <a:ln/>
        </p:spPr>
        <p:txBody>
          <a:bodyPr wrap="square" lIns="0" tIns="0" rIns="0" bIns="0" rtlCol="0" anchor="t"/>
          <a:lstStyle/>
          <a:p>
            <a:pPr algn="ctr" indent="0" marL="0">
              <a:buNone/>
            </a:pPr>
            <a:r>
              <a:rPr lang="en-US" sz="1200" b="1" dirty="0">
                <a:solidFill>
                  <a:schemeClr val="accent2"/>
                </a:solidFill>
              </a:rPr>
              <a:t>Server result: 100%</a:t>
            </a:r>
            <a:endParaRPr lang="en-US" sz="1200" dirty="0"/>
          </a:p>
        </p:txBody>
      </p:sp>
      <p:pic>
        <p:nvPicPr>
          <p:cNvPr id="23" name="screen 250-native-application-outcome" descr="Application sent">    </p:cNvPr>
          <p:cNvPicPr>
            <a:picLocks noChangeAspect="1"/>
          </p:cNvPicPr>
          <p:nvPr/>
        </p:nvPicPr>
        <p:blipFill>
          <a:blip r:embed="rId4"/>
          <a:stretch>
            <a:fillRect/>
          </a:stretch>
        </p:blipFill>
        <p:spPr>
          <a:xfrm>
            <a:off x="9729310" y="1371600"/>
            <a:ext cx="1913745" cy="4023360"/>
          </a:xfrm>
          <a:prstGeom prst="rect">
            <a:avLst/>
          </a:prstGeom>
        </p:spPr>
      </p:pic>
      <p:sp>
        <p:nvSpPr>
          <p:cNvPr id="24" name="Text 18"/>
          <p:cNvSpPr txBox="1"/>
          <p:nvPr/>
        </p:nvSpPr>
        <p:spPr>
          <a:xfrm>
            <a:off x="9546430" y="5532120"/>
            <a:ext cx="2279505" cy="292608"/>
          </a:xfrm>
          <a:prstGeom prst="rect">
            <a:avLst/>
          </a:prstGeom>
          <a:noFill/>
          <a:ln/>
        </p:spPr>
        <p:txBody>
          <a:bodyPr wrap="square" lIns="0" tIns="0" rIns="0" bIns="0" rtlCol="0" anchor="t"/>
          <a:lstStyle/>
          <a:p>
            <a:pPr algn="ctr" indent="0" marL="0">
              <a:buNone/>
            </a:pPr>
            <a:r>
              <a:rPr lang="en-US" sz="1200" dirty="0">
                <a:solidFill>
                  <a:schemeClr val="accent6"/>
                </a:solidFill>
              </a:rPr>
              <a:t>Application sent</a:t>
            </a:r>
            <a:endParaRPr lang="en-US" sz="12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Automated suites are green</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8 Testing and results</a:t>
            </a:r>
            <a:endParaRPr lang="en-US" sz="1000" dirty="0"/>
          </a:p>
        </p:txBody>
      </p:sp>
      <p:sp>
        <p:nvSpPr>
          <p:cNvPr id="4" name="suite 0"/>
          <p:cNvSpPr/>
          <p:nvPr/>
        </p:nvSpPr>
        <p:spPr>
          <a:xfrm>
            <a:off x="548640" y="1463040"/>
            <a:ext cx="3515258" cy="2286000"/>
          </a:xfrm>
          <a:prstGeom prst="roundRect">
            <a:avLst>
              <a:gd name="adj" fmla="val 4800"/>
            </a:avLst>
          </a:prstGeom>
          <a:solidFill>
            <a:schemeClr val="bg2"/>
          </a:solidFill>
          <a:ln/>
        </p:spPr>
      </p:sp>
      <p:sp>
        <p:nvSpPr>
          <p:cNvPr id="5" name="Text 3"/>
          <p:cNvSpPr txBox="1"/>
          <p:nvPr/>
        </p:nvSpPr>
        <p:spPr>
          <a:xfrm>
            <a:off x="868680" y="1691640"/>
            <a:ext cx="2875178" cy="868680"/>
          </a:xfrm>
          <a:prstGeom prst="rect">
            <a:avLst/>
          </a:prstGeom>
          <a:noFill/>
          <a:ln/>
        </p:spPr>
        <p:txBody>
          <a:bodyPr wrap="square" lIns="0" tIns="0" rIns="0" bIns="0" rtlCol="0" anchor="ctr"/>
          <a:lstStyle/>
          <a:p>
            <a:pPr indent="0" marL="0">
              <a:buNone/>
            </a:pPr>
            <a:r>
              <a:rPr lang="en-US" sz="5400" b="1" dirty="0">
                <a:solidFill>
                  <a:schemeClr val="tx2"/>
                </a:solidFill>
                <a:latin typeface="Arial" pitchFamily="34" charset="0"/>
                <a:ea typeface="Arial" pitchFamily="34" charset="-122"/>
                <a:cs typeface="Arial" pitchFamily="34" charset="-120"/>
              </a:rPr>
              <a:t>843</a:t>
            </a:r>
            <a:endParaRPr lang="en-US" sz="5400" dirty="0"/>
          </a:p>
        </p:txBody>
      </p:sp>
      <p:sp>
        <p:nvSpPr>
          <p:cNvPr id="6" name="Text 4"/>
          <p:cNvSpPr txBox="1"/>
          <p:nvPr/>
        </p:nvSpPr>
        <p:spPr>
          <a:xfrm>
            <a:off x="868680" y="2651760"/>
            <a:ext cx="2875178" cy="347472"/>
          </a:xfrm>
          <a:prstGeom prst="rect">
            <a:avLst/>
          </a:prstGeom>
          <a:noFill/>
          <a:ln/>
        </p:spPr>
        <p:txBody>
          <a:bodyPr wrap="square" lIns="0" tIns="0" rIns="0" bIns="0" rtlCol="0" anchor="t"/>
          <a:lstStyle/>
          <a:p>
            <a:pPr indent="0" marL="0">
              <a:buNone/>
            </a:pPr>
            <a:r>
              <a:rPr lang="en-US" sz="1600" b="1" dirty="0">
                <a:solidFill>
                  <a:schemeClr val="tx1"/>
                </a:solidFill>
              </a:rPr>
              <a:t>backend Maven tests passed</a:t>
            </a:r>
            <a:endParaRPr lang="en-US" sz="1600" dirty="0"/>
          </a:p>
        </p:txBody>
      </p:sp>
      <p:sp>
        <p:nvSpPr>
          <p:cNvPr id="7" name="Text 5"/>
          <p:cNvSpPr txBox="1"/>
          <p:nvPr/>
        </p:nvSpPr>
        <p:spPr>
          <a:xfrm>
            <a:off x="868680" y="3017520"/>
            <a:ext cx="2875178" cy="292608"/>
          </a:xfrm>
          <a:prstGeom prst="rect">
            <a:avLst/>
          </a:prstGeom>
          <a:noFill/>
          <a:ln/>
        </p:spPr>
        <p:txBody>
          <a:bodyPr wrap="square" lIns="0" tIns="0" rIns="0" bIns="0" rtlCol="0" anchor="t"/>
          <a:lstStyle/>
          <a:p>
            <a:pPr indent="0" marL="0">
              <a:buNone/>
            </a:pPr>
            <a:r>
              <a:rPr lang="en-US" sz="1300" dirty="0">
                <a:solidFill>
                  <a:schemeClr val="accent6"/>
                </a:solidFill>
              </a:rPr>
              <a:t>0 failed · 41 skipped</a:t>
            </a:r>
            <a:endParaRPr lang="en-US" sz="1300" dirty="0"/>
          </a:p>
        </p:txBody>
      </p:sp>
      <p:sp>
        <p:nvSpPr>
          <p:cNvPr id="8" name="suite 1"/>
          <p:cNvSpPr/>
          <p:nvPr/>
        </p:nvSpPr>
        <p:spPr>
          <a:xfrm>
            <a:off x="4338218" y="1463040"/>
            <a:ext cx="3515258" cy="2286000"/>
          </a:xfrm>
          <a:prstGeom prst="roundRect">
            <a:avLst>
              <a:gd name="adj" fmla="val 4800"/>
            </a:avLst>
          </a:prstGeom>
          <a:solidFill>
            <a:schemeClr val="bg2"/>
          </a:solidFill>
          <a:ln/>
        </p:spPr>
      </p:sp>
      <p:sp>
        <p:nvSpPr>
          <p:cNvPr id="9" name="Text 7"/>
          <p:cNvSpPr txBox="1"/>
          <p:nvPr/>
        </p:nvSpPr>
        <p:spPr>
          <a:xfrm>
            <a:off x="4658258" y="1691640"/>
            <a:ext cx="2875178" cy="868680"/>
          </a:xfrm>
          <a:prstGeom prst="rect">
            <a:avLst/>
          </a:prstGeom>
          <a:noFill/>
          <a:ln/>
        </p:spPr>
        <p:txBody>
          <a:bodyPr wrap="square" lIns="0" tIns="0" rIns="0" bIns="0" rtlCol="0" anchor="ctr"/>
          <a:lstStyle/>
          <a:p>
            <a:pPr indent="0" marL="0">
              <a:buNone/>
            </a:pPr>
            <a:r>
              <a:rPr lang="en-US" sz="5400" b="1" dirty="0">
                <a:solidFill>
                  <a:schemeClr val="tx2"/>
                </a:solidFill>
                <a:latin typeface="Arial" pitchFamily="34" charset="0"/>
                <a:ea typeface="Arial" pitchFamily="34" charset="-122"/>
                <a:cs typeface="Arial" pitchFamily="34" charset="-120"/>
              </a:rPr>
              <a:t>1,529</a:t>
            </a:r>
            <a:endParaRPr lang="en-US" sz="5400" dirty="0"/>
          </a:p>
        </p:txBody>
      </p:sp>
      <p:sp>
        <p:nvSpPr>
          <p:cNvPr id="10" name="Text 8"/>
          <p:cNvSpPr txBox="1"/>
          <p:nvPr/>
        </p:nvSpPr>
        <p:spPr>
          <a:xfrm>
            <a:off x="4658258" y="2651760"/>
            <a:ext cx="2875178" cy="347472"/>
          </a:xfrm>
          <a:prstGeom prst="rect">
            <a:avLst/>
          </a:prstGeom>
          <a:noFill/>
          <a:ln/>
        </p:spPr>
        <p:txBody>
          <a:bodyPr wrap="square" lIns="0" tIns="0" rIns="0" bIns="0" rtlCol="0" anchor="t"/>
          <a:lstStyle/>
          <a:p>
            <a:pPr indent="0" marL="0">
              <a:buNone/>
            </a:pPr>
            <a:r>
              <a:rPr lang="en-US" sz="1600" b="1" dirty="0">
                <a:solidFill>
                  <a:schemeClr val="tx1"/>
                </a:solidFill>
              </a:rPr>
              <a:t>Flutter tests passed</a:t>
            </a:r>
            <a:endParaRPr lang="en-US" sz="1600" dirty="0"/>
          </a:p>
        </p:txBody>
      </p:sp>
      <p:sp>
        <p:nvSpPr>
          <p:cNvPr id="11" name="Text 9"/>
          <p:cNvSpPr txBox="1"/>
          <p:nvPr/>
        </p:nvSpPr>
        <p:spPr>
          <a:xfrm>
            <a:off x="4658258" y="3017520"/>
            <a:ext cx="2875178" cy="292608"/>
          </a:xfrm>
          <a:prstGeom prst="rect">
            <a:avLst/>
          </a:prstGeom>
          <a:noFill/>
          <a:ln/>
        </p:spPr>
        <p:txBody>
          <a:bodyPr wrap="square" lIns="0" tIns="0" rIns="0" bIns="0" rtlCol="0" anchor="t"/>
          <a:lstStyle/>
          <a:p>
            <a:pPr indent="0" marL="0">
              <a:buNone/>
            </a:pPr>
            <a:r>
              <a:rPr lang="en-US" sz="1300" dirty="0">
                <a:solidFill>
                  <a:schemeClr val="accent6"/>
                </a:solidFill>
              </a:rPr>
              <a:t>0 failed · 0 skipped</a:t>
            </a:r>
            <a:endParaRPr lang="en-US" sz="1300" dirty="0"/>
          </a:p>
        </p:txBody>
      </p:sp>
      <p:sp>
        <p:nvSpPr>
          <p:cNvPr id="12" name="suite 2"/>
          <p:cNvSpPr/>
          <p:nvPr/>
        </p:nvSpPr>
        <p:spPr>
          <a:xfrm>
            <a:off x="8127797" y="1463040"/>
            <a:ext cx="3515258" cy="2286000"/>
          </a:xfrm>
          <a:prstGeom prst="roundRect">
            <a:avLst>
              <a:gd name="adj" fmla="val 4800"/>
            </a:avLst>
          </a:prstGeom>
          <a:solidFill>
            <a:schemeClr val="bg2"/>
          </a:solidFill>
          <a:ln/>
        </p:spPr>
      </p:sp>
      <p:sp>
        <p:nvSpPr>
          <p:cNvPr id="13" name="Text 11"/>
          <p:cNvSpPr txBox="1"/>
          <p:nvPr/>
        </p:nvSpPr>
        <p:spPr>
          <a:xfrm>
            <a:off x="8447837" y="1691640"/>
            <a:ext cx="2875178" cy="868680"/>
          </a:xfrm>
          <a:prstGeom prst="rect">
            <a:avLst/>
          </a:prstGeom>
          <a:noFill/>
          <a:ln/>
        </p:spPr>
        <p:txBody>
          <a:bodyPr wrap="square" lIns="0" tIns="0" rIns="0" bIns="0" rtlCol="0" anchor="ctr"/>
          <a:lstStyle/>
          <a:p>
            <a:pPr indent="0" marL="0">
              <a:buNone/>
            </a:pPr>
            <a:r>
              <a:rPr lang="en-US" sz="5400" b="1" dirty="0">
                <a:solidFill>
                  <a:schemeClr val="accent2"/>
                </a:solidFill>
                <a:latin typeface="Arial" pitchFamily="34" charset="0"/>
                <a:ea typeface="Arial" pitchFamily="34" charset="-122"/>
                <a:cs typeface="Arial" pitchFamily="34" charset="-120"/>
              </a:rPr>
              <a:t>218 / 221</a:t>
            </a:r>
            <a:endParaRPr lang="en-US" sz="5400" dirty="0"/>
          </a:p>
        </p:txBody>
      </p:sp>
      <p:sp>
        <p:nvSpPr>
          <p:cNvPr id="14" name="Text 12"/>
          <p:cNvSpPr txBox="1"/>
          <p:nvPr/>
        </p:nvSpPr>
        <p:spPr>
          <a:xfrm>
            <a:off x="8447837" y="2651760"/>
            <a:ext cx="2875178" cy="347472"/>
          </a:xfrm>
          <a:prstGeom prst="rect">
            <a:avLst/>
          </a:prstGeom>
          <a:noFill/>
          <a:ln/>
        </p:spPr>
        <p:txBody>
          <a:bodyPr wrap="square" lIns="0" tIns="0" rIns="0" bIns="0" rtlCol="0" anchor="t"/>
          <a:lstStyle/>
          <a:p>
            <a:pPr indent="0" marL="0">
              <a:buNone/>
            </a:pPr>
            <a:r>
              <a:rPr lang="en-US" sz="1600" b="1" dirty="0">
                <a:solidFill>
                  <a:schemeClr val="tx1"/>
                </a:solidFill>
              </a:rPr>
              <a:t>API checks passed</a:t>
            </a:r>
            <a:endParaRPr lang="en-US" sz="1600" dirty="0"/>
          </a:p>
        </p:txBody>
      </p:sp>
      <p:sp>
        <p:nvSpPr>
          <p:cNvPr id="15" name="Text 13"/>
          <p:cNvSpPr txBox="1"/>
          <p:nvPr/>
        </p:nvSpPr>
        <p:spPr>
          <a:xfrm>
            <a:off x="8447837" y="3017520"/>
            <a:ext cx="2875178" cy="292608"/>
          </a:xfrm>
          <a:prstGeom prst="rect">
            <a:avLst/>
          </a:prstGeom>
          <a:noFill/>
          <a:ln/>
        </p:spPr>
        <p:txBody>
          <a:bodyPr wrap="square" lIns="0" tIns="0" rIns="0" bIns="0" rtlCol="0" anchor="t"/>
          <a:lstStyle/>
          <a:p>
            <a:pPr indent="0" marL="0">
              <a:buNone/>
            </a:pPr>
            <a:r>
              <a:rPr lang="en-US" sz="1300" dirty="0">
                <a:solidFill>
                  <a:schemeClr val="accent6"/>
                </a:solidFill>
              </a:rPr>
              <a:t>2 failed · 1 blocked</a:t>
            </a:r>
            <a:endParaRPr lang="en-US" sz="1300" dirty="0"/>
          </a:p>
        </p:txBody>
      </p:sp>
      <p:sp>
        <p:nvSpPr>
          <p:cNvPr id="16" name="environment"/>
          <p:cNvSpPr/>
          <p:nvPr/>
        </p:nvSpPr>
        <p:spPr>
          <a:xfrm>
            <a:off x="548640" y="4023360"/>
            <a:ext cx="5410048" cy="2011680"/>
          </a:xfrm>
          <a:prstGeom prst="roundRect">
            <a:avLst>
              <a:gd name="adj" fmla="val 5455"/>
            </a:avLst>
          </a:prstGeom>
          <a:solidFill>
            <a:schemeClr val="bg1"/>
          </a:solidFill>
          <a:ln w="12700">
            <a:solidFill>
              <a:srgbClr val="EEF2F9"/>
            </a:solidFill>
            <a:prstDash val="solid"/>
          </a:ln>
          <a:effectLst>
            <a:outerShdw sx="100000" sy="100000" kx="0" ky="0" algn="bl" rotWithShape="0" blurRad="101600" dist="25400" dir="5400000">
              <a:srgbClr val="0F172A">
                <a:alpha val="12000"/>
              </a:srgbClr>
            </a:outerShdw>
          </a:effectLst>
        </p:spPr>
      </p:sp>
      <p:sp>
        <p:nvSpPr>
          <p:cNvPr id="17" name="environment circle"/>
          <p:cNvSpPr/>
          <p:nvPr/>
        </p:nvSpPr>
        <p:spPr>
          <a:xfrm>
            <a:off x="822960" y="4251960"/>
            <a:ext cx="502920" cy="502920"/>
          </a:xfrm>
          <a:prstGeom prst="ellipse">
            <a:avLst/>
          </a:prstGeom>
          <a:solidFill>
            <a:schemeClr val="tx2"/>
          </a:solidFill>
          <a:ln/>
        </p:spPr>
      </p:sp>
      <p:pic>
        <p:nvPicPr>
          <p:cNvPr id="18" name="environment icon" descr="environment">    </p:cNvPr>
          <p:cNvPicPr>
            <a:picLocks noChangeAspect="1"/>
          </p:cNvPicPr>
          <p:nvPr/>
        </p:nvPicPr>
        <p:blipFill>
          <a:blip r:embed="rId1"/>
          <a:stretch>
            <a:fillRect/>
          </a:stretch>
        </p:blipFill>
        <p:spPr>
          <a:xfrm>
            <a:off x="948690" y="4377690"/>
            <a:ext cx="251460" cy="251460"/>
          </a:xfrm>
          <a:prstGeom prst="rect">
            <a:avLst/>
          </a:prstGeom>
        </p:spPr>
      </p:pic>
      <p:sp>
        <p:nvSpPr>
          <p:cNvPr id="19" name="Text 16"/>
          <p:cNvSpPr txBox="1"/>
          <p:nvPr/>
        </p:nvSpPr>
        <p:spPr>
          <a:xfrm>
            <a:off x="1508760" y="4297680"/>
            <a:ext cx="4221328" cy="365760"/>
          </a:xfrm>
          <a:prstGeom prst="rect">
            <a:avLst/>
          </a:prstGeom>
          <a:noFill/>
          <a:ln/>
        </p:spPr>
        <p:txBody>
          <a:bodyPr wrap="square" lIns="0" tIns="0" rIns="0" bIns="0" rtlCol="0" anchor="t"/>
          <a:lstStyle/>
          <a:p>
            <a:pPr indent="0" marL="0">
              <a:buNone/>
            </a:pPr>
            <a:r>
              <a:rPr lang="en-US" sz="1600" b="1" dirty="0">
                <a:solidFill>
                  <a:schemeClr val="tx2"/>
                </a:solidFill>
              </a:rPr>
              <a:t>Test environment</a:t>
            </a:r>
            <a:endParaRPr lang="en-US" sz="1600" dirty="0"/>
          </a:p>
        </p:txBody>
      </p:sp>
      <p:sp>
        <p:nvSpPr>
          <p:cNvPr id="20" name="Text 17"/>
          <p:cNvSpPr txBox="1"/>
          <p:nvPr/>
        </p:nvSpPr>
        <p:spPr>
          <a:xfrm>
            <a:off x="1508760" y="4681728"/>
            <a:ext cx="4221328" cy="1234440"/>
          </a:xfrm>
          <a:prstGeom prst="rect">
            <a:avLst/>
          </a:prstGeom>
          <a:noFill/>
          <a:ln/>
        </p:spPr>
        <p:txBody>
          <a:bodyPr wrap="square" lIns="0" tIns="0" rIns="0" bIns="0" rtlCol="0" anchor="t"/>
          <a:lstStyle/>
          <a:p>
            <a:pPr indent="0" marL="0">
              <a:buNone/>
            </a:pPr>
            <a:r>
              <a:rPr lang="en-US" sz="1400" dirty="0">
                <a:solidFill>
                  <a:schemeClr val="tx1"/>
                </a:solidFill>
              </a:rPr>
              <a:t>Spring Boot dev backend and local PostgreSQL; Flutter iPhone app driven by XCTest with game mocks off; synthetic accounts, offers and posts.</a:t>
            </a:r>
            <a:endParaRPr lang="en-US" sz="1400" dirty="0"/>
          </a:p>
        </p:txBody>
      </p:sp>
      <p:sp>
        <p:nvSpPr>
          <p:cNvPr id="21" name="not covered"/>
          <p:cNvSpPr/>
          <p:nvPr/>
        </p:nvSpPr>
        <p:spPr>
          <a:xfrm>
            <a:off x="6233008" y="4023360"/>
            <a:ext cx="5410048" cy="2011680"/>
          </a:xfrm>
          <a:prstGeom prst="roundRect">
            <a:avLst>
              <a:gd name="adj" fmla="val 5455"/>
            </a:avLst>
          </a:prstGeom>
          <a:solidFill>
            <a:schemeClr val="bg1"/>
          </a:solidFill>
          <a:ln w="12700">
            <a:solidFill>
              <a:srgbClr val="EEF2F9"/>
            </a:solidFill>
            <a:prstDash val="solid"/>
          </a:ln>
          <a:effectLst>
            <a:outerShdw sx="100000" sy="100000" kx="0" ky="0" algn="bl" rotWithShape="0" blurRad="101600" dist="25400" dir="5400000">
              <a:srgbClr val="0F172A">
                <a:alpha val="12000"/>
              </a:srgbClr>
            </a:outerShdw>
          </a:effectLst>
        </p:spPr>
      </p:sp>
      <p:sp>
        <p:nvSpPr>
          <p:cNvPr id="22" name="not covered circle"/>
          <p:cNvSpPr/>
          <p:nvPr/>
        </p:nvSpPr>
        <p:spPr>
          <a:xfrm>
            <a:off x="6507328" y="4251960"/>
            <a:ext cx="502920" cy="502920"/>
          </a:xfrm>
          <a:prstGeom prst="ellipse">
            <a:avLst/>
          </a:prstGeom>
          <a:solidFill>
            <a:schemeClr val="accent4"/>
          </a:solidFill>
          <a:ln/>
        </p:spPr>
      </p:sp>
      <p:pic>
        <p:nvPicPr>
          <p:cNvPr id="23" name="not covered icon" descr="not covered">    </p:cNvPr>
          <p:cNvPicPr>
            <a:picLocks noChangeAspect="1"/>
          </p:cNvPicPr>
          <p:nvPr/>
        </p:nvPicPr>
        <p:blipFill>
          <a:blip r:embed="rId2"/>
          <a:stretch>
            <a:fillRect/>
          </a:stretch>
        </p:blipFill>
        <p:spPr>
          <a:xfrm>
            <a:off x="6633058" y="4377690"/>
            <a:ext cx="251460" cy="251460"/>
          </a:xfrm>
          <a:prstGeom prst="rect">
            <a:avLst/>
          </a:prstGeom>
        </p:spPr>
      </p:pic>
      <p:sp>
        <p:nvSpPr>
          <p:cNvPr id="24" name="Text 20"/>
          <p:cNvSpPr txBox="1"/>
          <p:nvPr/>
        </p:nvSpPr>
        <p:spPr>
          <a:xfrm>
            <a:off x="7193128" y="4297680"/>
            <a:ext cx="4221328" cy="365760"/>
          </a:xfrm>
          <a:prstGeom prst="rect">
            <a:avLst/>
          </a:prstGeom>
          <a:noFill/>
          <a:ln/>
        </p:spPr>
        <p:txBody>
          <a:bodyPr wrap="square" lIns="0" tIns="0" rIns="0" bIns="0" rtlCol="0" anchor="t"/>
          <a:lstStyle/>
          <a:p>
            <a:pPr indent="0" marL="0">
              <a:buNone/>
            </a:pPr>
            <a:r>
              <a:rPr lang="en-US" sz="1600" b="1" dirty="0">
                <a:solidFill>
                  <a:schemeClr val="tx2"/>
                </a:solidFill>
              </a:rPr>
              <a:t>Not yet covered</a:t>
            </a:r>
            <a:endParaRPr lang="en-US" sz="1600" dirty="0"/>
          </a:p>
        </p:txBody>
      </p:sp>
      <p:sp>
        <p:nvSpPr>
          <p:cNvPr id="25" name="Text 21"/>
          <p:cNvSpPr txBox="1"/>
          <p:nvPr/>
        </p:nvSpPr>
        <p:spPr>
          <a:xfrm>
            <a:off x="7193128" y="4681728"/>
            <a:ext cx="4221328" cy="1234440"/>
          </a:xfrm>
          <a:prstGeom prst="rect">
            <a:avLst/>
          </a:prstGeom>
          <a:noFill/>
          <a:ln/>
        </p:spPr>
        <p:txBody>
          <a:bodyPr wrap="square" lIns="0" tIns="0" rIns="0" bIns="0" rtlCol="0" anchor="t"/>
          <a:lstStyle/>
          <a:p>
            <a:pPr indent="0" marL="0">
              <a:buNone/>
            </a:pPr>
            <a:r>
              <a:rPr lang="en-US" sz="1400" dirty="0">
                <a:solidFill>
                  <a:schemeClr val="tx1"/>
                </a:solidFill>
              </a:rPr>
              <a:t>Email and OTP delivery, push, call media, real payments and payouts, multi-device. The AI help gateway returned HTTP 503.</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Walkthrough: 1 passed, 6 partial</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8 Candidate and recruiter walkthrough</a:t>
            </a:r>
            <a:endParaRPr lang="en-US" sz="1000" dirty="0"/>
          </a:p>
        </p:txBody>
      </p:sp>
      <p:graphicFrame>
        <p:nvGraphicFramePr>
          <p:cNvPr id="15" name="use case results"/>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143000"/>
                <a:gridCol w="2651760"/>
                <a:gridCol w="1188720"/>
                <a:gridCol w="6110935"/>
              </a:tblGrid>
              <a:tr h="512064">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Use case</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1428D"/>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Workflow</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1428D"/>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1428D"/>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Principal observation</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1428D"/>
                    </a:solidFill>
                  </a:tcPr>
                </a:tc>
              </a:tr>
              <a:tr h="512064">
                <a:tc>
                  <a:txBody>
                    <a:bodyPr/>
                    <a:lstStyle/>
                    <a:p>
                      <a:pPr indent="0" marL="0">
                        <a:buNone/>
                      </a:pPr>
                      <a:r>
                        <a:rPr lang="en-US" sz="1400" b="1" dirty="0">
                          <a:solidFill>
                            <a:srgbClr val="11428D"/>
                          </a:solidFill>
                          <a:latin typeface="Calibri" pitchFamily="34" charset="0"/>
                          <a:ea typeface="Calibri" pitchFamily="34" charset="-122"/>
                          <a:cs typeface="Calibri" pitchFamily="34" charset="-120"/>
                        </a:rPr>
                        <a:t>UC-01</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Cognitive assessment</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7706"/>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Planning result saved natively; memory payload failed</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r>
              <a:tr h="512064">
                <a:tc>
                  <a:txBody>
                    <a:bodyPr/>
                    <a:lstStyle/>
                    <a:p>
                      <a:pPr indent="0" marL="0">
                        <a:buNone/>
                      </a:pPr>
                      <a:r>
                        <a:rPr lang="en-US" sz="1400" b="1" dirty="0">
                          <a:solidFill>
                            <a:srgbClr val="11428D"/>
                          </a:solidFill>
                          <a:latin typeface="Calibri" pitchFamily="34" charset="0"/>
                          <a:ea typeface="Calibri" pitchFamily="34" charset="-122"/>
                          <a:cs typeface="Calibri" pitchFamily="34" charset="-120"/>
                        </a:rPr>
                        <a:t>UC-02</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Offer management</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7706"/>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Offer published; optional test picker failed</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1428D"/>
                          </a:solidFill>
                          <a:latin typeface="Calibri" pitchFamily="34" charset="0"/>
                          <a:ea typeface="Calibri" pitchFamily="34" charset="-122"/>
                          <a:cs typeface="Calibri" pitchFamily="34" charset="-120"/>
                        </a:rPr>
                        <a:t>UC-03</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Technical assessment</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Passed</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6A34A"/>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Native completion; result read back by both parties</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r>
              <a:tr h="512064">
                <a:tc>
                  <a:txBody>
                    <a:bodyPr/>
                    <a:lstStyle/>
                    <a:p>
                      <a:pPr indent="0" marL="0">
                        <a:buNone/>
                      </a:pPr>
                      <a:r>
                        <a:rPr lang="en-US" sz="1400" b="1" dirty="0">
                          <a:solidFill>
                            <a:srgbClr val="11428D"/>
                          </a:solidFill>
                          <a:latin typeface="Calibri" pitchFamily="34" charset="0"/>
                          <a:ea typeface="Calibri" pitchFamily="34" charset="-122"/>
                          <a:cs typeface="Calibri" pitchFamily="34" charset="-120"/>
                        </a:rPr>
                        <a:t>UC-04</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Communication</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7706"/>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Message persisted; call media and delivery unverified</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1428D"/>
                          </a:solidFill>
                          <a:latin typeface="Calibri" pitchFamily="34" charset="0"/>
                          <a:ea typeface="Calibri" pitchFamily="34" charset="-122"/>
                          <a:cs typeface="Calibri" pitchFamily="34" charset="-120"/>
                        </a:rPr>
                        <a:t>UC-05</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Community</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7706"/>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Post and comment persisted; self-friend action visible</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r>
              <a:tr h="512064">
                <a:tc>
                  <a:txBody>
                    <a:bodyPr/>
                    <a:lstStyle/>
                    <a:p>
                      <a:pPr indent="0" marL="0">
                        <a:buNone/>
                      </a:pPr>
                      <a:r>
                        <a:rPr lang="en-US" sz="1400" b="1" dirty="0">
                          <a:solidFill>
                            <a:srgbClr val="11428D"/>
                          </a:solidFill>
                          <a:latin typeface="Calibri" pitchFamily="34" charset="0"/>
                          <a:ea typeface="Calibri" pitchFamily="34" charset="-122"/>
                          <a:cs typeface="Calibri" pitchFamily="34" charset="-120"/>
                        </a:rPr>
                        <a:t>UC-06</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Preferences and help</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7706"/>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Preferences persisted; AI service unavailable</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1428D"/>
                          </a:solidFill>
                          <a:latin typeface="Calibri" pitchFamily="34" charset="0"/>
                          <a:ea typeface="Calibri" pitchFamily="34" charset="-122"/>
                          <a:cs typeface="Calibri" pitchFamily="34" charset="-120"/>
                        </a:rPr>
                        <a:t>UC-07</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Referrals and plans</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7706"/>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Local state verified; real payouts not exercised</a:t>
                      </a:r>
                      <a:endParaRPr lang="en-US" sz="1400" dirty="0">
                        <a:latin typeface="Calibri" charset="0"/>
                        <a:ea typeface="Calibri" charset="0"/>
                        <a:cs typeface="Calibri" charset="0"/>
                      </a:endParaRPr>
                    </a:p>
                  </a:txBody>
                  <a:tcPr marL="109728" marR="109728"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9"/>
                    </a:solidFill>
                  </a:tcPr>
                </a:tc>
              </a:tr>
            </a:tbl>
          </a:graphicData>
        </a:graphic>
      </p:graphicFrame>
      <p:sp>
        <p:nvSpPr>
          <p:cNvPr id="5" name="Text 2"/>
          <p:cNvSpPr txBox="1"/>
          <p:nvPr/>
        </p:nvSpPr>
        <p:spPr>
          <a:xfrm>
            <a:off x="548640" y="5669280"/>
            <a:ext cx="11094415" cy="320040"/>
          </a:xfrm>
          <a:prstGeom prst="rect">
            <a:avLst/>
          </a:prstGeom>
          <a:noFill/>
          <a:ln/>
        </p:spPr>
        <p:txBody>
          <a:bodyPr wrap="square" lIns="0" tIns="0" rIns="0" bIns="0" rtlCol="0" anchor="t"/>
          <a:lstStyle/>
          <a:p>
            <a:pPr indent="0" marL="0">
              <a:buNone/>
            </a:pPr>
            <a:r>
              <a:rPr lang="en-US" sz="1200" dirty="0">
                <a:solidFill>
                  <a:schemeClr val="accent6"/>
                </a:solidFill>
              </a:rPr>
              <a:t>Partial: the core path persisted, but a dependent step or external service failed or was not verified.</a:t>
            </a:r>
            <a:endParaRPr lang="en-US" sz="12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2"/>
                </a:solidFill>
              </a:rPr>
              <a:t>Five defects found and documented</a:t>
            </a:r>
            <a:endParaRPr lang="en-US" sz="3400" dirty="0"/>
          </a:p>
        </p:txBody>
      </p:sp>
      <p:sp>
        <p:nvSpPr>
          <p:cNvPr id="3" name="Text 1"/>
          <p:cNvSpPr/>
          <p:nvPr>
            <p:ph idx="102" type="body" hasCustomPrompt="1"/>
          </p:nvPr>
        </p:nvSpPr>
        <p:spPr>
          <a:xfrm>
            <a:off x="6949440" y="6355080"/>
            <a:ext cx="4114800" cy="320040"/>
          </a:xfrm>
          <a:prstGeom prst="rect">
            <a:avLst/>
          </a:prstGeom>
          <a:noFill/>
          <a:ln/>
        </p:spPr>
        <p:txBody>
          <a:bodyPr wrap="square" lIns="0" tIns="0" rIns="0" bIns="0" rtlCol="0" anchor="ctr"/>
          <a:lstStyle/>
          <a:p>
            <a:pPr algn="r" indent="0" marL="0">
              <a:buNone/>
            </a:pPr>
            <a:r>
              <a:rPr lang="en-US" sz="1000" dirty="0">
                <a:solidFill>
                  <a:schemeClr val="accent6"/>
                </a:solidFill>
              </a:rPr>
              <a:t>Report · Ch. 8 Issues identified</a:t>
            </a:r>
            <a:endParaRPr lang="en-US" sz="1000" dirty="0"/>
          </a:p>
        </p:txBody>
      </p:sp>
      <p:sp>
        <p:nvSpPr>
          <p:cNvPr id="4" name="Text 2"/>
          <p:cNvSpPr txBox="1"/>
          <p:nvPr/>
        </p:nvSpPr>
        <p:spPr>
          <a:xfrm>
            <a:off x="1325880" y="1417320"/>
            <a:ext cx="2011680" cy="274320"/>
          </a:xfrm>
          <a:prstGeom prst="rect">
            <a:avLst/>
          </a:prstGeom>
          <a:noFill/>
          <a:ln/>
        </p:spPr>
        <p:txBody>
          <a:bodyPr wrap="square" lIns="0" tIns="0" rIns="0" bIns="0" rtlCol="0" anchor="t"/>
          <a:lstStyle/>
          <a:p>
            <a:pPr indent="0" marL="0">
              <a:buNone/>
            </a:pPr>
            <a:r>
              <a:rPr lang="en-US" sz="1200" b="1" dirty="0">
                <a:solidFill>
                  <a:schemeClr val="accent6"/>
                </a:solidFill>
              </a:rPr>
              <a:t>Area</a:t>
            </a:r>
            <a:endParaRPr lang="en-US" sz="1200" dirty="0"/>
          </a:p>
        </p:txBody>
      </p:sp>
      <p:sp>
        <p:nvSpPr>
          <p:cNvPr id="5" name="Text 3"/>
          <p:cNvSpPr txBox="1"/>
          <p:nvPr/>
        </p:nvSpPr>
        <p:spPr>
          <a:xfrm>
            <a:off x="3520440" y="1417320"/>
            <a:ext cx="4572000" cy="274320"/>
          </a:xfrm>
          <a:prstGeom prst="rect">
            <a:avLst/>
          </a:prstGeom>
          <a:noFill/>
          <a:ln/>
        </p:spPr>
        <p:txBody>
          <a:bodyPr wrap="square" lIns="0" tIns="0" rIns="0" bIns="0" rtlCol="0" anchor="t"/>
          <a:lstStyle/>
          <a:p>
            <a:pPr indent="0" marL="0">
              <a:buNone/>
            </a:pPr>
            <a:r>
              <a:rPr lang="en-US" sz="1200" b="1" dirty="0">
                <a:solidFill>
                  <a:schemeClr val="accent6"/>
                </a:solidFill>
              </a:rPr>
              <a:t>What happened</a:t>
            </a:r>
            <a:endParaRPr lang="en-US" sz="1200" dirty="0"/>
          </a:p>
        </p:txBody>
      </p:sp>
      <p:sp>
        <p:nvSpPr>
          <p:cNvPr id="6" name="Text 4"/>
          <p:cNvSpPr txBox="1"/>
          <p:nvPr/>
        </p:nvSpPr>
        <p:spPr>
          <a:xfrm>
            <a:off x="8503920" y="1417320"/>
            <a:ext cx="3017520" cy="274320"/>
          </a:xfrm>
          <a:prstGeom prst="rect">
            <a:avLst/>
          </a:prstGeom>
          <a:noFill/>
          <a:ln/>
        </p:spPr>
        <p:txBody>
          <a:bodyPr wrap="square" lIns="0" tIns="0" rIns="0" bIns="0" rtlCol="0" anchor="t"/>
          <a:lstStyle/>
          <a:p>
            <a:pPr indent="0" marL="0">
              <a:buNone/>
            </a:pPr>
            <a:r>
              <a:rPr lang="en-US" sz="1200" b="1" dirty="0">
                <a:solidFill>
                  <a:schemeClr val="accent6"/>
                </a:solidFill>
              </a:rPr>
              <a:t>Fix direction</a:t>
            </a:r>
            <a:endParaRPr lang="en-US" sz="1200" dirty="0"/>
          </a:p>
        </p:txBody>
      </p:sp>
      <p:sp>
        <p:nvSpPr>
          <p:cNvPr id="7" name="issue Memory Quest"/>
          <p:cNvSpPr/>
          <p:nvPr/>
        </p:nvSpPr>
        <p:spPr>
          <a:xfrm>
            <a:off x="548640" y="1783080"/>
            <a:ext cx="11094415" cy="758952"/>
          </a:xfrm>
          <a:prstGeom prst="roundRect">
            <a:avLst>
              <a:gd name="adj" fmla="val 14458"/>
            </a:avLst>
          </a:prstGeom>
          <a:solidFill>
            <a:schemeClr val="bg2"/>
          </a:solidFill>
          <a:ln/>
        </p:spPr>
      </p:sp>
      <p:sp>
        <p:nvSpPr>
          <p:cNvPr id="8" name="Memory Quest circle"/>
          <p:cNvSpPr/>
          <p:nvPr/>
        </p:nvSpPr>
        <p:spPr>
          <a:xfrm>
            <a:off x="713232" y="1920240"/>
            <a:ext cx="484632" cy="484632"/>
          </a:xfrm>
          <a:prstGeom prst="ellipse">
            <a:avLst/>
          </a:prstGeom>
          <a:solidFill>
            <a:schemeClr val="tx2"/>
          </a:solidFill>
          <a:ln/>
        </p:spPr>
      </p:sp>
      <p:pic>
        <p:nvPicPr>
          <p:cNvPr id="9" name="Memory Quest icon" descr="Memory Quest">    </p:cNvPr>
          <p:cNvPicPr>
            <a:picLocks noChangeAspect="1"/>
          </p:cNvPicPr>
          <p:nvPr/>
        </p:nvPicPr>
        <p:blipFill>
          <a:blip r:embed="rId1"/>
          <a:stretch>
            <a:fillRect/>
          </a:stretch>
        </p:blipFill>
        <p:spPr>
          <a:xfrm>
            <a:off x="834390" y="2041398"/>
            <a:ext cx="242316" cy="242316"/>
          </a:xfrm>
          <a:prstGeom prst="rect">
            <a:avLst/>
          </a:prstGeom>
        </p:spPr>
      </p:pic>
      <p:sp>
        <p:nvSpPr>
          <p:cNvPr id="10" name="Text 7"/>
          <p:cNvSpPr txBox="1"/>
          <p:nvPr/>
        </p:nvSpPr>
        <p:spPr>
          <a:xfrm>
            <a:off x="1325880" y="1783080"/>
            <a:ext cx="2103120" cy="758952"/>
          </a:xfrm>
          <a:prstGeom prst="rect">
            <a:avLst/>
          </a:prstGeom>
          <a:noFill/>
          <a:ln/>
        </p:spPr>
        <p:txBody>
          <a:bodyPr wrap="square" lIns="0" tIns="0" rIns="0" bIns="0" rtlCol="0" anchor="ctr"/>
          <a:lstStyle/>
          <a:p>
            <a:pPr indent="0" marL="0">
              <a:buNone/>
            </a:pPr>
            <a:r>
              <a:rPr lang="en-US" sz="1600" b="1" dirty="0">
                <a:solidFill>
                  <a:schemeClr val="tx2"/>
                </a:solidFill>
              </a:rPr>
              <a:t>Memory Quest</a:t>
            </a:r>
            <a:endParaRPr lang="en-US" sz="1600" dirty="0"/>
          </a:p>
        </p:txBody>
      </p:sp>
      <p:sp>
        <p:nvSpPr>
          <p:cNvPr id="11" name="Text 8"/>
          <p:cNvSpPr txBox="1"/>
          <p:nvPr/>
        </p:nvSpPr>
        <p:spPr>
          <a:xfrm>
            <a:off x="3520440" y="1783080"/>
            <a:ext cx="4800600" cy="758952"/>
          </a:xfrm>
          <a:prstGeom prst="rect">
            <a:avLst/>
          </a:prstGeom>
          <a:noFill/>
          <a:ln/>
        </p:spPr>
        <p:txBody>
          <a:bodyPr wrap="square" lIns="0" tIns="0" rIns="0" bIns="0" rtlCol="0" anchor="ctr"/>
          <a:lstStyle/>
          <a:p>
            <a:pPr indent="0" marL="0">
              <a:buNone/>
            </a:pPr>
            <a:r>
              <a:rPr lang="en-US" sz="1400" dirty="0">
                <a:solidFill>
                  <a:schemeClr val="tx1"/>
                </a:solidFill>
              </a:rPr>
              <a:t>Client sends mode instead of memoryQuestMode; the digit exercise keeps the default mode, so the result is not saved</a:t>
            </a:r>
            <a:endParaRPr lang="en-US" sz="1400" dirty="0"/>
          </a:p>
        </p:txBody>
      </p:sp>
      <p:sp>
        <p:nvSpPr>
          <p:cNvPr id="12" name="Text 9"/>
          <p:cNvSpPr txBox="1"/>
          <p:nvPr/>
        </p:nvSpPr>
        <p:spPr>
          <a:xfrm>
            <a:off x="8503920" y="1783080"/>
            <a:ext cx="2971800" cy="758952"/>
          </a:xfrm>
          <a:prstGeom prst="rect">
            <a:avLst/>
          </a:prstGeom>
          <a:noFill/>
          <a:ln/>
        </p:spPr>
        <p:txBody>
          <a:bodyPr wrap="square" lIns="0" tIns="0" rIns="0" bIns="0" rtlCol="0" anchor="ctr"/>
          <a:lstStyle/>
          <a:p>
            <a:pPr indent="0" marL="0">
              <a:buNone/>
            </a:pPr>
            <a:r>
              <a:rPr lang="en-US" sz="1400" b="1" dirty="0">
                <a:solidFill>
                  <a:schemeClr val="accent1"/>
                </a:solidFill>
              </a:rPr>
              <a:t>Align the payload with the contract; add a parity test</a:t>
            </a:r>
            <a:endParaRPr lang="en-US" sz="1400" dirty="0"/>
          </a:p>
        </p:txBody>
      </p:sp>
      <p:sp>
        <p:nvSpPr>
          <p:cNvPr id="13" name="issue Decision forms"/>
          <p:cNvSpPr/>
          <p:nvPr/>
        </p:nvSpPr>
        <p:spPr>
          <a:xfrm>
            <a:off x="548640" y="2633472"/>
            <a:ext cx="11094415" cy="758952"/>
          </a:xfrm>
          <a:prstGeom prst="roundRect">
            <a:avLst>
              <a:gd name="adj" fmla="val 14458"/>
            </a:avLst>
          </a:prstGeom>
          <a:solidFill>
            <a:schemeClr val="bg1"/>
          </a:solidFill>
          <a:ln w="12700">
            <a:solidFill>
              <a:srgbClr val="D12E7D"/>
            </a:solidFill>
            <a:prstDash val="solid"/>
          </a:ln>
        </p:spPr>
      </p:sp>
      <p:sp>
        <p:nvSpPr>
          <p:cNvPr id="14" name="Decision forms circle"/>
          <p:cNvSpPr/>
          <p:nvPr/>
        </p:nvSpPr>
        <p:spPr>
          <a:xfrm>
            <a:off x="713232" y="2770632"/>
            <a:ext cx="484632" cy="484632"/>
          </a:xfrm>
          <a:prstGeom prst="ellipse">
            <a:avLst/>
          </a:prstGeom>
          <a:solidFill>
            <a:schemeClr val="accent2"/>
          </a:solidFill>
          <a:ln/>
        </p:spPr>
      </p:sp>
      <p:pic>
        <p:nvPicPr>
          <p:cNvPr id="15" name="Decision forms icon" descr="Decision forms">    </p:cNvPr>
          <p:cNvPicPr>
            <a:picLocks noChangeAspect="1"/>
          </p:cNvPicPr>
          <p:nvPr/>
        </p:nvPicPr>
        <p:blipFill>
          <a:blip r:embed="rId2"/>
          <a:stretch>
            <a:fillRect/>
          </a:stretch>
        </p:blipFill>
        <p:spPr>
          <a:xfrm>
            <a:off x="834390" y="2891790"/>
            <a:ext cx="242316" cy="242316"/>
          </a:xfrm>
          <a:prstGeom prst="rect">
            <a:avLst/>
          </a:prstGeom>
        </p:spPr>
      </p:pic>
      <p:sp>
        <p:nvSpPr>
          <p:cNvPr id="16" name="Text 12"/>
          <p:cNvSpPr txBox="1"/>
          <p:nvPr/>
        </p:nvSpPr>
        <p:spPr>
          <a:xfrm>
            <a:off x="1325880" y="2633472"/>
            <a:ext cx="2103120" cy="758952"/>
          </a:xfrm>
          <a:prstGeom prst="rect">
            <a:avLst/>
          </a:prstGeom>
          <a:noFill/>
          <a:ln/>
        </p:spPr>
        <p:txBody>
          <a:bodyPr wrap="square" lIns="0" tIns="0" rIns="0" bIns="0" rtlCol="0" anchor="ctr"/>
          <a:lstStyle/>
          <a:p>
            <a:pPr indent="0" marL="0">
              <a:buNone/>
            </a:pPr>
            <a:r>
              <a:rPr lang="en-US" sz="1600" b="1" dirty="0">
                <a:solidFill>
                  <a:schemeClr val="tx2"/>
                </a:solidFill>
              </a:rPr>
              <a:t>Decision forms</a:t>
            </a:r>
            <a:endParaRPr lang="en-US" sz="1600" dirty="0"/>
          </a:p>
        </p:txBody>
      </p:sp>
      <p:sp>
        <p:nvSpPr>
          <p:cNvPr id="17" name="Text 13"/>
          <p:cNvSpPr txBox="1"/>
          <p:nvPr/>
        </p:nvSpPr>
        <p:spPr>
          <a:xfrm>
            <a:off x="3520440" y="2633472"/>
            <a:ext cx="4800600" cy="758952"/>
          </a:xfrm>
          <a:prstGeom prst="rect">
            <a:avLst/>
          </a:prstGeom>
          <a:noFill/>
          <a:ln/>
        </p:spPr>
        <p:txBody>
          <a:bodyPr wrap="square" lIns="0" tIns="0" rIns="0" bIns="0" rtlCol="0" anchor="ctr"/>
          <a:lstStyle/>
          <a:p>
            <a:pPr indent="0" marL="0">
              <a:buNone/>
            </a:pPr>
            <a:r>
              <a:rPr lang="en-US" sz="1400" dirty="0">
                <a:solidFill>
                  <a:schemeClr val="tx1"/>
                </a:solidFill>
              </a:rPr>
              <a:t>Another candidate could read a player's assigned form</a:t>
            </a:r>
            <a:endParaRPr lang="en-US" sz="1400" dirty="0"/>
          </a:p>
        </p:txBody>
      </p:sp>
      <p:sp>
        <p:nvSpPr>
          <p:cNvPr id="18" name="Text 14"/>
          <p:cNvSpPr txBox="1"/>
          <p:nvPr/>
        </p:nvSpPr>
        <p:spPr>
          <a:xfrm>
            <a:off x="8503920" y="2633472"/>
            <a:ext cx="2971800" cy="758952"/>
          </a:xfrm>
          <a:prstGeom prst="rect">
            <a:avLst/>
          </a:prstGeom>
          <a:noFill/>
          <a:ln/>
        </p:spPr>
        <p:txBody>
          <a:bodyPr wrap="square" lIns="0" tIns="0" rIns="0" bIns="0" rtlCol="0" anchor="ctr"/>
          <a:lstStyle/>
          <a:p>
            <a:pPr indent="0" marL="0">
              <a:buNone/>
            </a:pPr>
            <a:r>
              <a:rPr lang="en-US" sz="1400" b="1" dirty="0">
                <a:solidFill>
                  <a:schemeClr val="accent2"/>
                </a:solidFill>
              </a:rPr>
              <a:t>Add an ownership check on the read endpoint</a:t>
            </a:r>
            <a:endParaRPr lang="en-US" sz="1400" dirty="0"/>
          </a:p>
        </p:txBody>
      </p:sp>
      <p:sp>
        <p:nvSpPr>
          <p:cNvPr id="19" name="issue Assessment picker"/>
          <p:cNvSpPr/>
          <p:nvPr/>
        </p:nvSpPr>
        <p:spPr>
          <a:xfrm>
            <a:off x="548640" y="3483864"/>
            <a:ext cx="11094415" cy="758952"/>
          </a:xfrm>
          <a:prstGeom prst="roundRect">
            <a:avLst>
              <a:gd name="adj" fmla="val 14458"/>
            </a:avLst>
          </a:prstGeom>
          <a:solidFill>
            <a:schemeClr val="bg2"/>
          </a:solidFill>
          <a:ln/>
        </p:spPr>
      </p:sp>
      <p:sp>
        <p:nvSpPr>
          <p:cNvPr id="20" name="Assessment picker circle"/>
          <p:cNvSpPr/>
          <p:nvPr/>
        </p:nvSpPr>
        <p:spPr>
          <a:xfrm>
            <a:off x="713232" y="3621024"/>
            <a:ext cx="484632" cy="484632"/>
          </a:xfrm>
          <a:prstGeom prst="ellipse">
            <a:avLst/>
          </a:prstGeom>
          <a:solidFill>
            <a:schemeClr val="tx2"/>
          </a:solidFill>
          <a:ln/>
        </p:spPr>
      </p:sp>
      <p:pic>
        <p:nvPicPr>
          <p:cNvPr id="21" name="Assessment picker icon" descr="Assessment picker">    </p:cNvPr>
          <p:cNvPicPr>
            <a:picLocks noChangeAspect="1"/>
          </p:cNvPicPr>
          <p:nvPr/>
        </p:nvPicPr>
        <p:blipFill>
          <a:blip r:embed="rId3"/>
          <a:stretch>
            <a:fillRect/>
          </a:stretch>
        </p:blipFill>
        <p:spPr>
          <a:xfrm>
            <a:off x="834390" y="3742182"/>
            <a:ext cx="242316" cy="242316"/>
          </a:xfrm>
          <a:prstGeom prst="rect">
            <a:avLst/>
          </a:prstGeom>
        </p:spPr>
      </p:pic>
      <p:sp>
        <p:nvSpPr>
          <p:cNvPr id="22" name="Text 17"/>
          <p:cNvSpPr txBox="1"/>
          <p:nvPr/>
        </p:nvSpPr>
        <p:spPr>
          <a:xfrm>
            <a:off x="1325880" y="3483864"/>
            <a:ext cx="2103120" cy="758952"/>
          </a:xfrm>
          <a:prstGeom prst="rect">
            <a:avLst/>
          </a:prstGeom>
          <a:noFill/>
          <a:ln/>
        </p:spPr>
        <p:txBody>
          <a:bodyPr wrap="square" lIns="0" tIns="0" rIns="0" bIns="0" rtlCol="0" anchor="ctr"/>
          <a:lstStyle/>
          <a:p>
            <a:pPr indent="0" marL="0">
              <a:buNone/>
            </a:pPr>
            <a:r>
              <a:rPr lang="en-US" sz="1600" b="1" dirty="0">
                <a:solidFill>
                  <a:schemeClr val="tx2"/>
                </a:solidFill>
              </a:rPr>
              <a:t>Assessment picker</a:t>
            </a:r>
            <a:endParaRPr lang="en-US" sz="1600" dirty="0"/>
          </a:p>
        </p:txBody>
      </p:sp>
      <p:sp>
        <p:nvSpPr>
          <p:cNvPr id="23" name="Text 18"/>
          <p:cNvSpPr txBox="1"/>
          <p:nvPr/>
        </p:nvSpPr>
        <p:spPr>
          <a:xfrm>
            <a:off x="3520440" y="3483864"/>
            <a:ext cx="4800600" cy="758952"/>
          </a:xfrm>
          <a:prstGeom prst="rect">
            <a:avLst/>
          </a:prstGeom>
          <a:noFill/>
          <a:ln/>
        </p:spPr>
        <p:txBody>
          <a:bodyPr wrap="square" lIns="0" tIns="0" rIns="0" bIns="0" rtlCol="0" anchor="ctr"/>
          <a:lstStyle/>
          <a:p>
            <a:pPr indent="0" marL="0">
              <a:buNone/>
            </a:pPr>
            <a:r>
              <a:rPr lang="en-US" sz="1400" dirty="0">
                <a:solidFill>
                  <a:schemeClr val="tx1"/>
                </a:solidFill>
              </a:rPr>
              <a:t>Offer form resolves /assessments/pick as an assessment ID → HTTP 400</a:t>
            </a:r>
            <a:endParaRPr lang="en-US" sz="1400" dirty="0"/>
          </a:p>
        </p:txBody>
      </p:sp>
      <p:sp>
        <p:nvSpPr>
          <p:cNvPr id="24" name="Text 19"/>
          <p:cNvSpPr txBox="1"/>
          <p:nvPr/>
        </p:nvSpPr>
        <p:spPr>
          <a:xfrm>
            <a:off x="8503920" y="3483864"/>
            <a:ext cx="2971800" cy="758952"/>
          </a:xfrm>
          <a:prstGeom prst="rect">
            <a:avLst/>
          </a:prstGeom>
          <a:noFill/>
          <a:ln/>
        </p:spPr>
        <p:txBody>
          <a:bodyPr wrap="square" lIns="0" tIns="0" rIns="0" bIns="0" rtlCol="0" anchor="ctr"/>
          <a:lstStyle/>
          <a:p>
            <a:pPr indent="0" marL="0">
              <a:buNone/>
            </a:pPr>
            <a:r>
              <a:rPr lang="en-US" sz="1400" b="1" dirty="0">
                <a:solidFill>
                  <a:schemeClr val="accent1"/>
                </a:solidFill>
              </a:rPr>
              <a:t>Match the static route before /{id}</a:t>
            </a:r>
            <a:endParaRPr lang="en-US" sz="1400" dirty="0"/>
          </a:p>
        </p:txBody>
      </p:sp>
      <p:sp>
        <p:nvSpPr>
          <p:cNvPr id="25" name="issue Localization"/>
          <p:cNvSpPr/>
          <p:nvPr/>
        </p:nvSpPr>
        <p:spPr>
          <a:xfrm>
            <a:off x="548640" y="4334256"/>
            <a:ext cx="11094415" cy="758952"/>
          </a:xfrm>
          <a:prstGeom prst="roundRect">
            <a:avLst>
              <a:gd name="adj" fmla="val 14458"/>
            </a:avLst>
          </a:prstGeom>
          <a:solidFill>
            <a:schemeClr val="bg2"/>
          </a:solidFill>
          <a:ln/>
        </p:spPr>
      </p:sp>
      <p:sp>
        <p:nvSpPr>
          <p:cNvPr id="26" name="Localization circle"/>
          <p:cNvSpPr/>
          <p:nvPr/>
        </p:nvSpPr>
        <p:spPr>
          <a:xfrm>
            <a:off x="713232" y="4471416"/>
            <a:ext cx="484632" cy="484632"/>
          </a:xfrm>
          <a:prstGeom prst="ellipse">
            <a:avLst/>
          </a:prstGeom>
          <a:solidFill>
            <a:schemeClr val="tx2"/>
          </a:solidFill>
          <a:ln/>
        </p:spPr>
      </p:sp>
      <p:pic>
        <p:nvPicPr>
          <p:cNvPr id="27" name="Localization icon" descr="Localization">    </p:cNvPr>
          <p:cNvPicPr>
            <a:picLocks noChangeAspect="1"/>
          </p:cNvPicPr>
          <p:nvPr/>
        </p:nvPicPr>
        <p:blipFill>
          <a:blip r:embed="rId4"/>
          <a:stretch>
            <a:fillRect/>
          </a:stretch>
        </p:blipFill>
        <p:spPr>
          <a:xfrm>
            <a:off x="834390" y="4592574"/>
            <a:ext cx="242316" cy="242316"/>
          </a:xfrm>
          <a:prstGeom prst="rect">
            <a:avLst/>
          </a:prstGeom>
        </p:spPr>
      </p:pic>
      <p:sp>
        <p:nvSpPr>
          <p:cNvPr id="28" name="Text 22"/>
          <p:cNvSpPr txBox="1"/>
          <p:nvPr/>
        </p:nvSpPr>
        <p:spPr>
          <a:xfrm>
            <a:off x="1325880" y="4334256"/>
            <a:ext cx="2103120" cy="758952"/>
          </a:xfrm>
          <a:prstGeom prst="rect">
            <a:avLst/>
          </a:prstGeom>
          <a:noFill/>
          <a:ln/>
        </p:spPr>
        <p:txBody>
          <a:bodyPr wrap="square" lIns="0" tIns="0" rIns="0" bIns="0" rtlCol="0" anchor="ctr"/>
          <a:lstStyle/>
          <a:p>
            <a:pPr indent="0" marL="0">
              <a:buNone/>
            </a:pPr>
            <a:r>
              <a:rPr lang="en-US" sz="1600" b="1" dirty="0">
                <a:solidFill>
                  <a:schemeClr val="tx2"/>
                </a:solidFill>
              </a:rPr>
              <a:t>Localization</a:t>
            </a:r>
            <a:endParaRPr lang="en-US" sz="1600" dirty="0"/>
          </a:p>
        </p:txBody>
      </p:sp>
      <p:sp>
        <p:nvSpPr>
          <p:cNvPr id="29" name="Text 23"/>
          <p:cNvSpPr txBox="1"/>
          <p:nvPr/>
        </p:nvSpPr>
        <p:spPr>
          <a:xfrm>
            <a:off x="3520440" y="4334256"/>
            <a:ext cx="4800600" cy="758952"/>
          </a:xfrm>
          <a:prstGeom prst="rect">
            <a:avLst/>
          </a:prstGeom>
          <a:noFill/>
          <a:ln/>
        </p:spPr>
        <p:txBody>
          <a:bodyPr wrap="square" lIns="0" tIns="0" rIns="0" bIns="0" rtlCol="0" anchor="ctr"/>
          <a:lstStyle/>
          <a:p>
            <a:pPr indent="0" marL="0">
              <a:buNone/>
            </a:pPr>
            <a:r>
              <a:rPr lang="en-US" sz="1400" dirty="0">
                <a:solidFill>
                  <a:schemeClr val="tx1"/>
                </a:solidFill>
              </a:rPr>
              <a:t>Notification content appeared in French during an English session</a:t>
            </a:r>
            <a:endParaRPr lang="en-US" sz="1400" dirty="0"/>
          </a:p>
        </p:txBody>
      </p:sp>
      <p:sp>
        <p:nvSpPr>
          <p:cNvPr id="30" name="Text 24"/>
          <p:cNvSpPr txBox="1"/>
          <p:nvPr/>
        </p:nvSpPr>
        <p:spPr>
          <a:xfrm>
            <a:off x="8503920" y="4334256"/>
            <a:ext cx="2971800" cy="758952"/>
          </a:xfrm>
          <a:prstGeom prst="rect">
            <a:avLst/>
          </a:prstGeom>
          <a:noFill/>
          <a:ln/>
        </p:spPr>
        <p:txBody>
          <a:bodyPr wrap="square" lIns="0" tIns="0" rIns="0" bIns="0" rtlCol="0" anchor="ctr"/>
          <a:lstStyle/>
          <a:p>
            <a:pPr indent="0" marL="0">
              <a:buNone/>
            </a:pPr>
            <a:r>
              <a:rPr lang="en-US" sz="1400" b="1" dirty="0">
                <a:solidFill>
                  <a:schemeClr val="accent1"/>
                </a:solidFill>
              </a:rPr>
              <a:t>Render notifications in the session locale</a:t>
            </a:r>
            <a:endParaRPr lang="en-US" sz="1400" dirty="0"/>
          </a:p>
        </p:txBody>
      </p:sp>
      <p:sp>
        <p:nvSpPr>
          <p:cNvPr id="31" name="issue Community"/>
          <p:cNvSpPr/>
          <p:nvPr/>
        </p:nvSpPr>
        <p:spPr>
          <a:xfrm>
            <a:off x="548640" y="5184648"/>
            <a:ext cx="11094415" cy="758952"/>
          </a:xfrm>
          <a:prstGeom prst="roundRect">
            <a:avLst>
              <a:gd name="adj" fmla="val 14458"/>
            </a:avLst>
          </a:prstGeom>
          <a:solidFill>
            <a:schemeClr val="bg2"/>
          </a:solidFill>
          <a:ln/>
        </p:spPr>
      </p:sp>
      <p:sp>
        <p:nvSpPr>
          <p:cNvPr id="32" name="Community circle"/>
          <p:cNvSpPr/>
          <p:nvPr/>
        </p:nvSpPr>
        <p:spPr>
          <a:xfrm>
            <a:off x="713232" y="5321808"/>
            <a:ext cx="484632" cy="484632"/>
          </a:xfrm>
          <a:prstGeom prst="ellipse">
            <a:avLst/>
          </a:prstGeom>
          <a:solidFill>
            <a:schemeClr val="tx2"/>
          </a:solidFill>
          <a:ln/>
        </p:spPr>
      </p:sp>
      <p:pic>
        <p:nvPicPr>
          <p:cNvPr id="33" name="Community icon" descr="Community">    </p:cNvPr>
          <p:cNvPicPr>
            <a:picLocks noChangeAspect="1"/>
          </p:cNvPicPr>
          <p:nvPr/>
        </p:nvPicPr>
        <p:blipFill>
          <a:blip r:embed="rId5"/>
          <a:stretch>
            <a:fillRect/>
          </a:stretch>
        </p:blipFill>
        <p:spPr>
          <a:xfrm>
            <a:off x="834390" y="5442966"/>
            <a:ext cx="242316" cy="242316"/>
          </a:xfrm>
          <a:prstGeom prst="rect">
            <a:avLst/>
          </a:prstGeom>
        </p:spPr>
      </p:pic>
      <p:sp>
        <p:nvSpPr>
          <p:cNvPr id="34" name="Text 27"/>
          <p:cNvSpPr txBox="1"/>
          <p:nvPr/>
        </p:nvSpPr>
        <p:spPr>
          <a:xfrm>
            <a:off x="1325880" y="5184648"/>
            <a:ext cx="2103120" cy="758952"/>
          </a:xfrm>
          <a:prstGeom prst="rect">
            <a:avLst/>
          </a:prstGeom>
          <a:noFill/>
          <a:ln/>
        </p:spPr>
        <p:txBody>
          <a:bodyPr wrap="square" lIns="0" tIns="0" rIns="0" bIns="0" rtlCol="0" anchor="ctr"/>
          <a:lstStyle/>
          <a:p>
            <a:pPr indent="0" marL="0">
              <a:buNone/>
            </a:pPr>
            <a:r>
              <a:rPr lang="en-US" sz="1600" b="1" dirty="0">
                <a:solidFill>
                  <a:schemeClr val="tx2"/>
                </a:solidFill>
              </a:rPr>
              <a:t>Community</a:t>
            </a:r>
            <a:endParaRPr lang="en-US" sz="1600" dirty="0"/>
          </a:p>
        </p:txBody>
      </p:sp>
      <p:sp>
        <p:nvSpPr>
          <p:cNvPr id="35" name="Text 28"/>
          <p:cNvSpPr txBox="1"/>
          <p:nvPr/>
        </p:nvSpPr>
        <p:spPr>
          <a:xfrm>
            <a:off x="3520440" y="5184648"/>
            <a:ext cx="4800600" cy="758952"/>
          </a:xfrm>
          <a:prstGeom prst="rect">
            <a:avLst/>
          </a:prstGeom>
          <a:noFill/>
          <a:ln/>
        </p:spPr>
        <p:txBody>
          <a:bodyPr wrap="square" lIns="0" tIns="0" rIns="0" bIns="0" rtlCol="0" anchor="ctr"/>
          <a:lstStyle/>
          <a:p>
            <a:pPr indent="0" marL="0">
              <a:buNone/>
            </a:pPr>
            <a:r>
              <a:rPr lang="en-US" sz="1400" dirty="0">
                <a:solidFill>
                  <a:schemeClr val="tx1"/>
                </a:solidFill>
              </a:rPr>
              <a:t>An author's own post offered to add the author as a friend</a:t>
            </a:r>
            <a:endParaRPr lang="en-US" sz="1400" dirty="0"/>
          </a:p>
        </p:txBody>
      </p:sp>
      <p:sp>
        <p:nvSpPr>
          <p:cNvPr id="36" name="Text 29"/>
          <p:cNvSpPr txBox="1"/>
          <p:nvPr/>
        </p:nvSpPr>
        <p:spPr>
          <a:xfrm>
            <a:off x="8503920" y="5184648"/>
            <a:ext cx="2971800" cy="758952"/>
          </a:xfrm>
          <a:prstGeom prst="rect">
            <a:avLst/>
          </a:prstGeom>
          <a:noFill/>
          <a:ln/>
        </p:spPr>
        <p:txBody>
          <a:bodyPr wrap="square" lIns="0" tIns="0" rIns="0" bIns="0" rtlCol="0" anchor="ctr"/>
          <a:lstStyle/>
          <a:p>
            <a:pPr indent="0" marL="0">
              <a:buNone/>
            </a:pPr>
            <a:r>
              <a:rPr lang="en-US" sz="1400" b="1" dirty="0">
                <a:solidFill>
                  <a:schemeClr val="accent1"/>
                </a:solidFill>
              </a:rPr>
              <a:t>Hide relationship actions on own content</a:t>
            </a:r>
            <a:endParaRPr lang="en-US" sz="1400" dirty="0"/>
          </a:p>
        </p:txBody>
      </p:sp>
      <p:sp>
        <p:nvSpPr>
          <p:cNvPr id="25" name="Slide Number Placeholder 0"/>
          <p:cNvSpPr>
            <a:spLocks noGrp="1"/>
          </p:cNvSpPr>
          <p:nvPr>
            <p:ph type="sldNum" sz="quarter" idx="4294967295"/>
          </p:nvPr>
        </p:nvSpPr>
        <p:spPr>
          <a:xfrm>
            <a:off x="11183112"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bg1"/>
                </a:solidFill>
              </a:rPr>
              <a:t>What I take away</a:t>
            </a:r>
            <a:endParaRPr lang="en-US" sz="3400" dirty="0"/>
          </a:p>
        </p:txBody>
      </p:sp>
      <p:sp>
        <p:nvSpPr>
          <p:cNvPr id="3" name="Text 1"/>
          <p:cNvSpPr txBox="1"/>
          <p:nvPr/>
        </p:nvSpPr>
        <p:spPr>
          <a:xfrm>
            <a:off x="548640" y="1508760"/>
            <a:ext cx="5852160" cy="1920240"/>
          </a:xfrm>
          <a:prstGeom prst="rect">
            <a:avLst/>
          </a:prstGeom>
          <a:noFill/>
          <a:ln/>
        </p:spPr>
        <p:txBody>
          <a:bodyPr wrap="square" lIns="0" tIns="0" rIns="0" bIns="0" rtlCol="0" anchor="t"/>
          <a:lstStyle/>
          <a:p>
            <a:pPr indent="0" marL="0">
              <a:buNone/>
            </a:pPr>
            <a:r>
              <a:rPr lang="en-US" sz="2400" i="1" dirty="0">
                <a:solidFill>
                  <a:schemeClr val="bg1"/>
                </a:solidFill>
                <a:latin typeface="Arial" pitchFamily="34" charset="0"/>
                <a:ea typeface="Arial" pitchFamily="34" charset="-122"/>
                <a:cs typeface="Arial" pitchFamily="34" charset="-120"/>
              </a:rPr>
              <a:t>“Treat a game as a complete feature: instructions, interaction, measurement, validation, scoring and feedback must stay consistent from Flutter to the backend.”</a:t>
            </a:r>
            <a:endParaRPr lang="en-US" sz="2400" dirty="0"/>
          </a:p>
        </p:txBody>
      </p:sp>
      <p:sp>
        <p:nvSpPr>
          <p:cNvPr id="4" name="Text 2"/>
          <p:cNvSpPr txBox="1"/>
          <p:nvPr/>
        </p:nvSpPr>
        <p:spPr>
          <a:xfrm>
            <a:off x="548640" y="3657600"/>
            <a:ext cx="4206240" cy="365760"/>
          </a:xfrm>
          <a:prstGeom prst="rect">
            <a:avLst/>
          </a:prstGeom>
          <a:noFill/>
          <a:ln/>
        </p:spPr>
        <p:txBody>
          <a:bodyPr wrap="square" lIns="0" tIns="0" rIns="0" bIns="0" rtlCol="0" anchor="t"/>
          <a:lstStyle/>
          <a:p>
            <a:pPr indent="0" marL="0">
              <a:buNone/>
            </a:pPr>
            <a:r>
              <a:rPr lang="en-US" sz="1600" b="1" dirty="0">
                <a:solidFill>
                  <a:schemeClr val="bg2"/>
                </a:solidFill>
              </a:rPr>
              <a:t>Skills developed</a:t>
            </a:r>
            <a:endParaRPr lang="en-US" sz="1600" dirty="0"/>
          </a:p>
        </p:txBody>
      </p:sp>
      <p:sp>
        <p:nvSpPr>
          <p:cNvPr id="5" name="skill 0"/>
          <p:cNvSpPr/>
          <p:nvPr/>
        </p:nvSpPr>
        <p:spPr>
          <a:xfrm>
            <a:off x="548640" y="4114800"/>
            <a:ext cx="4206240" cy="438912"/>
          </a:xfrm>
          <a:prstGeom prst="roundRect">
            <a:avLst>
              <a:gd name="adj" fmla="val 50000"/>
            </a:avLst>
          </a:prstGeom>
          <a:solidFill>
            <a:schemeClr val="bg1"/>
          </a:solidFill>
          <a:ln/>
        </p:spPr>
      </p:sp>
      <p:sp>
        <p:nvSpPr>
          <p:cNvPr id="6" name="Text 4"/>
          <p:cNvSpPr txBox="1"/>
          <p:nvPr/>
        </p:nvSpPr>
        <p:spPr>
          <a:xfrm>
            <a:off x="777240" y="4114800"/>
            <a:ext cx="3840480" cy="438912"/>
          </a:xfrm>
          <a:prstGeom prst="rect">
            <a:avLst/>
          </a:prstGeom>
          <a:noFill/>
          <a:ln/>
        </p:spPr>
        <p:txBody>
          <a:bodyPr wrap="square" lIns="0" tIns="0" rIns="0" bIns="0" rtlCol="0" anchor="ctr"/>
          <a:lstStyle/>
          <a:p>
            <a:pPr indent="0" marL="0">
              <a:buNone/>
            </a:pPr>
            <a:r>
              <a:rPr lang="en-US" sz="1400" b="1" dirty="0">
                <a:solidFill>
                  <a:schemeClr val="tx2"/>
                </a:solidFill>
              </a:rPr>
              <a:t>Mobile ↔ backend integration</a:t>
            </a:r>
            <a:endParaRPr lang="en-US" sz="1400" dirty="0"/>
          </a:p>
        </p:txBody>
      </p:sp>
      <p:sp>
        <p:nvSpPr>
          <p:cNvPr id="7" name="skill 1"/>
          <p:cNvSpPr/>
          <p:nvPr/>
        </p:nvSpPr>
        <p:spPr>
          <a:xfrm>
            <a:off x="548640" y="4718304"/>
            <a:ext cx="4206240" cy="438912"/>
          </a:xfrm>
          <a:prstGeom prst="roundRect">
            <a:avLst>
              <a:gd name="adj" fmla="val 50000"/>
            </a:avLst>
          </a:prstGeom>
          <a:solidFill>
            <a:schemeClr val="bg1"/>
          </a:solidFill>
          <a:ln/>
        </p:spPr>
      </p:sp>
      <p:sp>
        <p:nvSpPr>
          <p:cNvPr id="8" name="Text 6"/>
          <p:cNvSpPr txBox="1"/>
          <p:nvPr/>
        </p:nvSpPr>
        <p:spPr>
          <a:xfrm>
            <a:off x="777240" y="4718304"/>
            <a:ext cx="3840480" cy="438912"/>
          </a:xfrm>
          <a:prstGeom prst="rect">
            <a:avLst/>
          </a:prstGeom>
          <a:noFill/>
          <a:ln/>
        </p:spPr>
        <p:txBody>
          <a:bodyPr wrap="square" lIns="0" tIns="0" rIns="0" bIns="0" rtlCol="0" anchor="ctr"/>
          <a:lstStyle/>
          <a:p>
            <a:pPr indent="0" marL="0">
              <a:buNone/>
            </a:pPr>
            <a:r>
              <a:rPr lang="en-US" sz="1400" b="1" dirty="0">
                <a:solidFill>
                  <a:schemeClr val="tx2"/>
                </a:solidFill>
              </a:rPr>
              <a:t>Game protocols as typed payloads</a:t>
            </a:r>
            <a:endParaRPr lang="en-US" sz="1400" dirty="0"/>
          </a:p>
        </p:txBody>
      </p:sp>
      <p:sp>
        <p:nvSpPr>
          <p:cNvPr id="9" name="skill 2"/>
          <p:cNvSpPr/>
          <p:nvPr/>
        </p:nvSpPr>
        <p:spPr>
          <a:xfrm>
            <a:off x="548640" y="5321808"/>
            <a:ext cx="4206240" cy="438912"/>
          </a:xfrm>
          <a:prstGeom prst="roundRect">
            <a:avLst>
              <a:gd name="adj" fmla="val 50000"/>
            </a:avLst>
          </a:prstGeom>
          <a:solidFill>
            <a:schemeClr val="bg1"/>
          </a:solidFill>
          <a:ln/>
        </p:spPr>
      </p:sp>
      <p:sp>
        <p:nvSpPr>
          <p:cNvPr id="10" name="Text 8"/>
          <p:cNvSpPr txBox="1"/>
          <p:nvPr/>
        </p:nvSpPr>
        <p:spPr>
          <a:xfrm>
            <a:off x="777240" y="5321808"/>
            <a:ext cx="3840480" cy="438912"/>
          </a:xfrm>
          <a:prstGeom prst="rect">
            <a:avLst/>
          </a:prstGeom>
          <a:noFill/>
          <a:ln/>
        </p:spPr>
        <p:txBody>
          <a:bodyPr wrap="square" lIns="0" tIns="0" rIns="0" bIns="0" rtlCol="0" anchor="ctr"/>
          <a:lstStyle/>
          <a:p>
            <a:pPr indent="0" marL="0">
              <a:buNone/>
            </a:pPr>
            <a:r>
              <a:rPr lang="en-US" sz="1400" b="1" dirty="0">
                <a:solidFill>
                  <a:schemeClr val="tx2"/>
                </a:solidFill>
              </a:rPr>
              <a:t>Async state across screens</a:t>
            </a:r>
            <a:endParaRPr lang="en-US" sz="1400" dirty="0"/>
          </a:p>
        </p:txBody>
      </p:sp>
      <p:sp>
        <p:nvSpPr>
          <p:cNvPr id="11" name="next steps"/>
          <p:cNvSpPr/>
          <p:nvPr/>
        </p:nvSpPr>
        <p:spPr>
          <a:xfrm>
            <a:off x="6766560" y="1463040"/>
            <a:ext cx="4876495" cy="4572000"/>
          </a:xfrm>
          <a:prstGeom prst="roundRect">
            <a:avLst>
              <a:gd name="adj" fmla="val 2400"/>
            </a:avLst>
          </a:prstGeom>
          <a:solidFill>
            <a:schemeClr val="bg1"/>
          </a:solidFill>
          <a:ln/>
        </p:spPr>
      </p:sp>
      <p:sp>
        <p:nvSpPr>
          <p:cNvPr id="12" name="Text 10"/>
          <p:cNvSpPr txBox="1"/>
          <p:nvPr/>
        </p:nvSpPr>
        <p:spPr>
          <a:xfrm>
            <a:off x="7132320" y="1691640"/>
            <a:ext cx="4144975" cy="384048"/>
          </a:xfrm>
          <a:prstGeom prst="rect">
            <a:avLst/>
          </a:prstGeom>
          <a:noFill/>
          <a:ln/>
        </p:spPr>
        <p:txBody>
          <a:bodyPr wrap="square" lIns="0" tIns="0" rIns="0" bIns="0" rtlCol="0" anchor="t"/>
          <a:lstStyle/>
          <a:p>
            <a:pPr indent="0" marL="0">
              <a:buNone/>
            </a:pPr>
            <a:r>
              <a:rPr lang="en-US" sz="2000" b="1" dirty="0">
                <a:solidFill>
                  <a:schemeClr val="tx2"/>
                </a:solidFill>
              </a:rPr>
              <a:t>Next steps</a:t>
            </a:r>
            <a:endParaRPr lang="en-US" sz="2000" dirty="0"/>
          </a:p>
        </p:txBody>
      </p:sp>
      <p:sp>
        <p:nvSpPr>
          <p:cNvPr id="13" name="next dot 0"/>
          <p:cNvSpPr/>
          <p:nvPr/>
        </p:nvSpPr>
        <p:spPr>
          <a:xfrm>
            <a:off x="7132320" y="2331720"/>
            <a:ext cx="502920" cy="502920"/>
          </a:xfrm>
          <a:prstGeom prst="ellipse">
            <a:avLst/>
          </a:prstGeom>
          <a:solidFill>
            <a:schemeClr val="accent2"/>
          </a:solidFill>
          <a:ln/>
        </p:spPr>
      </p:sp>
      <p:sp>
        <p:nvSpPr>
          <p:cNvPr id="14" name="Text 12"/>
          <p:cNvSpPr txBox="1"/>
          <p:nvPr/>
        </p:nvSpPr>
        <p:spPr>
          <a:xfrm>
            <a:off x="7132320" y="2331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5" name="Text 13"/>
          <p:cNvSpPr txBox="1"/>
          <p:nvPr/>
        </p:nvSpPr>
        <p:spPr>
          <a:xfrm>
            <a:off x="7818120" y="2286000"/>
            <a:ext cx="3504895" cy="914400"/>
          </a:xfrm>
          <a:prstGeom prst="rect">
            <a:avLst/>
          </a:prstGeom>
          <a:noFill/>
          <a:ln/>
        </p:spPr>
        <p:txBody>
          <a:bodyPr wrap="square" lIns="0" tIns="0" rIns="0" bIns="0" rtlCol="0" anchor="t"/>
          <a:lstStyle/>
          <a:p>
            <a:pPr indent="0" marL="0">
              <a:buNone/>
            </a:pPr>
            <a:r>
              <a:rPr lang="en-US" sz="1600" dirty="0">
                <a:solidFill>
                  <a:schemeClr val="tx1"/>
                </a:solidFill>
              </a:rPr>
              <a:t>Fix the five defects, starting with the ownership check</a:t>
            </a:r>
            <a:endParaRPr lang="en-US" sz="1600" dirty="0"/>
          </a:p>
        </p:txBody>
      </p:sp>
      <p:sp>
        <p:nvSpPr>
          <p:cNvPr id="16" name="next dot 1"/>
          <p:cNvSpPr/>
          <p:nvPr/>
        </p:nvSpPr>
        <p:spPr>
          <a:xfrm>
            <a:off x="7132320" y="3520440"/>
            <a:ext cx="502920" cy="502920"/>
          </a:xfrm>
          <a:prstGeom prst="ellipse">
            <a:avLst/>
          </a:prstGeom>
          <a:solidFill>
            <a:schemeClr val="accent2"/>
          </a:solidFill>
          <a:ln/>
        </p:spPr>
      </p:sp>
      <p:sp>
        <p:nvSpPr>
          <p:cNvPr id="17" name="Text 15"/>
          <p:cNvSpPr txBox="1"/>
          <p:nvPr/>
        </p:nvSpPr>
        <p:spPr>
          <a:xfrm>
            <a:off x="7132320" y="35204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Text 16"/>
          <p:cNvSpPr txBox="1"/>
          <p:nvPr/>
        </p:nvSpPr>
        <p:spPr>
          <a:xfrm>
            <a:off x="7818120" y="3474720"/>
            <a:ext cx="3504895" cy="914400"/>
          </a:xfrm>
          <a:prstGeom prst="rect">
            <a:avLst/>
          </a:prstGeom>
          <a:noFill/>
          <a:ln/>
        </p:spPr>
        <p:txBody>
          <a:bodyPr wrap="square" lIns="0" tIns="0" rIns="0" bIns="0" rtlCol="0" anchor="t"/>
          <a:lstStyle/>
          <a:p>
            <a:pPr indent="0" marL="0">
              <a:buNone/>
            </a:pPr>
            <a:r>
              <a:rPr lang="en-US" sz="1600" dirty="0">
                <a:solidFill>
                  <a:schemeClr val="tx1"/>
                </a:solidFill>
              </a:rPr>
              <a:t>Integration-test external services: email/OTP, push, calls, payments</a:t>
            </a:r>
            <a:endParaRPr lang="en-US" sz="1600" dirty="0"/>
          </a:p>
        </p:txBody>
      </p:sp>
      <p:sp>
        <p:nvSpPr>
          <p:cNvPr id="19" name="next dot 2"/>
          <p:cNvSpPr/>
          <p:nvPr/>
        </p:nvSpPr>
        <p:spPr>
          <a:xfrm>
            <a:off x="7132320" y="4709160"/>
            <a:ext cx="502920" cy="502920"/>
          </a:xfrm>
          <a:prstGeom prst="ellipse">
            <a:avLst/>
          </a:prstGeom>
          <a:solidFill>
            <a:schemeClr val="accent2"/>
          </a:solidFill>
          <a:ln/>
        </p:spPr>
      </p:sp>
      <p:sp>
        <p:nvSpPr>
          <p:cNvPr id="20" name="Text 18"/>
          <p:cNvSpPr txBox="1"/>
          <p:nvPr/>
        </p:nvSpPr>
        <p:spPr>
          <a:xfrm>
            <a:off x="7132320" y="4709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9"/>
          <p:cNvSpPr txBox="1"/>
          <p:nvPr/>
        </p:nvSpPr>
        <p:spPr>
          <a:xfrm>
            <a:off x="7818120" y="4663440"/>
            <a:ext cx="3504895" cy="914400"/>
          </a:xfrm>
          <a:prstGeom prst="rect">
            <a:avLst/>
          </a:prstGeom>
          <a:noFill/>
          <a:ln/>
        </p:spPr>
        <p:txBody>
          <a:bodyPr wrap="square" lIns="0" tIns="0" rIns="0" bIns="0" rtlCol="0" anchor="t"/>
          <a:lstStyle/>
          <a:p>
            <a:pPr indent="0" marL="0">
              <a:buNone/>
            </a:pPr>
            <a:r>
              <a:rPr lang="en-US" sz="1600" dirty="0">
                <a:solidFill>
                  <a:schemeClr val="tx1"/>
                </a:solidFill>
              </a:rPr>
              <a:t>Bring the AI help service online and re-run the walkthrough</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ogo disc"/>
          <p:cNvSpPr/>
          <p:nvPr/>
        </p:nvSpPr>
        <p:spPr>
          <a:xfrm>
            <a:off x="5410048" y="1188720"/>
            <a:ext cx="1371600" cy="1371600"/>
          </a:xfrm>
          <a:prstGeom prst="ellipse">
            <a:avLst/>
          </a:prstGeom>
          <a:solidFill>
            <a:schemeClr val="bg1"/>
          </a:solidFill>
          <a:ln/>
        </p:spPr>
      </p:sp>
      <p:pic>
        <p:nvPicPr>
          <p:cNvPr id="3" name="Zennyt logo" descr="Zennyt logo">    </p:cNvPr>
          <p:cNvPicPr>
            <a:picLocks noChangeAspect="1"/>
          </p:cNvPicPr>
          <p:nvPr/>
        </p:nvPicPr>
        <p:blipFill>
          <a:blip r:embed="rId1"/>
          <a:stretch>
            <a:fillRect/>
          </a:stretch>
        </p:blipFill>
        <p:spPr>
          <a:xfrm>
            <a:off x="5638648" y="1417320"/>
            <a:ext cx="914400" cy="914400"/>
          </a:xfrm>
          <a:prstGeom prst="rect">
            <a:avLst/>
          </a:prstGeom>
        </p:spPr>
      </p:pic>
      <p:sp>
        <p:nvSpPr>
          <p:cNvPr id="4" name="Text 1"/>
          <p:cNvSpPr txBox="1"/>
          <p:nvPr/>
        </p:nvSpPr>
        <p:spPr>
          <a:xfrm>
            <a:off x="548640" y="2880360"/>
            <a:ext cx="11094415" cy="914400"/>
          </a:xfrm>
          <a:prstGeom prst="rect">
            <a:avLst/>
          </a:prstGeom>
          <a:noFill/>
          <a:ln/>
        </p:spPr>
        <p:txBody>
          <a:bodyPr wrap="square" lIns="0" tIns="0" rIns="0" bIns="0" rtlCol="0" anchor="ctr"/>
          <a:lstStyle/>
          <a:p>
            <a:pPr algn="ctr" indent="0" marL="0">
              <a:buNone/>
            </a:pPr>
            <a:r>
              <a:rPr lang="en-US" sz="5400" b="1" dirty="0">
                <a:solidFill>
                  <a:schemeClr val="bg1"/>
                </a:solidFill>
                <a:latin typeface="Arial" pitchFamily="34" charset="0"/>
                <a:ea typeface="Arial" pitchFamily="34" charset="-122"/>
                <a:cs typeface="Arial" pitchFamily="34" charset="-120"/>
              </a:rPr>
              <a:t>Thank you</a:t>
            </a:r>
            <a:endParaRPr lang="en-US" sz="5400" dirty="0"/>
          </a:p>
        </p:txBody>
      </p:sp>
      <p:sp>
        <p:nvSpPr>
          <p:cNvPr id="5" name="Text 2"/>
          <p:cNvSpPr txBox="1"/>
          <p:nvPr/>
        </p:nvSpPr>
        <p:spPr>
          <a:xfrm>
            <a:off x="548640" y="3840480"/>
            <a:ext cx="11094415" cy="457200"/>
          </a:xfrm>
          <a:prstGeom prst="rect">
            <a:avLst/>
          </a:prstGeom>
          <a:noFill/>
          <a:ln/>
        </p:spPr>
        <p:txBody>
          <a:bodyPr wrap="square" lIns="0" tIns="0" rIns="0" bIns="0" rtlCol="0" anchor="t"/>
          <a:lstStyle/>
          <a:p>
            <a:pPr algn="ctr" indent="0" marL="0">
              <a:buNone/>
            </a:pPr>
            <a:r>
              <a:rPr lang="en-US" sz="2200" dirty="0">
                <a:solidFill>
                  <a:schemeClr val="bg2"/>
                </a:solidFill>
              </a:rPr>
              <a:t>Questions and discussion</a:t>
            </a:r>
            <a:endParaRPr lang="en-US" sz="2200" dirty="0"/>
          </a:p>
        </p:txBody>
      </p:sp>
      <p:sp>
        <p:nvSpPr>
          <p:cNvPr id="6" name="Text 3"/>
          <p:cNvSpPr txBox="1"/>
          <p:nvPr/>
        </p:nvSpPr>
        <p:spPr>
          <a:xfrm>
            <a:off x="548640" y="4846320"/>
            <a:ext cx="11094415" cy="365760"/>
          </a:xfrm>
          <a:prstGeom prst="rect">
            <a:avLst/>
          </a:prstGeom>
          <a:noFill/>
          <a:ln/>
        </p:spPr>
        <p:txBody>
          <a:bodyPr wrap="square" lIns="0" tIns="0" rIns="0" bIns="0" rtlCol="0" anchor="t"/>
          <a:lstStyle/>
          <a:p>
            <a:pPr algn="ctr" indent="0" marL="0">
              <a:buNone/>
            </a:pPr>
            <a:r>
              <a:rPr lang="en-US" sz="1400" dirty="0">
                <a:solidFill>
                  <a:schemeClr val="bg1"/>
                </a:solidFill>
              </a:rPr>
              <a:t>Mohamed Slimane · Full Stack Mobile Developer · Zennyt</a:t>
            </a:r>
            <a:endParaRPr lang="en-US" sz="1400" dirty="0"/>
          </a:p>
        </p:txBody>
      </p:sp>
      <p:sp>
        <p:nvSpPr>
          <p:cNvPr id="8" name="Text 1"/>
          <p:cNvSpPr/>
          <p:nvPr>
            <p:ph idx="101"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endParaRPr lang="en-US" sz="3400" dirty="0"/>
          </a:p>
        </p:txBody>
      </p:sp>
    </p:spTree>
  </p:cSld>
  <p:clrMapOvr>
    <a:masterClrMapping/>
  </p:clrMapOvr>
</p:sld>
</file>

<file path=ppt/theme/theme1.xml><?xml version="1.0" encoding="utf-8"?>
<a:theme xmlns:a="http://schemas.openxmlformats.org/drawingml/2006/main" name="Zennyt">
  <a:themeElements>
    <a:clrScheme name="Zennyt">
      <a:dk1>
        <a:srgbClr val="1E293B"/>
      </a:dk1>
      <a:lt1>
        <a:srgbClr val="FFFFFF"/>
      </a:lt1>
      <a:dk2>
        <a:srgbClr val="11428D"/>
      </a:dk2>
      <a:lt2>
        <a:srgbClr val="EEF2F9"/>
      </a:lt2>
      <a:accent1>
        <a:srgbClr val="4F46E5"/>
      </a:accent1>
      <a:accent2>
        <a:srgbClr val="D12E7D"/>
      </a:accent2>
      <a:accent3>
        <a:srgbClr val="16A34A"/>
      </a:accent3>
      <a:accent4>
        <a:srgbClr val="D97706"/>
      </a:accent4>
      <a:accent5>
        <a:srgbClr val="DC2626"/>
      </a:accent5>
      <a:accent6>
        <a:srgbClr val="64748B"/>
      </a:accent6>
      <a:hlink>
        <a:srgbClr val="4F46E5"/>
      </a:hlink>
      <a:folHlink>
        <a:srgbClr val="818CF8"/>
      </a:folHlink>
    </a:clrScheme>
    <a:fontScheme name="Zenny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Zennyt Summer 2026 Internship</dc:title>
  <dc:subject>Internship defense: cognitive games of the Zennyt career platform</dc:subject>
  <dc:creator>Mohamed Slimane</dc:creator>
  <cp:lastModifiedBy>Mohamed Slimane</cp:lastModifiedBy>
  <cp:revision>1</cp:revision>
  <dcterms:created xsi:type="dcterms:W3CDTF">2026-10-03T19:16:21Z</dcterms:created>
  <dcterms:modified xsi:type="dcterms:W3CDTF">2026-10-03T19:16:21Z</dcterms:modified>
</cp:coreProperties>
</file>